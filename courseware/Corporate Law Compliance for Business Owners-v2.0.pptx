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 Id="rId3" Type="http://schemas.openxmlformats.org/officeDocument/2006/relationships/hyperlink" Target="https://github.com/tertiarycourses/TGS-2025053923-Corporate-Law-Compliance-for-Business-Owner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82880"/>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75120"/>
            <a:ext cx="12182551" cy="1737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685800" y="502920"/>
            <a:ext cx="804672" cy="804672"/>
          </a:xfrm>
          <a:prstGeom prst="rect">
            <a:avLst/>
          </a:prstGeom>
        </p:spPr>
      </p:pic>
      <p:sp>
        <p:nvSpPr>
          <p:cNvPr id="6" name="TextBox 5"/>
          <p:cNvSpPr txBox="1"/>
          <p:nvPr/>
        </p:nvSpPr>
        <p:spPr>
          <a:xfrm>
            <a:off x="731520" y="1572768"/>
            <a:ext cx="10789920" cy="320040"/>
          </a:xfrm>
          <a:prstGeom prst="rect">
            <a:avLst/>
          </a:prstGeom>
          <a:noFill/>
        </p:spPr>
        <p:txBody>
          <a:bodyPr wrap="square" anchor="t" lIns="45720" rIns="45720">
            <a:spAutoFit/>
          </a:bodyPr>
          <a:lstStyle/>
          <a:p>
            <a:pPr algn="l">
              <a:spcAft>
                <a:spcPts val="300"/>
              </a:spcAft>
            </a:pPr>
            <a:r>
              <a:rPr sz="1500" b="1">
                <a:solidFill>
                  <a:srgbClr val="1F6FEB"/>
                </a:solidFill>
                <a:latin typeface="Arial"/>
              </a:rPr>
              <a:t>WSQ COURSE SLIDES</a:t>
            </a:r>
          </a:p>
        </p:txBody>
      </p:sp>
      <p:sp>
        <p:nvSpPr>
          <p:cNvPr id="7" name="TextBox 6"/>
          <p:cNvSpPr txBox="1"/>
          <p:nvPr/>
        </p:nvSpPr>
        <p:spPr>
          <a:xfrm>
            <a:off x="731520" y="1993392"/>
            <a:ext cx="10789920" cy="1325880"/>
          </a:xfrm>
          <a:prstGeom prst="rect">
            <a:avLst/>
          </a:prstGeom>
          <a:noFill/>
        </p:spPr>
        <p:txBody>
          <a:bodyPr wrap="square" anchor="t" lIns="45720" rIns="45720">
            <a:spAutoFit/>
          </a:bodyPr>
          <a:lstStyle/>
          <a:p>
            <a:pPr algn="l">
              <a:spcAft>
                <a:spcPts val="300"/>
              </a:spcAft>
            </a:pPr>
            <a:r>
              <a:rPr sz="3800" b="1">
                <a:solidFill>
                  <a:srgbClr val="172B4D"/>
                </a:solidFill>
                <a:latin typeface="Arial"/>
              </a:rPr>
              <a:t>Corporate Law Compliance for Business Owners</a:t>
            </a:r>
          </a:p>
        </p:txBody>
      </p:sp>
      <p:sp>
        <p:nvSpPr>
          <p:cNvPr id="8" name="Rectangle 7"/>
          <p:cNvSpPr/>
          <p:nvPr/>
        </p:nvSpPr>
        <p:spPr>
          <a:xfrm>
            <a:off x="749808" y="3493008"/>
            <a:ext cx="224028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22191"/>
            <a:ext cx="10789920" cy="1371600"/>
          </a:xfrm>
          <a:prstGeom prst="rect">
            <a:avLst/>
          </a:prstGeom>
          <a:noFill/>
        </p:spPr>
        <p:txBody>
          <a:bodyPr wrap="square" anchor="t" lIns="45720" rIns="45720">
            <a:spAutoFit/>
          </a:bodyPr>
          <a:lstStyle/>
          <a:p>
            <a:pPr algn="l">
              <a:spcAft>
                <a:spcPts val="300"/>
              </a:spcAft>
            </a:pPr>
            <a:r>
              <a:rPr sz="1600" b="1">
                <a:solidFill>
                  <a:srgbClr val="161B26"/>
                </a:solidFill>
                <a:latin typeface="Arial"/>
              </a:rPr>
              <a:t>Course Code: TGS-2025053923</a:t>
            </a:r>
          </a:p>
          <a:p>
            <a:pPr algn="l">
              <a:spcAft>
                <a:spcPts val="300"/>
              </a:spcAft>
            </a:pPr>
            <a:r>
              <a:rPr sz="1400" b="0">
                <a:solidFill>
                  <a:srgbClr val="5B6372"/>
                </a:solidFill>
                <a:latin typeface="Arial"/>
              </a:rPr>
              <a:t>TSC: ACC-BLR-5001-1.1 | Corporate and Business Law</a:t>
            </a:r>
          </a:p>
          <a:p>
            <a:pPr algn="l">
              <a:spcAft>
                <a:spcPts val="300"/>
              </a:spcAft>
            </a:pPr>
            <a:r>
              <a:rPr sz="1400" b="0">
                <a:solidFill>
                  <a:srgbClr val="5B6372"/>
                </a:solidFill>
                <a:latin typeface="Arial"/>
              </a:rPr>
              <a:t>Conducted by Tertiary Infotech Academy Pte Ltd | UEN 201200696W</a:t>
            </a:r>
          </a:p>
          <a:p>
            <a:pPr algn="l">
              <a:spcAft>
                <a:spcPts val="300"/>
              </a:spcAft>
            </a:pPr>
            <a:r>
              <a:rPr sz="1400" b="0">
                <a:solidFill>
                  <a:srgbClr val="5B6372"/>
                </a:solidFill>
                <a:latin typeface="Arial"/>
              </a:rPr>
              <a:t>Trainer: Dr Alfred Ang</a:t>
            </a:r>
          </a:p>
        </p:txBody>
      </p:sp>
      <p:sp>
        <p:nvSpPr>
          <p:cNvPr id="10" name="TextBox 9"/>
          <p:cNvSpPr txBox="1"/>
          <p:nvPr/>
        </p:nvSpPr>
        <p:spPr>
          <a:xfrm>
            <a:off x="731520" y="5833872"/>
            <a:ext cx="10789920" cy="365760"/>
          </a:xfrm>
          <a:prstGeom prst="rect">
            <a:avLst/>
          </a:prstGeom>
          <a:noFill/>
        </p:spPr>
        <p:txBody>
          <a:bodyPr wrap="square" anchor="t" lIns="45720" rIns="45720">
            <a:spAutoFit/>
          </a:bodyPr>
          <a:lstStyle/>
          <a:p>
            <a:pPr algn="l">
              <a:spcAft>
                <a:spcPts val="300"/>
              </a:spcAft>
            </a:pPr>
            <a:r>
              <a:rPr sz="1200" b="0">
                <a:solidFill>
                  <a:srgbClr val="5B6372"/>
                </a:solidFill>
                <a:latin typeface="Arial"/>
              </a:rPr>
              <a:t>Version v2.0 | 12 August 2026</a:t>
            </a:r>
          </a:p>
        </p:txBody>
      </p:sp>
      <p:sp>
        <p:nvSpPr>
          <p:cNvPr id="11" name="TextBox 10"/>
          <p:cNvSpPr txBox="1"/>
          <p:nvPr/>
        </p:nvSpPr>
        <p:spPr>
          <a:xfrm>
            <a:off x="731520" y="6236208"/>
            <a:ext cx="10789920" cy="228600"/>
          </a:xfrm>
          <a:prstGeom prst="rect">
            <a:avLst/>
          </a:prstGeom>
          <a:noFill/>
        </p:spPr>
        <p:txBody>
          <a:bodyPr wrap="square" anchor="t" lIns="45720" rIns="45720">
            <a:spAutoFit/>
          </a:bodyPr>
          <a:lstStyle/>
          <a:p>
            <a:pPr algn="l">
              <a:spcAft>
                <a:spcPts val="300"/>
              </a:spcAft>
            </a:pPr>
            <a:r>
              <a:rPr sz="900" b="0">
                <a:solidFill>
                  <a:srgbClr val="5B6372"/>
                </a:solidFill>
                <a:latin typeface="Arial"/>
              </a:rPr>
              <a:t>© 2026 Tertiary Infotech Academy Pte Ltd. All rights reserved.</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TRAQOM | SSG DIGITAL ATTENDANCE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Digital Attendance (Mandatory)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AM</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Scan and submit the SSG digital attendance at the start of class.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PM</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the PM attendance after lunch.</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Assessment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the separate assessment attendance before the assessment.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Eligibility</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At least 75% attendance is required for funding/assessment eligibility.</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5B6372"/>
                </a:solidFill>
                <a:latin typeface="Arial"/>
              </a:rPr>
              <a:t>FACILITATOR CAPABILITY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Trainer Standards</a:t>
            </a:r>
          </a:p>
        </p:txBody>
      </p:sp>
      <p:sp>
        <p:nvSpPr>
          <p:cNvPr id="6" name="Rounded Rectangle 5"/>
          <p:cNvSpPr/>
          <p:nvPr/>
        </p:nvSpPr>
        <p:spPr>
          <a:xfrm>
            <a:off x="658368" y="1700784"/>
            <a:ext cx="324612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64208" y="2084831"/>
            <a:ext cx="1234440" cy="123444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84831"/>
            <a:ext cx="1234440" cy="1234440"/>
          </a:xfrm>
          <a:prstGeom prst="rect">
            <a:avLst/>
          </a:prstGeom>
          <a:noFill/>
        </p:spPr>
        <p:txBody>
          <a:bodyPr wrap="square" anchor="ctr" lIns="45720" rIns="45720">
            <a:spAutoFit/>
          </a:bodyPr>
          <a:lstStyle/>
          <a:p>
            <a:pPr algn="ctr">
              <a:spcAft>
                <a:spcPts val="300"/>
              </a:spcAft>
            </a:pPr>
            <a:r>
              <a:rPr sz="3800" b="1">
                <a:solidFill>
                  <a:srgbClr val="FFFFFF"/>
                </a:solidFill>
                <a:latin typeface="Arial"/>
              </a:rPr>
              <a:t>✓</a:t>
            </a:r>
          </a:p>
        </p:txBody>
      </p:sp>
      <p:sp>
        <p:nvSpPr>
          <p:cNvPr id="9" name="TextBox 8"/>
          <p:cNvSpPr txBox="1"/>
          <p:nvPr/>
        </p:nvSpPr>
        <p:spPr>
          <a:xfrm>
            <a:off x="868680" y="3611880"/>
            <a:ext cx="2816352" cy="502920"/>
          </a:xfrm>
          <a:prstGeom prst="rect">
            <a:avLst/>
          </a:prstGeom>
          <a:noFill/>
        </p:spPr>
        <p:txBody>
          <a:bodyPr wrap="square" anchor="t" lIns="45720" rIns="45720">
            <a:spAutoFit/>
          </a:bodyPr>
          <a:lstStyle/>
          <a:p>
            <a:pPr algn="ctr">
              <a:spcAft>
                <a:spcPts val="300"/>
              </a:spcAft>
            </a:pPr>
            <a:r>
              <a:rPr sz="2000" b="1">
                <a:solidFill>
                  <a:srgbClr val="161B26"/>
                </a:solidFill>
                <a:latin typeface="Arial"/>
              </a:rPr>
              <a:t>Qualified Facilitator</a:t>
            </a:r>
          </a:p>
        </p:txBody>
      </p:sp>
      <p:sp>
        <p:nvSpPr>
          <p:cNvPr id="10" name="TextBox 9"/>
          <p:cNvSpPr txBox="1"/>
          <p:nvPr/>
        </p:nvSpPr>
        <p:spPr>
          <a:xfrm>
            <a:off x="868680" y="4187952"/>
            <a:ext cx="2816352" cy="640080"/>
          </a:xfrm>
          <a:prstGeom prst="rect">
            <a:avLst/>
          </a:prstGeom>
          <a:noFill/>
        </p:spPr>
        <p:txBody>
          <a:bodyPr wrap="square" anchor="t" lIns="45720" rIns="45720">
            <a:spAutoFit/>
          </a:bodyPr>
          <a:lstStyle/>
          <a:p>
            <a:pPr algn="ctr">
              <a:spcAft>
                <a:spcPts val="300"/>
              </a:spcAft>
            </a:pPr>
            <a:r>
              <a:rPr sz="1250" b="0">
                <a:solidFill>
                  <a:srgbClr val="5B6372"/>
                </a:solidFill>
                <a:latin typeface="Arial"/>
              </a:rPr>
              <a:t>Course delivery standard</a:t>
            </a:r>
          </a:p>
        </p:txBody>
      </p:sp>
      <p:sp>
        <p:nvSpPr>
          <p:cNvPr id="11" name="Rounded Rectangle 10"/>
          <p:cNvSpPr/>
          <p:nvPr/>
        </p:nvSpPr>
        <p:spPr>
          <a:xfrm>
            <a:off x="4224528" y="1700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7647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ADULT EDUCATION</a:t>
            </a:r>
          </a:p>
        </p:txBody>
      </p:sp>
      <p:sp>
        <p:nvSpPr>
          <p:cNvPr id="13" name="TextBox 12"/>
          <p:cNvSpPr txBox="1"/>
          <p:nvPr/>
        </p:nvSpPr>
        <p:spPr>
          <a:xfrm>
            <a:off x="6446520" y="1764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WSQ-certified adult educator</a:t>
            </a:r>
          </a:p>
        </p:txBody>
      </p:sp>
      <p:sp>
        <p:nvSpPr>
          <p:cNvPr id="14" name="Rounded Rectangle 13"/>
          <p:cNvSpPr/>
          <p:nvPr/>
        </p:nvSpPr>
        <p:spPr>
          <a:xfrm>
            <a:off x="4224528" y="23865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4505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LEGAL BOUNDARIES</a:t>
            </a:r>
          </a:p>
        </p:txBody>
      </p:sp>
      <p:sp>
        <p:nvSpPr>
          <p:cNvPr id="16" name="TextBox 15"/>
          <p:cNvSpPr txBox="1"/>
          <p:nvPr/>
        </p:nvSpPr>
        <p:spPr>
          <a:xfrm>
            <a:off x="6446520" y="24505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Distinguishes education from legal advice</a:t>
            </a:r>
          </a:p>
        </p:txBody>
      </p:sp>
      <p:sp>
        <p:nvSpPr>
          <p:cNvPr id="17" name="Rounded Rectangle 16"/>
          <p:cNvSpPr/>
          <p:nvPr/>
        </p:nvSpPr>
        <p:spPr>
          <a:xfrm>
            <a:off x="4224528" y="30723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136392"/>
            <a:ext cx="2011680" cy="210312"/>
          </a:xfrm>
          <a:prstGeom prst="rect">
            <a:avLst/>
          </a:prstGeom>
          <a:noFill/>
        </p:spPr>
        <p:txBody>
          <a:bodyPr wrap="square" anchor="t" lIns="45720" rIns="45720">
            <a:spAutoFit/>
          </a:bodyPr>
          <a:lstStyle/>
          <a:p>
            <a:pPr algn="l">
              <a:spcAft>
                <a:spcPts val="300"/>
              </a:spcAft>
            </a:pPr>
            <a:r>
              <a:rPr sz="950" b="1">
                <a:solidFill>
                  <a:srgbClr val="7C3AED"/>
                </a:solidFill>
                <a:latin typeface="Arial"/>
              </a:rPr>
              <a:t>SOURCE DISCIPLINE</a:t>
            </a:r>
          </a:p>
        </p:txBody>
      </p:sp>
      <p:sp>
        <p:nvSpPr>
          <p:cNvPr id="19" name="TextBox 18"/>
          <p:cNvSpPr txBox="1"/>
          <p:nvPr/>
        </p:nvSpPr>
        <p:spPr>
          <a:xfrm>
            <a:off x="6446520" y="31363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Uses current Singapore regulator sources</a:t>
            </a:r>
          </a:p>
        </p:txBody>
      </p:sp>
      <p:sp>
        <p:nvSpPr>
          <p:cNvPr id="20" name="Rounded Rectangle 19"/>
          <p:cNvSpPr/>
          <p:nvPr/>
        </p:nvSpPr>
        <p:spPr>
          <a:xfrm>
            <a:off x="4224528" y="37581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822192"/>
            <a:ext cx="2011680" cy="210312"/>
          </a:xfrm>
          <a:prstGeom prst="rect">
            <a:avLst/>
          </a:prstGeom>
          <a:noFill/>
        </p:spPr>
        <p:txBody>
          <a:bodyPr wrap="square" anchor="t" lIns="45720" rIns="45720">
            <a:spAutoFit/>
          </a:bodyPr>
          <a:lstStyle/>
          <a:p>
            <a:pPr algn="l">
              <a:spcAft>
                <a:spcPts val="300"/>
              </a:spcAft>
            </a:pPr>
            <a:r>
              <a:rPr sz="950" b="1">
                <a:solidFill>
                  <a:srgbClr val="F59E0B"/>
                </a:solidFill>
                <a:latin typeface="Arial"/>
              </a:rPr>
              <a:t>FACILITATION</a:t>
            </a:r>
          </a:p>
        </p:txBody>
      </p:sp>
      <p:sp>
        <p:nvSpPr>
          <p:cNvPr id="22" name="TextBox 21"/>
          <p:cNvSpPr txBox="1"/>
          <p:nvPr/>
        </p:nvSpPr>
        <p:spPr>
          <a:xfrm>
            <a:off x="6446520" y="38221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Supports evidence-based business decisions</a:t>
            </a:r>
          </a:p>
        </p:txBody>
      </p:sp>
      <p:sp>
        <p:nvSpPr>
          <p:cNvPr id="23" name="Rounded Rectangle 22"/>
          <p:cNvSpPr/>
          <p:nvPr/>
        </p:nvSpPr>
        <p:spPr>
          <a:xfrm>
            <a:off x="4224528" y="44439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5079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ASSESSMENT</a:t>
            </a:r>
          </a:p>
        </p:txBody>
      </p:sp>
      <p:sp>
        <p:nvSpPr>
          <p:cNvPr id="25" name="TextBox 24"/>
          <p:cNvSpPr txBox="1"/>
          <p:nvPr/>
        </p:nvSpPr>
        <p:spPr>
          <a:xfrm>
            <a:off x="6446520" y="45079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Applies approved instruments consistently</a:t>
            </a:r>
          </a:p>
        </p:txBody>
      </p:sp>
      <p:sp>
        <p:nvSpPr>
          <p:cNvPr id="26" name="Rounded Rectangle 25"/>
          <p:cNvSpPr/>
          <p:nvPr/>
        </p:nvSpPr>
        <p:spPr>
          <a:xfrm>
            <a:off x="4224528" y="5129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51937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SUPPORT</a:t>
            </a:r>
          </a:p>
        </p:txBody>
      </p:sp>
      <p:sp>
        <p:nvSpPr>
          <p:cNvPr id="28" name="TextBox 27"/>
          <p:cNvSpPr txBox="1"/>
          <p:nvPr/>
        </p:nvSpPr>
        <p:spPr>
          <a:xfrm>
            <a:off x="6446520" y="5193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Escalates material uncertainty appropriately</a:t>
            </a:r>
          </a:p>
        </p:txBody>
      </p:sp>
      <p:sp>
        <p:nvSpPr>
          <p:cNvPr id="29" name="TextBox 28"/>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0" name="Rectangle 29"/>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2" name="TextBox 31"/>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3" name="TextBox 32"/>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YOUR TRAINER</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About the Trainer</a:t>
            </a:r>
          </a:p>
        </p:txBody>
      </p:sp>
      <p:sp>
        <p:nvSpPr>
          <p:cNvPr id="6" name="Rounded Rectangle 5"/>
          <p:cNvSpPr/>
          <p:nvPr/>
        </p:nvSpPr>
        <p:spPr>
          <a:xfrm>
            <a:off x="658368" y="1700784"/>
            <a:ext cx="324612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64208" y="2084831"/>
            <a:ext cx="1234440" cy="12344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84831"/>
            <a:ext cx="1234440" cy="1234440"/>
          </a:xfrm>
          <a:prstGeom prst="rect">
            <a:avLst/>
          </a:prstGeom>
          <a:noFill/>
        </p:spPr>
        <p:txBody>
          <a:bodyPr wrap="square" anchor="ctr" lIns="45720" rIns="45720">
            <a:spAutoFit/>
          </a:bodyPr>
          <a:lstStyle/>
          <a:p>
            <a:pPr algn="ctr">
              <a:spcAft>
                <a:spcPts val="300"/>
              </a:spcAft>
            </a:pPr>
            <a:r>
              <a:rPr sz="3800" b="1">
                <a:solidFill>
                  <a:srgbClr val="FFFFFF"/>
                </a:solidFill>
                <a:latin typeface="Arial"/>
              </a:rPr>
              <a:t>AA</a:t>
            </a:r>
          </a:p>
        </p:txBody>
      </p:sp>
      <p:sp>
        <p:nvSpPr>
          <p:cNvPr id="9" name="TextBox 8"/>
          <p:cNvSpPr txBox="1"/>
          <p:nvPr/>
        </p:nvSpPr>
        <p:spPr>
          <a:xfrm>
            <a:off x="868680" y="3611880"/>
            <a:ext cx="2816352" cy="502920"/>
          </a:xfrm>
          <a:prstGeom prst="rect">
            <a:avLst/>
          </a:prstGeom>
          <a:noFill/>
        </p:spPr>
        <p:txBody>
          <a:bodyPr wrap="square" anchor="t" lIns="45720" rIns="45720">
            <a:spAutoFit/>
          </a:bodyPr>
          <a:lstStyle/>
          <a:p>
            <a:pPr algn="ctr">
              <a:spcAft>
                <a:spcPts val="300"/>
              </a:spcAft>
            </a:pPr>
            <a:r>
              <a:rPr sz="2000" b="1">
                <a:solidFill>
                  <a:srgbClr val="161B26"/>
                </a:solidFill>
                <a:latin typeface="Arial"/>
              </a:rPr>
              <a:t>Dr Alfred Ang</a:t>
            </a:r>
          </a:p>
        </p:txBody>
      </p:sp>
      <p:sp>
        <p:nvSpPr>
          <p:cNvPr id="10" name="TextBox 9"/>
          <p:cNvSpPr txBox="1"/>
          <p:nvPr/>
        </p:nvSpPr>
        <p:spPr>
          <a:xfrm>
            <a:off x="868680" y="4187952"/>
            <a:ext cx="2816352" cy="640080"/>
          </a:xfrm>
          <a:prstGeom prst="rect">
            <a:avLst/>
          </a:prstGeom>
          <a:noFill/>
        </p:spPr>
        <p:txBody>
          <a:bodyPr wrap="square" anchor="t" lIns="45720" rIns="45720">
            <a:spAutoFit/>
          </a:bodyPr>
          <a:lstStyle/>
          <a:p>
            <a:pPr algn="ctr">
              <a:spcAft>
                <a:spcPts val="300"/>
              </a:spcAft>
            </a:pPr>
            <a:r>
              <a:rPr sz="1250" b="0">
                <a:solidFill>
                  <a:srgbClr val="5B6372"/>
                </a:solidFill>
                <a:latin typeface="Arial"/>
              </a:rPr>
              <a:t>Principal Trainer | Tertiary Infotech Academy</a:t>
            </a:r>
          </a:p>
        </p:txBody>
      </p:sp>
      <p:sp>
        <p:nvSpPr>
          <p:cNvPr id="11" name="Rounded Rectangle 10"/>
          <p:cNvSpPr/>
          <p:nvPr/>
        </p:nvSpPr>
        <p:spPr>
          <a:xfrm>
            <a:off x="4224528" y="1700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7647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ADULT EDUCATION</a:t>
            </a:r>
          </a:p>
        </p:txBody>
      </p:sp>
      <p:sp>
        <p:nvSpPr>
          <p:cNvPr id="13" name="TextBox 12"/>
          <p:cNvSpPr txBox="1"/>
          <p:nvPr/>
        </p:nvSpPr>
        <p:spPr>
          <a:xfrm>
            <a:off x="6446520" y="1764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Dr Alfred Ang</a:t>
            </a:r>
          </a:p>
        </p:txBody>
      </p:sp>
      <p:sp>
        <p:nvSpPr>
          <p:cNvPr id="14" name="Rounded Rectangle 13"/>
          <p:cNvSpPr/>
          <p:nvPr/>
        </p:nvSpPr>
        <p:spPr>
          <a:xfrm>
            <a:off x="4224528" y="23865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24505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LEGAL BOUNDARIES</a:t>
            </a:r>
          </a:p>
        </p:txBody>
      </p:sp>
      <p:sp>
        <p:nvSpPr>
          <p:cNvPr id="16" name="TextBox 15"/>
          <p:cNvSpPr txBox="1"/>
          <p:nvPr/>
        </p:nvSpPr>
        <p:spPr>
          <a:xfrm>
            <a:off x="6446520" y="24505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Founder and Principal Trainer</a:t>
            </a:r>
          </a:p>
        </p:txBody>
      </p:sp>
      <p:sp>
        <p:nvSpPr>
          <p:cNvPr id="17" name="Rounded Rectangle 16"/>
          <p:cNvSpPr/>
          <p:nvPr/>
        </p:nvSpPr>
        <p:spPr>
          <a:xfrm>
            <a:off x="4224528" y="30723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136392"/>
            <a:ext cx="2011680" cy="210312"/>
          </a:xfrm>
          <a:prstGeom prst="rect">
            <a:avLst/>
          </a:prstGeom>
          <a:noFill/>
        </p:spPr>
        <p:txBody>
          <a:bodyPr wrap="square" anchor="t" lIns="45720" rIns="45720">
            <a:spAutoFit/>
          </a:bodyPr>
          <a:lstStyle/>
          <a:p>
            <a:pPr algn="l">
              <a:spcAft>
                <a:spcPts val="300"/>
              </a:spcAft>
            </a:pPr>
            <a:r>
              <a:rPr sz="950" b="1">
                <a:solidFill>
                  <a:srgbClr val="7C3AED"/>
                </a:solidFill>
                <a:latin typeface="Arial"/>
              </a:rPr>
              <a:t>SOURCE DISCIPLINE</a:t>
            </a:r>
          </a:p>
        </p:txBody>
      </p:sp>
      <p:sp>
        <p:nvSpPr>
          <p:cNvPr id="19" name="TextBox 18"/>
          <p:cNvSpPr txBox="1"/>
          <p:nvPr/>
        </p:nvSpPr>
        <p:spPr>
          <a:xfrm>
            <a:off x="6446520" y="31363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Doctorate-level educator and adult-learning practitioner</a:t>
            </a:r>
          </a:p>
        </p:txBody>
      </p:sp>
      <p:sp>
        <p:nvSpPr>
          <p:cNvPr id="20" name="Rounded Rectangle 19"/>
          <p:cNvSpPr/>
          <p:nvPr/>
        </p:nvSpPr>
        <p:spPr>
          <a:xfrm>
            <a:off x="4224528" y="37581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822192"/>
            <a:ext cx="2011680" cy="210312"/>
          </a:xfrm>
          <a:prstGeom prst="rect">
            <a:avLst/>
          </a:prstGeom>
          <a:noFill/>
        </p:spPr>
        <p:txBody>
          <a:bodyPr wrap="square" anchor="t" lIns="45720" rIns="45720">
            <a:spAutoFit/>
          </a:bodyPr>
          <a:lstStyle/>
          <a:p>
            <a:pPr algn="l">
              <a:spcAft>
                <a:spcPts val="300"/>
              </a:spcAft>
            </a:pPr>
            <a:r>
              <a:rPr sz="950" b="1">
                <a:solidFill>
                  <a:srgbClr val="F59E0B"/>
                </a:solidFill>
                <a:latin typeface="Arial"/>
              </a:rPr>
              <a:t>FACILITATION</a:t>
            </a:r>
          </a:p>
        </p:txBody>
      </p:sp>
      <p:sp>
        <p:nvSpPr>
          <p:cNvPr id="22" name="TextBox 21"/>
          <p:cNvSpPr txBox="1"/>
          <p:nvPr/>
        </p:nvSpPr>
        <p:spPr>
          <a:xfrm>
            <a:off x="6446520" y="38221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Business, AI, digital transformation and governance</a:t>
            </a:r>
          </a:p>
        </p:txBody>
      </p:sp>
      <p:sp>
        <p:nvSpPr>
          <p:cNvPr id="23" name="Rounded Rectangle 22"/>
          <p:cNvSpPr/>
          <p:nvPr/>
        </p:nvSpPr>
        <p:spPr>
          <a:xfrm>
            <a:off x="4224528" y="44439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507992"/>
            <a:ext cx="2011680" cy="210312"/>
          </a:xfrm>
          <a:prstGeom prst="rect">
            <a:avLst/>
          </a:prstGeom>
          <a:noFill/>
        </p:spPr>
        <p:txBody>
          <a:bodyPr wrap="square" anchor="t" lIns="45720" rIns="45720">
            <a:spAutoFit/>
          </a:bodyPr>
          <a:lstStyle/>
          <a:p>
            <a:pPr algn="l">
              <a:spcAft>
                <a:spcPts val="300"/>
              </a:spcAft>
            </a:pPr>
            <a:r>
              <a:rPr sz="950" b="1">
                <a:solidFill>
                  <a:srgbClr val="1F6FEB"/>
                </a:solidFill>
                <a:latin typeface="Arial"/>
              </a:rPr>
              <a:t>ASSESSMENT</a:t>
            </a:r>
          </a:p>
        </p:txBody>
      </p:sp>
      <p:sp>
        <p:nvSpPr>
          <p:cNvPr id="25" name="TextBox 24"/>
          <p:cNvSpPr txBox="1"/>
          <p:nvPr/>
        </p:nvSpPr>
        <p:spPr>
          <a:xfrm>
            <a:off x="6446520" y="45079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WSQ course development and enterprise training</a:t>
            </a:r>
          </a:p>
        </p:txBody>
      </p:sp>
      <p:sp>
        <p:nvSpPr>
          <p:cNvPr id="26" name="Rounded Rectangle 25"/>
          <p:cNvSpPr/>
          <p:nvPr/>
        </p:nvSpPr>
        <p:spPr>
          <a:xfrm>
            <a:off x="4224528" y="5129784"/>
            <a:ext cx="7114032" cy="56692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5193792"/>
            <a:ext cx="2011680" cy="210312"/>
          </a:xfrm>
          <a:prstGeom prst="rect">
            <a:avLst/>
          </a:prstGeom>
          <a:noFill/>
        </p:spPr>
        <p:txBody>
          <a:bodyPr wrap="square" anchor="t" lIns="45720" rIns="45720">
            <a:spAutoFit/>
          </a:bodyPr>
          <a:lstStyle/>
          <a:p>
            <a:pPr algn="l">
              <a:spcAft>
                <a:spcPts val="300"/>
              </a:spcAft>
            </a:pPr>
            <a:r>
              <a:rPr sz="950" b="1">
                <a:solidFill>
                  <a:srgbClr val="10B981"/>
                </a:solidFill>
                <a:latin typeface="Arial"/>
              </a:rPr>
              <a:t>SUPPORT</a:t>
            </a:r>
          </a:p>
        </p:txBody>
      </p:sp>
      <p:sp>
        <p:nvSpPr>
          <p:cNvPr id="28" name="TextBox 27"/>
          <p:cNvSpPr txBox="1"/>
          <p:nvPr/>
        </p:nvSpPr>
        <p:spPr>
          <a:xfrm>
            <a:off x="6446520" y="5193792"/>
            <a:ext cx="4617720" cy="384048"/>
          </a:xfrm>
          <a:prstGeom prst="rect">
            <a:avLst/>
          </a:prstGeom>
          <a:noFill/>
        </p:spPr>
        <p:txBody>
          <a:bodyPr wrap="square" anchor="t" lIns="45720" rIns="45720">
            <a:spAutoFit/>
          </a:bodyPr>
          <a:lstStyle/>
          <a:p>
            <a:pPr algn="l">
              <a:spcAft>
                <a:spcPts val="300"/>
              </a:spcAft>
            </a:pPr>
            <a:r>
              <a:rPr sz="1200" b="0">
                <a:solidFill>
                  <a:srgbClr val="161B26"/>
                </a:solidFill>
                <a:latin typeface="Arial"/>
              </a:rPr>
              <a:t>enquiry@tertiaryinfotech.com | +65 6100 0613</a:t>
            </a:r>
          </a:p>
        </p:txBody>
      </p:sp>
      <p:sp>
        <p:nvSpPr>
          <p:cNvPr id="29" name="TextBox 28"/>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0" name="Rectangle 29"/>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2" name="TextBox 31"/>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3" name="TextBox 32"/>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LEARNER INTRODUCTION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Let's Know Each Other</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01</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Name and business/role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02</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One regulated activity in your organisation</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03</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compliance problem you want to prevent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04</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One outcome you want from today</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HOUSEKEEPING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Ground Rules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Respect</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Challenge ideas, not people.</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Participation</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examples without exposing confidential information.</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Questions</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Ask early; legal ambiguity is part of the learning.</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Phones</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Silent unless used for attendance or learning.</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Timing</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Return from breaks promptly.</a:t>
            </a:r>
          </a:p>
        </p:txBody>
      </p:sp>
      <p:sp>
        <p:nvSpPr>
          <p:cNvPr id="36" name="Rounded Rectangle 35"/>
          <p:cNvSpPr/>
          <p:nvPr/>
        </p:nvSpPr>
        <p:spPr>
          <a:xfrm>
            <a:off x="8058912"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2" y="3904488"/>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0080" y="41148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0080"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6</a:t>
            </a:r>
          </a:p>
        </p:txBody>
      </p:sp>
      <p:sp>
        <p:nvSpPr>
          <p:cNvPr id="40" name="TextBox 39"/>
          <p:cNvSpPr txBox="1"/>
          <p:nvPr/>
        </p:nvSpPr>
        <p:spPr>
          <a:xfrm>
            <a:off x="8845296" y="4069080"/>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Attendance</a:t>
            </a:r>
          </a:p>
        </p:txBody>
      </p:sp>
      <p:sp>
        <p:nvSpPr>
          <p:cNvPr id="41" name="TextBox 40"/>
          <p:cNvSpPr txBox="1"/>
          <p:nvPr/>
        </p:nvSpPr>
        <p:spPr>
          <a:xfrm>
            <a:off x="8845296"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75% minimum is required.</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72B4D"/>
                </a:solidFill>
                <a:latin typeface="Arial"/>
              </a:rPr>
              <a:t>WHY THIS COURSE</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Compliance protects the licence to operate.</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For business owners, it is also a decision discipline that preserves trust, market access and resilience.</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ES Law: Corporate-law basics</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ONE-DAY LEARNING JOURNEY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Course Map</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Framework and global context</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Industry and functional duties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Decision-making</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Influencing business units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Assessment</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a:t>
            </a:r>
          </a:p>
        </p:txBody>
      </p:sp>
    </p:spTree>
  </p:cSld>
  <p:clrMapOvr>
    <a:masterClrMapping/>
  </p:clrMapOvr>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APPROVED COURSE OUTCOMES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Learning Outcomes</a:t>
            </a:r>
          </a:p>
        </p:txBody>
      </p:sp>
      <p:sp>
        <p:nvSpPr>
          <p:cNvPr id="6" name="Rounded Rectangle 5"/>
          <p:cNvSpPr/>
          <p:nvPr/>
        </p:nvSpPr>
        <p:spPr>
          <a:xfrm>
            <a:off x="658368" y="1673352"/>
            <a:ext cx="5330952" cy="4261104"/>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42611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LO1</a:t>
            </a:r>
          </a:p>
        </p:txBody>
      </p:sp>
      <p:sp>
        <p:nvSpPr>
          <p:cNvPr id="11" name="TextBox 10"/>
          <p:cNvSpPr txBox="1"/>
          <p:nvPr/>
        </p:nvSpPr>
        <p:spPr>
          <a:xfrm>
            <a:off x="1444752" y="2313432"/>
            <a:ext cx="4343400" cy="349300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Assess the implications of global legal developments and business laws on the organisation's regulatory framework.</a:t>
            </a:r>
          </a:p>
        </p:txBody>
      </p:sp>
      <p:sp>
        <p:nvSpPr>
          <p:cNvPr id="12" name="Rounded Rectangle 11"/>
          <p:cNvSpPr/>
          <p:nvPr/>
        </p:nvSpPr>
        <p:spPr>
          <a:xfrm>
            <a:off x="6208776" y="1673352"/>
            <a:ext cx="5330952" cy="4261104"/>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42611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LO2</a:t>
            </a:r>
          </a:p>
        </p:txBody>
      </p:sp>
      <p:sp>
        <p:nvSpPr>
          <p:cNvPr id="17" name="TextBox 16"/>
          <p:cNvSpPr txBox="1"/>
          <p:nvPr/>
        </p:nvSpPr>
        <p:spPr>
          <a:xfrm>
            <a:off x="6995160" y="2313432"/>
            <a:ext cx="4343400" cy="349300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Drive decision-making based on regulatory changes and influence business units to adapt to new laws.</a:t>
            </a:r>
          </a:p>
        </p:txBody>
      </p:sp>
      <p:sp>
        <p:nvSpPr>
          <p:cNvPr id="18" name="TextBox 1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19" name="Rectangle 1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1" name="TextBox 2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2" name="TextBox 2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a:t>
            </a:r>
          </a:p>
        </p:txBody>
      </p:sp>
    </p:spTree>
  </p:cSld>
  <p:clrMapOvr>
    <a:masterClrMapping/>
  </p:clrMapOvr>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ACC-BLR-5001-1.1 | CORPORATE AND BUSINESS LAW</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TSC Knowledge and Abilities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K1</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Latest global developments, and regulatory and legal framework within which the organisation operates</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K2</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Organisation's business, environment and industry in which it operates</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A1</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Assess impact of changes in global developments and relevant business laws and regulations to organisation</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A2</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Drive decision making based on changes in laws and regulations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A3</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Influence the relevant business units to adapt to new regulations</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a:t>
            </a:r>
          </a:p>
        </p:txBody>
      </p:sp>
    </p:spTree>
  </p:cSld>
  <p:clrMapOvr>
    <a:masterClrMapping/>
  </p:clrMapOvr>
  <p:transition spd="slow">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8 HOURS INCLUDING 1-HOUR ASSESSMENT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Lesson Plan | 9:00 AM-6:00 PM</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AM: foundations + Topic 1</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Late AM: Topic 2</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PM: Topic 2 applications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Late PM: Topics 3-4</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5:00 PM: WA + CS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11</a:t>
            </a:r>
          </a:p>
        </p:txBody>
      </p:sp>
    </p:spTree>
  </p:cSld>
  <p:clrMapOvr>
    <a:masterClrMapping/>
  </p:clrMapOvr>
  <p:transition spd="slow">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BEFORE THE ASSESSMENT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Briefing for Assessment</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Individual</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No discussion, photos or recording.</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Open book</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Slides, Learner Guide and approved materials only.</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Materials</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Phones and unapproved materials under the table.</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Writing</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Black/blue pen; no correction fluid/tape for hardcopy.</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Timing</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30 minutes WA, then 30 minutes Case Study.</a:t>
            </a:r>
          </a:p>
        </p:txBody>
      </p:sp>
      <p:sp>
        <p:nvSpPr>
          <p:cNvPr id="36" name="Rounded Rectangle 35"/>
          <p:cNvSpPr/>
          <p:nvPr/>
        </p:nvSpPr>
        <p:spPr>
          <a:xfrm>
            <a:off x="8058912"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2" y="3904488"/>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0080" y="41148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0080"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6</a:t>
            </a:r>
          </a:p>
        </p:txBody>
      </p:sp>
      <p:sp>
        <p:nvSpPr>
          <p:cNvPr id="40" name="TextBox 39"/>
          <p:cNvSpPr txBox="1"/>
          <p:nvPr/>
        </p:nvSpPr>
        <p:spPr>
          <a:xfrm>
            <a:off x="8845296" y="4069080"/>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Rights</a:t>
            </a:r>
          </a:p>
        </p:txBody>
      </p:sp>
      <p:sp>
        <p:nvSpPr>
          <p:cNvPr id="41" name="TextBox 40"/>
          <p:cNvSpPr txBox="1"/>
          <p:nvPr/>
        </p:nvSpPr>
        <p:spPr>
          <a:xfrm>
            <a:off x="8845296"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Re-assessment and appeal processes are available.</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12</a:t>
            </a:r>
          </a:p>
        </p:txBody>
      </p:sp>
    </p:spTree>
  </p:cSld>
  <p:clrMapOvr>
    <a:masterClrMapping/>
  </p:clrMapOvr>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ASSESSMENT AND FUNDING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Final Assessment</a:t>
            </a:r>
          </a:p>
        </p:txBody>
      </p:sp>
      <p:sp>
        <p:nvSpPr>
          <p:cNvPr id="6" name="Rounded Rectangle 5"/>
          <p:cNvSpPr/>
          <p:nvPr/>
        </p:nvSpPr>
        <p:spPr>
          <a:xfrm>
            <a:off x="658368"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93392"/>
            <a:ext cx="2852928" cy="594360"/>
          </a:xfrm>
          <a:prstGeom prst="rect">
            <a:avLst/>
          </a:prstGeom>
          <a:noFill/>
        </p:spPr>
        <p:txBody>
          <a:bodyPr wrap="square" anchor="t" lIns="45720" rIns="45720">
            <a:spAutoFit/>
          </a:bodyPr>
          <a:lstStyle/>
          <a:p>
            <a:pPr algn="l">
              <a:spcAft>
                <a:spcPts val="300"/>
              </a:spcAft>
            </a:pPr>
            <a:r>
              <a:rPr sz="1900" b="1">
                <a:solidFill>
                  <a:srgbClr val="1F6FEB"/>
                </a:solidFill>
                <a:latin typeface="Arial"/>
              </a:rPr>
              <a:t>WA-SAQ | 30 min</a:t>
            </a:r>
          </a:p>
        </p:txBody>
      </p:sp>
      <p:sp>
        <p:nvSpPr>
          <p:cNvPr id="9" name="Oval 8"/>
          <p:cNvSpPr/>
          <p:nvPr/>
        </p:nvSpPr>
        <p:spPr>
          <a:xfrm>
            <a:off x="905256" y="2715768"/>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11" name="TextBox 10"/>
          <p:cNvSpPr txBox="1"/>
          <p:nvPr/>
        </p:nvSpPr>
        <p:spPr>
          <a:xfrm>
            <a:off x="1298448"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4 open-ended questions</a:t>
            </a:r>
          </a:p>
        </p:txBody>
      </p:sp>
      <p:sp>
        <p:nvSpPr>
          <p:cNvPr id="12" name="Oval 11"/>
          <p:cNvSpPr/>
          <p:nvPr/>
        </p:nvSpPr>
        <p:spPr>
          <a:xfrm>
            <a:off x="905256" y="346557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14" name="TextBox 13"/>
          <p:cNvSpPr txBox="1"/>
          <p:nvPr/>
        </p:nvSpPr>
        <p:spPr>
          <a:xfrm>
            <a:off x="1298448"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K1 and K2</a:t>
            </a:r>
          </a:p>
        </p:txBody>
      </p:sp>
      <p:sp>
        <p:nvSpPr>
          <p:cNvPr id="15" name="Oval 14"/>
          <p:cNvSpPr/>
          <p:nvPr/>
        </p:nvSpPr>
        <p:spPr>
          <a:xfrm>
            <a:off x="905256" y="4215383"/>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17" name="TextBox 16"/>
          <p:cNvSpPr txBox="1"/>
          <p:nvPr/>
        </p:nvSpPr>
        <p:spPr>
          <a:xfrm>
            <a:off x="1298448"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Answer in your own words</a:t>
            </a:r>
          </a:p>
        </p:txBody>
      </p:sp>
      <p:sp>
        <p:nvSpPr>
          <p:cNvPr id="18" name="Rounded Rectangle 17"/>
          <p:cNvSpPr/>
          <p:nvPr/>
        </p:nvSpPr>
        <p:spPr>
          <a:xfrm>
            <a:off x="4370832"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1719072"/>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1993392"/>
            <a:ext cx="2852928" cy="594360"/>
          </a:xfrm>
          <a:prstGeom prst="rect">
            <a:avLst/>
          </a:prstGeom>
          <a:noFill/>
        </p:spPr>
        <p:txBody>
          <a:bodyPr wrap="square" anchor="t" lIns="45720" rIns="45720">
            <a:spAutoFit/>
          </a:bodyPr>
          <a:lstStyle/>
          <a:p>
            <a:pPr algn="l">
              <a:spcAft>
                <a:spcPts val="300"/>
              </a:spcAft>
            </a:pPr>
            <a:r>
              <a:rPr sz="1900" b="1">
                <a:solidFill>
                  <a:srgbClr val="10B981"/>
                </a:solidFill>
                <a:latin typeface="Arial"/>
              </a:rPr>
              <a:t>Case Study | 30 min</a:t>
            </a:r>
          </a:p>
        </p:txBody>
      </p:sp>
      <p:sp>
        <p:nvSpPr>
          <p:cNvPr id="21" name="Oval 20"/>
          <p:cNvSpPr/>
          <p:nvPr/>
        </p:nvSpPr>
        <p:spPr>
          <a:xfrm>
            <a:off x="4617720" y="271576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23" name="TextBox 22"/>
          <p:cNvSpPr txBox="1"/>
          <p:nvPr/>
        </p:nvSpPr>
        <p:spPr>
          <a:xfrm>
            <a:off x="5010912"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2 scenario tasks</a:t>
            </a:r>
          </a:p>
        </p:txBody>
      </p:sp>
      <p:sp>
        <p:nvSpPr>
          <p:cNvPr id="24" name="Oval 23"/>
          <p:cNvSpPr/>
          <p:nvPr/>
        </p:nvSpPr>
        <p:spPr>
          <a:xfrm>
            <a:off x="4617720" y="346557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26" name="TextBox 25"/>
          <p:cNvSpPr txBox="1"/>
          <p:nvPr/>
        </p:nvSpPr>
        <p:spPr>
          <a:xfrm>
            <a:off x="5010912"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A1, A2 and A3</a:t>
            </a:r>
          </a:p>
        </p:txBody>
      </p:sp>
      <p:sp>
        <p:nvSpPr>
          <p:cNvPr id="27" name="Oval 26"/>
          <p:cNvSpPr/>
          <p:nvPr/>
        </p:nvSpPr>
        <p:spPr>
          <a:xfrm>
            <a:off x="4617720" y="421538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29" name="TextBox 28"/>
          <p:cNvSpPr txBox="1"/>
          <p:nvPr/>
        </p:nvSpPr>
        <p:spPr>
          <a:xfrm>
            <a:off x="5010912"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Apply course activities</a:t>
            </a:r>
          </a:p>
        </p:txBody>
      </p:sp>
      <p:sp>
        <p:nvSpPr>
          <p:cNvPr id="30" name="Rounded Rectangle 29"/>
          <p:cNvSpPr/>
          <p:nvPr/>
        </p:nvSpPr>
        <p:spPr>
          <a:xfrm>
            <a:off x="8083296"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1719072"/>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993392"/>
            <a:ext cx="2852928" cy="594360"/>
          </a:xfrm>
          <a:prstGeom prst="rect">
            <a:avLst/>
          </a:prstGeom>
          <a:noFill/>
        </p:spPr>
        <p:txBody>
          <a:bodyPr wrap="square" anchor="t" lIns="45720" rIns="45720">
            <a:spAutoFit/>
          </a:bodyPr>
          <a:lstStyle/>
          <a:p>
            <a:pPr algn="l">
              <a:spcAft>
                <a:spcPts val="300"/>
              </a:spcAft>
            </a:pPr>
            <a:r>
              <a:rPr sz="1900" b="1">
                <a:solidFill>
                  <a:srgbClr val="7C3AED"/>
                </a:solidFill>
                <a:latin typeface="Arial"/>
              </a:rPr>
              <a:t>Competency</a:t>
            </a:r>
          </a:p>
        </p:txBody>
      </p:sp>
      <p:sp>
        <p:nvSpPr>
          <p:cNvPr id="33" name="Oval 32"/>
          <p:cNvSpPr/>
          <p:nvPr/>
        </p:nvSpPr>
        <p:spPr>
          <a:xfrm>
            <a:off x="8330184" y="27157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35" name="TextBox 34"/>
          <p:cNvSpPr txBox="1"/>
          <p:nvPr/>
        </p:nvSpPr>
        <p:spPr>
          <a:xfrm>
            <a:off x="8723376"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Open book</a:t>
            </a:r>
          </a:p>
        </p:txBody>
      </p:sp>
      <p:sp>
        <p:nvSpPr>
          <p:cNvPr id="36" name="Oval 35"/>
          <p:cNvSpPr/>
          <p:nvPr/>
        </p:nvSpPr>
        <p:spPr>
          <a:xfrm>
            <a:off x="8330184" y="34655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0184"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38" name="TextBox 37"/>
          <p:cNvSpPr txBox="1"/>
          <p:nvPr/>
        </p:nvSpPr>
        <p:spPr>
          <a:xfrm>
            <a:off x="8723376"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Complete all evidence</a:t>
            </a:r>
          </a:p>
        </p:txBody>
      </p:sp>
      <p:sp>
        <p:nvSpPr>
          <p:cNvPr id="39" name="Oval 38"/>
          <p:cNvSpPr/>
          <p:nvPr/>
        </p:nvSpPr>
        <p:spPr>
          <a:xfrm>
            <a:off x="8330184" y="4215383"/>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41" name="TextBox 40"/>
          <p:cNvSpPr txBox="1"/>
          <p:nvPr/>
        </p:nvSpPr>
        <p:spPr>
          <a:xfrm>
            <a:off x="8723376"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Competent / Not Yet Competent</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13</a:t>
            </a:r>
          </a:p>
        </p:txBody>
      </p:sp>
    </p:spTree>
  </p:cSld>
  <p:clrMapOvr>
    <a:masterClrMapping/>
  </p:clrMapOvr>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ON ASSESSMENT DAY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Assessment Flow</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TRAQOM</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Assessment digital attendance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WA-SAQ</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Case Study</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Submit on LMS and sign record</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14</a:t>
            </a:r>
          </a:p>
        </p:txBody>
      </p:sp>
    </p:spTree>
  </p:cSld>
  <p:clrMapOvr>
    <a:masterClrMapping/>
  </p:clrMapOvr>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ACCESS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Courseware and Activities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hlinkClick r:id="rId2"/>
              </a:rPr>
              <a:t>LMS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Download the slides and Learner Guide; complete assessment submissions.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hlinkClick r:id="rId3"/>
              </a:rPr>
              <a:t>GitHub</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Access the eight detailed activity Markdown files and source register.</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Clone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git clone the course repository, or use Code &gt; Download ZIP.</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Support</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enquiry@tertiaryinfotech.com | +65 6100 0613</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15</a:t>
            </a:r>
          </a:p>
        </p:txBody>
      </p:sp>
    </p:spTree>
  </p:cSld>
  <p:clrMapOvr>
    <a:masterClrMapping/>
  </p:clrMapOvr>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IMPORTANT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Legal and Source Boundaries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Education</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This course builds compliance capability; it is not legal or tax advice.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Verify currency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Deadlines, rates, forms and guidance can change; check the regulator before acting.</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Singapore first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Official ACRA, IRAS, MOM and PDPC sources control Singapore propositions.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Comparative sources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Overseas articles contribute frameworks only; foreign rules are not imported as Singapore law.</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16</a:t>
            </a:r>
          </a:p>
        </p:txBody>
      </p:sp>
    </p:spTree>
  </p:cSld>
  <p:clrMapOvr>
    <a:masterClrMapping/>
  </p:clrMapOvr>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FOUNDATION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Corporate compliance is a management system</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Law</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Mandatory statutes, regulations and enforceable duties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Governance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Who may decide, approve, oversee and challenge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Operations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Policies, controls and evidence embedded in work</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Assurance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Monitoring, testing, reporting and remediation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17</a:t>
            </a:r>
          </a:p>
        </p:txBody>
      </p:sp>
    </p:spTree>
  </p:cSld>
  <p:clrMapOvr>
    <a:masterClrMapping/>
  </p:clrMapOvr>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FOUNDATION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Legal compliance and regulatory compliance</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Legal compliance</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Broad duties that apply across business activities</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Company, employment, tax, contract and privacy law</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Courts and regulators may enforce consequences</a:t>
            </a:r>
          </a:p>
        </p:txBody>
      </p:sp>
      <p:sp>
        <p:nvSpPr>
          <p:cNvPr id="18" name="Rounded Rectangle 17"/>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Regulatory compliance</a:t>
            </a:r>
          </a:p>
        </p:txBody>
      </p:sp>
      <p:sp>
        <p:nvSpPr>
          <p:cNvPr id="21" name="Oval 20"/>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3" name="TextBox 22"/>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Rules linked to a regulator, licence, sector or activity</a:t>
            </a:r>
          </a:p>
        </p:txBody>
      </p:sp>
      <p:sp>
        <p:nvSpPr>
          <p:cNvPr id="24" name="Oval 23"/>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6" name="TextBox 25"/>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Finance, healthcare, food, technology and safety overlays</a:t>
            </a:r>
          </a:p>
        </p:txBody>
      </p:sp>
      <p:sp>
        <p:nvSpPr>
          <p:cNvPr id="27" name="Oval 26"/>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29" name="TextBox 28"/>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Often includes reporting, inspection and licence conditions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18</a:t>
            </a:r>
          </a:p>
        </p:txBody>
      </p:sp>
    </p:spTree>
  </p:cSld>
  <p:clrMapOvr>
    <a:masterClrMapping/>
  </p:clrMapOvr>
  <p:transition spd="slow">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OPERATING MODEL</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continuous compliance cycle</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Identify applicable duties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Assign owners and controls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Operate and retain evidence</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Monitor change and test</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Escalate, remediate and improve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 | Wolters Kluwer: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19</a:t>
            </a:r>
          </a:p>
        </p:txBody>
      </p:sp>
    </p:spTree>
  </p:cSld>
  <p:clrMapOvr>
    <a:masterClrMapping/>
  </p:clrMapOvr>
  <p:transition spd="slow">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GOVERNANCE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Three accountability layers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Board / directors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Set direction, challenge assumptions and remain accountable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Management / owners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Translate obligations into resources, decisions and controls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Business functions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Perform controls, keep evidence and raise issues early</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Independent assurance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Review design and effectiveness without owning the control</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20</a:t>
            </a:r>
          </a:p>
        </p:txBody>
      </p:sp>
    </p:spTree>
  </p:cSld>
  <p:clrMapOvr>
    <a:masterClrMapping/>
  </p:clrMapOvr>
  <p:transition spd="slow">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DIRECTOR MINDSET</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Outsourcing a task does not outsource accountability.</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Directors must understand, challenge and authorise - even when advisers prepare the work.</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21</a:t>
            </a:r>
          </a:p>
        </p:txBody>
      </p:sp>
    </p:spTree>
  </p:cSld>
  <p:clrMapOvr>
    <a:masterClrMapping/>
  </p:clrMapOvr>
  <p:transition spd="slow">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EVIDENCE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 useful compliance evidence chain</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Requirement</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law, filing, licence or regulator expectation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Control</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preventive or detective action that addresses it</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Owner</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named role with authority, capacity and deadline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Evidence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Dated proof that the control operated and exceptions were resolved</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Financial Poise: Corporate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22</a:t>
            </a:r>
          </a:p>
        </p:txBody>
      </p:sp>
    </p:spTree>
  </p:cSld>
  <p:clrMapOvr>
    <a:masterClrMapping/>
  </p:clrMapOvr>
  <p:transition spd="slow">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1 | K1, A1 / LO1</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Singapore's Legal and Regulatory Framework in a Global Context</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Corporate duties, governance, registers, financial reporting and cross-border legal triggers</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01</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23</a:t>
            </a:r>
          </a:p>
        </p:txBody>
      </p:sp>
    </p:spTree>
  </p:cSld>
  <p:clrMapOvr>
    <a:masterClrMapping/>
  </p:clrMapOvr>
  <p:transition spd="slow">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REGULATOR MAP</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Singapore's business-law ecosystem</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ACRA</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Entity records, directors, annual returns and financial reporting</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IRAS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Corporate tax, GST, employer reporting and record keeping</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MOM / CPFB</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Employment standards, CPF and workplace safety</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PDPC + sector regulators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Personal data plus finance, health, food and technology overlays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Legal requirements | IRAS: Corporate income tax | MOM: Employment practices | PDPC: Breach notification</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24</a:t>
            </a:r>
          </a:p>
        </p:txBody>
      </p:sp>
    </p:spTree>
  </p:cSld>
  <p:clrMapOvr>
    <a:masterClrMapping/>
  </p:clrMapOvr>
  <p:transition spd="slow">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LEGAL HIERARCHY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How legal requirements reach the business</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Acts passed by Parliament</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Subsidiary legislation and regulations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Regulator guidance and filing systems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Court decisions and contractual duties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Company policies and controls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Wolters Kluwer: Governance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25</a:t>
            </a:r>
          </a:p>
        </p:txBody>
      </p:sp>
    </p:spTree>
  </p:cSld>
  <p:clrMapOvr>
    <a:masterClrMapping/>
  </p:clrMapOvr>
  <p:transition spd="slow">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DIRECTORS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Five non-delegable director touchpoints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Records</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Keep proper accounting records and preserve them</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Financial statements</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Ensure compliance and a true and fair view</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Meetings</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Hold an AGM unless exempt or validly dispensed with</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Returns</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File annual returns, including for dormant companies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Registers</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Keep officers, shareholders and controllers current</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ACRA: Financial reporting duties</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26</a:t>
            </a:r>
          </a:p>
        </p:txBody>
      </p:sp>
    </p:spTree>
  </p:cSld>
  <p:clrMapOvr>
    <a:masterClrMapping/>
  </p:clrMapOvr>
  <p:transition spd="slow">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GOVERNANCE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Director oversight: weak versus defensible</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Weak oversight</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Signs without reading or questioning</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Treats the company secretary or accountant as the legal owner</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Accepts late or incomplete evidence</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Cannot explain the basis of the decision</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Defensible oversight</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Understands key figures and legal deadlines</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Challenges estimates and unusual transactions</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Uses competent advisers but forms an independent view</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Records questions, advice, decisions and follow-up</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27</a:t>
            </a:r>
          </a:p>
        </p:txBody>
      </p:sp>
    </p:spTree>
  </p:cSld>
  <p:clrMapOvr>
    <a:masterClrMapping/>
  </p:clrMapOvr>
  <p:transition spd="slow">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ACRA RHYTHM</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Annual corporate housekeeping</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Confirm company particulars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Reconcile member and officer changes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Verify controllers and nominees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Review financial reporting status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Approve and file the annual return</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 | ACRA: Directors' duties</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28</a:t>
            </a:r>
          </a:p>
        </p:txBody>
      </p:sp>
    </p:spTree>
  </p:cSld>
  <p:clrMapOvr>
    <a:masterClrMapping/>
  </p:clrMapOvr>
  <p:transition spd="slow">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COMPANY RECORDS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Registers and key deadlines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Electronic registers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Report officer/shareholder changes through Bizfile within 14 days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Private RORC</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 controller information; update within 7 days after confirmation</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Central RORC</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For applicable companies, lodge updates within 2 business days after the private register</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Annual verification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Send controllers a notice at least once a year to verify particulars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29</a:t>
            </a:r>
          </a:p>
        </p:txBody>
      </p:sp>
    </p:spTree>
  </p:cSld>
  <p:clrMapOvr>
    <a:masterClrMapping/>
  </p:clrMapOvr>
  <p:transition spd="slow">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CURRENT DEVELOPMENT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16 June 2025 register change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At incorporation</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Companies incorporated from this date establish RORC/ROND/RONS from registration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Private first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Update the company's own register before the central filing</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Central filing</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Submit relevant changes to ACRA within the prescribed short window</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Control implication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Incorporation and change-management checklists must be redesigned</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30</a:t>
            </a:r>
          </a:p>
        </p:txBody>
      </p:sp>
    </p:spTree>
  </p:cSld>
  <p:clrMapOvr>
    <a:masterClrMapping/>
  </p:clrMapOvr>
  <p:transition spd="slow">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FINANCIAL GOVERNANCE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Financial reporting: what directors must do</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Read</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Understand the statements before authorising issuance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Challenge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Question treatments that conflict with transaction substance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Learn</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 enough current financial knowledge for high-level review</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Resource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Appoint competent people, robust controls and external help when needed</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31</a:t>
            </a:r>
          </a:p>
        </p:txBody>
      </p:sp>
    </p:spTree>
  </p:cSld>
  <p:clrMapOvr>
    <a:masterClrMapping/>
  </p:clrMapOvr>
  <p:transition spd="slow">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FILING DISCIPLINE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Annual return and tax return are different</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ACRA annual return</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Maintains the public corporate record</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Covers officers, shareholders and company particulars</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May include XBRL financial statements where applicable</a:t>
            </a:r>
          </a:p>
        </p:txBody>
      </p:sp>
      <p:sp>
        <p:nvSpPr>
          <p:cNvPr id="18" name="Rounded Rectangle 17"/>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IRAS corporate income tax return</a:t>
            </a:r>
          </a:p>
        </p:txBody>
      </p:sp>
      <p:sp>
        <p:nvSpPr>
          <p:cNvPr id="21" name="Oval 20"/>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3" name="TextBox 22"/>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Declares taxable income and supporting tax positions</a:t>
            </a:r>
          </a:p>
        </p:txBody>
      </p:sp>
      <p:sp>
        <p:nvSpPr>
          <p:cNvPr id="24" name="Oval 23"/>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6" name="TextBox 25"/>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Includes ECI and Form C-S/C-S (Lite)/C obligations</a:t>
            </a:r>
          </a:p>
        </p:txBody>
      </p:sp>
      <p:sp>
        <p:nvSpPr>
          <p:cNvPr id="27" name="Oval 26"/>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29" name="TextBox 28"/>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Uses the Year of Assessment framework</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IRAS: Corporate income tax</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32</a:t>
            </a:r>
          </a:p>
        </p:txBody>
      </p:sp>
    </p:spTree>
  </p:cSld>
  <p:clrMapOvr>
    <a:masterClrMapping/>
  </p:clrMapOvr>
  <p:transition spd="slow">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CROSS-BORDER TRIGGERS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Global developments become local business issues when...</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Customers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business serves or targets persons in another jurisdiction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Data</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Personal or operational data is transferred or accessed overseas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Supply chain</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Contracts import foreign standards, sanctions or reporting duties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Capital and people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Investors, staff, directors or assets cross borders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ES Law: Corporate-law basics | Wolters Kluwer: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33</a:t>
            </a:r>
          </a:p>
        </p:txBody>
      </p:sp>
    </p:spTree>
  </p:cSld>
  <p:clrMapOvr>
    <a:masterClrMapping/>
  </p:clrMapOvr>
  <p:transition spd="slow">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1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Board Duties and Governance Gap Scan</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Identify director, record, reporting and register gaps; distinguish tasks that may be outsourced from accountability that remains with directors.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One-page governance gap scan and two-minute board briefing.</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ACRA: Financial reporting duties | ACRA: Company registers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34</a:t>
            </a:r>
          </a:p>
        </p:txBody>
      </p:sp>
    </p:spTree>
  </p:cSld>
  <p:clrMapOvr>
    <a:masterClrMapping/>
  </p:clrMapOvr>
  <p:transition spd="slow">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Board Duties and Governance Gap Scan</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Red Lantern Pte Ltd has a nominee director who signs documents without reading them, an outsourced accountant who is three months behind, and a share transfer that was never updated in Bizfile. The board assumes the service providers carry the legal responsibility.</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ACRA: Financial reporting duties | ACRA: Company registers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35</a:t>
            </a:r>
          </a:p>
        </p:txBody>
      </p:sp>
    </p:spTree>
  </p:cSld>
  <p:clrMapOvr>
    <a:masterClrMapping/>
  </p:clrMapOvr>
  <p:transition spd="slow">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1: Board Duties and Governance Gap Scan</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facts indicate a legal or governance failure?</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director duties are engaged and what evidence is missing?</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immediate containment actions are required?</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recurring controls would prevent the same gap?</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All material facts mapped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Director accountability stated correctly</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Owners/deadlines named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Evidence requirements explicit</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ACRA: Financial reporting duties | ACRA: Company registers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36</a:t>
            </a:r>
          </a:p>
        </p:txBody>
      </p:sp>
    </p:spTree>
  </p:cSld>
  <p:clrMapOvr>
    <a:masterClrMapping/>
  </p:clrMapOvr>
  <p:transition spd="slow">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2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Global Trigger and Regulatory Perimeter Map</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Show how customers, data flows, contracts, staff and suppliers can make global legal developments relevant to a Singapore business.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Regulatory perimeter map with owners and escalation rules.</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 | Wolters Kluwer: Compliance | Pitt Law: Compliance legislation | ES Law: Corporate-law basics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37</a:t>
            </a:r>
          </a:p>
        </p:txBody>
      </p:sp>
    </p:spTree>
  </p:cSld>
  <p:clrMapOvr>
    <a:masterClrMapping/>
  </p:clrMapOvr>
  <p:transition spd="slow">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Global Trigger and Regulatory Perimeter Map</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NexPort Solutions sells a Singapore-hosted SaaS platform to customers in Singapore, Malaysia and the EU. It uses overseas cloud support, employs remote staff and accepts enterprise contract clauses based on foreign privacy and security standards.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 | Wolters Kluwer: Compliance | Pitt Law: Compliance legislation | ES Law: Corporate-law basics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38</a:t>
            </a:r>
          </a:p>
        </p:txBody>
      </p:sp>
    </p:spTree>
  </p:cSld>
  <p:clrMapOvr>
    <a:masterClrMapping/>
  </p:clrMapOvr>
  <p:transition spd="slow">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2: Global Trigger and Regulatory Perimeter Map</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cross-border touchpoints create a monitoring obligation?</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issues are Singapore baseline duties and which require foreign advice?</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Who should own horizon scanning for each trigger?</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decision would require escalation to the board?</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Five trigger categories covered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Singapore/foreign distinction clear</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No foreign rule treated as Singapore law</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Escalation rule is decision-ready</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 | Wolters Kluwer: Compliance | Pitt Law: Compliance legislation | ES Law: Corporate-law basics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39</a:t>
            </a:r>
          </a:p>
        </p:txBody>
      </p:sp>
    </p:spTree>
  </p:cSld>
  <p:clrMapOvr>
    <a:masterClrMapping/>
  </p:clrMapOvr>
  <p:transition spd="slow">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2551" cy="155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698480" cy="822960"/>
          </a:xfrm>
          <a:prstGeom prst="rect">
            <a:avLst/>
          </a:prstGeom>
          <a:noFill/>
        </p:spPr>
        <p:txBody>
          <a:bodyPr wrap="square" anchor="t" lIns="45720" rIns="45720">
            <a:spAutoFit/>
          </a:bodyPr>
          <a:lstStyle/>
          <a:p>
            <a:pPr algn="ctr">
              <a:spcAft>
                <a:spcPts val="300"/>
              </a:spcAft>
            </a:pPr>
            <a:r>
              <a:rPr sz="4200" b="1">
                <a:solidFill>
                  <a:srgbClr val="172B4D"/>
                </a:solidFill>
                <a:latin typeface="Arial"/>
              </a:rPr>
              <a:t>Morning Break</a:t>
            </a:r>
          </a:p>
        </p:txBody>
      </p:sp>
      <p:sp>
        <p:nvSpPr>
          <p:cNvPr id="6" name="TextBox 5"/>
          <p:cNvSpPr txBox="1"/>
          <p:nvPr/>
        </p:nvSpPr>
        <p:spPr>
          <a:xfrm>
            <a:off x="731520" y="3337560"/>
            <a:ext cx="10698480" cy="502920"/>
          </a:xfrm>
          <a:prstGeom prst="rect">
            <a:avLst/>
          </a:prstGeom>
          <a:noFill/>
        </p:spPr>
        <p:txBody>
          <a:bodyPr wrap="square" anchor="t" lIns="45720" rIns="45720">
            <a:spAutoFit/>
          </a:bodyPr>
          <a:lstStyle/>
          <a:p>
            <a:pPr algn="ctr">
              <a:spcAft>
                <a:spcPts val="300"/>
              </a:spcAft>
            </a:pPr>
            <a:r>
              <a:rPr sz="2000" b="1">
                <a:solidFill>
                  <a:srgbClr val="F59E0B"/>
                </a:solidFill>
                <a:latin typeface="Arial"/>
              </a:rPr>
              <a:t>10 minutes</a:t>
            </a:r>
          </a:p>
        </p:txBody>
      </p:sp>
      <p:sp>
        <p:nvSpPr>
          <p:cNvPr id="7" name="TextBox 6"/>
          <p:cNvSpPr txBox="1"/>
          <p:nvPr/>
        </p:nvSpPr>
        <p:spPr>
          <a:xfrm>
            <a:off x="1371600" y="4251960"/>
            <a:ext cx="9418320" cy="548640"/>
          </a:xfrm>
          <a:prstGeom prst="rect">
            <a:avLst/>
          </a:prstGeom>
          <a:noFill/>
        </p:spPr>
        <p:txBody>
          <a:bodyPr wrap="square" anchor="t" lIns="45720" rIns="45720">
            <a:spAutoFit/>
          </a:bodyPr>
          <a:lstStyle/>
          <a:p>
            <a:pPr algn="ctr">
              <a:spcAft>
                <a:spcPts val="300"/>
              </a:spcAft>
            </a:pPr>
            <a:r>
              <a:rPr sz="1400" b="0">
                <a:solidFill>
                  <a:srgbClr val="5B6372"/>
                </a:solidFill>
                <a:latin typeface="Arial"/>
              </a:rPr>
              <a:t>Return on time so the case-study sequence remains aligned with the assessment.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40</a:t>
            </a:r>
          </a:p>
        </p:txBody>
      </p:sp>
    </p:spTree>
  </p:cSld>
  <p:clrMapOvr>
    <a:masterClrMapping/>
  </p:clrMapOvr>
  <p:transition spd="slow">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2 | K1, A1 / LO1</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Industry-Specific Business Laws and Compliance</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Tax, GST, employment, CPF, workplace safety, data protection and sector overlays</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02</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41</a:t>
            </a:r>
          </a:p>
        </p:txBody>
      </p:sp>
    </p:spTree>
  </p:cSld>
  <p:clrMapOvr>
    <a:masterClrMapping/>
  </p:clrMapOvr>
  <p:transition spd="slow">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APPLICABILITY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Build the compliance universe from business facts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Entity</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Company type, ownership, officers and lifecycle stage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Activity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What is sold, promised, processed, imported or exported</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People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Employees, contractors, migrant workers and workplace risks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Data and sector</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Personal data, regulated products, licences and jurisdictions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Nakat: Compliance checklist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42</a:t>
            </a:r>
          </a:p>
        </p:txBody>
      </p:sp>
    </p:spTree>
  </p:cSld>
  <p:clrMapOvr>
    <a:masterClrMapping/>
  </p:clrMapOvr>
  <p:transition spd="slow">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IRAS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Corporate income tax filing rhythm</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Close the financial year</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File ECI within 3 months unless a waiver applies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Prepare tax computation</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File Form C-S / C-S (Lite) / C by the annual due date</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Pay and retain evidence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Corporate income tax | IRAS: CIT filing guide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43</a:t>
            </a:r>
          </a:p>
        </p:txBody>
      </p:sp>
    </p:spTree>
  </p:cSld>
  <p:clrMapOvr>
    <a:masterClrMapping/>
  </p:clrMapOvr>
  <p:transition spd="slow">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RECORD KEEPING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Tax records must tell the transaction story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Source documents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Invoices, receipts, contracts and supporting evidence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Accounting trail</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Ledgers, schedules and systematic transaction records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Cash evidence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Bank statements and payment records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Retention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Keep relevant records for at least 5 years from the relevant YA</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Record keeping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44</a:t>
            </a:r>
          </a:p>
        </p:txBody>
      </p:sp>
    </p:spTree>
  </p:cSld>
  <p:clrMapOvr>
    <a:masterClrMapping/>
  </p:clrMapOvr>
  <p:transition spd="slow">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GST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GST-registered business responsibilities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Charge and account</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Apply GST correctly to standard-rated supplies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File and pay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Submit returns and tax due on time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Invoice and display</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compliant tax invoices and GST-inclusive price displays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Records and changes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Keep support, notify IRAS and account at deregistration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GST responsibilities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45</a:t>
            </a:r>
          </a:p>
        </p:txBody>
      </p:sp>
    </p:spTree>
  </p:cSld>
  <p:clrMapOvr>
    <a:masterClrMapping/>
  </p:clrMapOvr>
  <p:transition spd="slow">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DIGITAL COMPLIANCE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Manual filing and seamless filing</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Manual hand-offs</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Repeated re-keying between source systems and portals</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Higher transposition and version-control risk</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Evidence spread across email and local files</a:t>
            </a:r>
          </a:p>
        </p:txBody>
      </p:sp>
      <p:sp>
        <p:nvSpPr>
          <p:cNvPr id="18" name="Rounded Rectangle 17"/>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#SFFS-enabled workflow</a:t>
            </a:r>
          </a:p>
        </p:txBody>
      </p:sp>
      <p:sp>
        <p:nvSpPr>
          <p:cNvPr id="21" name="Oval 20"/>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3" name="TextBox 22"/>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Accounting/payroll data flows to tax forms with review</a:t>
            </a:r>
          </a:p>
        </p:txBody>
      </p:sp>
      <p:sp>
        <p:nvSpPr>
          <p:cNvPr id="24" name="Oval 23"/>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6" name="TextBox 25"/>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Corppass authorisation and acknowledgement remain visible</a:t>
            </a:r>
          </a:p>
        </p:txBody>
      </p:sp>
      <p:sp>
        <p:nvSpPr>
          <p:cNvPr id="27" name="Oval 26"/>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29" name="TextBox 28"/>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Digital records can support adjacent ACRA/CPF/MOM duties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Seamless filing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46</a:t>
            </a:r>
          </a:p>
        </p:txBody>
      </p:sp>
    </p:spTree>
  </p:cSld>
  <p:clrMapOvr>
    <a:masterClrMapping/>
  </p:clrMapOvr>
  <p:transition spd="slow">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EMPLOYER DUTY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Who requires CPF contributions?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Singapore citizens / PRs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Employees working in Singapore under a contract of service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Directors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Company directors receiving wages may be covered</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Flexible workers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Part-time and casual employees are included</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Connected persons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Paid family members and concurrently employed staff may also qualify</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CPF contributions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47</a:t>
            </a:r>
          </a:p>
        </p:txBody>
      </p:sp>
    </p:spTree>
  </p:cSld>
  <p:clrMapOvr>
    <a:masterClrMapping/>
  </p:clrMapOvr>
  <p:transition spd="slow">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PAYROLL</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Monthly CPF control</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Validate employee status and wages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Calculate employer and employee shares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Approve payroll</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Pay contributions by the required date</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Reconcile acknowledgement and exceptions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CPF contributions</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48</a:t>
            </a:r>
          </a:p>
        </p:txBody>
      </p:sp>
    </p:spTree>
  </p:cSld>
  <p:clrMapOvr>
    <a:masterClrMapping/>
  </p:clrMapOvr>
  <p:transition spd="slow">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WORKPLACE SAFETY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Employer responsibilities under the WSH Act</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Assess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Identify hazards and implement effective risk controls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Provide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Maintain a safe environment, machinery, equipment and processes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Prepare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Establish systems for emergencies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Enable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Give sufficient instruction, training and supervision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MOM: WSH responsibilities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49</a:t>
            </a:r>
          </a:p>
        </p:txBody>
      </p:sp>
    </p:spTree>
  </p:cSld>
  <p:clrMapOvr>
    <a:masterClrMapping/>
  </p:clrMapOvr>
  <p:transition spd="slow">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PERSONAL DATA</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PDPA obligations as an operating system</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Accountability</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Appoint a DPO and make policies/practices available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Purpose and consent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Notify purposes and manage valid consent/withdrawal</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Protection and retention</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Secure data and stop retaining it when no longer needed</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Transfer and rights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Manage overseas protection, access and correction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50</a:t>
            </a:r>
          </a:p>
        </p:txBody>
      </p:sp>
    </p:spTree>
  </p:cSld>
  <p:clrMapOvr>
    <a:masterClrMapping/>
  </p:clrMapOvr>
  <p:transition spd="slow">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INCIDENT RESPONSE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Notifiable data breach timeline</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Contain and investigate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 significant harm and significant scale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Determine whether notifiable</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Notify PDPC as soon as practicable and within 3 calendar days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Notify affected individuals and document response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51</a:t>
            </a:r>
          </a:p>
        </p:txBody>
      </p:sp>
    </p:spTree>
  </p:cSld>
  <p:clrMapOvr>
    <a:masterClrMapping/>
  </p:clrMapOvr>
  <p:transition spd="slow">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3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Five-Agency Compliance Calendar</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Convert company facts into a calendar of ACRA, IRAS, MOM/CPF, WSH and PDPA responsibilities with evidence owners.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12-month compliance calendar and evidence register.</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IRAS: Corporate income tax | IRAS: GST responsibilities | MOM: CPF contributions | MOM: WSH responsibilities | PDPC: Breach notification</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52</a:t>
            </a:r>
          </a:p>
        </p:txBody>
      </p:sp>
    </p:spTree>
  </p:cSld>
  <p:clrMapOvr>
    <a:masterClrMapping/>
  </p:clrMapOvr>
  <p:transition spd="slow">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3</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Five-Agency Compliance Calendar</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Harbour &amp; Hearth Pte Ltd runs two cafes and an online shop. It is GST-registered, employs Singapore citizens, PRs and work-pass holders, stores customer loyalty data, and is preparing its first full financial year close.</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IRAS: Corporate income tax | IRAS: GST responsibilities | MOM: CPF contributions | MOM: WSH responsibilities | PDPC: Breach notification</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53</a:t>
            </a:r>
          </a:p>
        </p:txBody>
      </p:sp>
    </p:spTree>
  </p:cSld>
  <p:clrMapOvr>
    <a:masterClrMapping/>
  </p:clrMapOvr>
  <p:transition spd="slow">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3: Five-Agency Compliance Calendar</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obligations are event-driven, monthly, annual or incident-driven?</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source evidence proves each duty was met?</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Where do two regulators depend on the same underlying record?</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dates must be verified annually rather than hard-coded forever?</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Five regulator categories present</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Trigger/frequency accurate</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Owner and reviewer separated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Evidence and escalation captured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IRAS: Corporate income tax | IRAS: GST responsibilities | MOM: CPF contributions | MOM: WSH responsibilities | PDPC: Breach notification</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54</a:t>
            </a:r>
          </a:p>
        </p:txBody>
      </p:sp>
    </p:spTree>
  </p:cSld>
  <p:clrMapOvr>
    <a:masterClrMapping/>
  </p:clrMapOvr>
  <p:transition spd="slow">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4 | K1, A1 / LO1</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Data Breach Notification Tabletop</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Practise containment, assessment, decision ownership, notification timing and evidence capture under the PDPA breach-notification framework.</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Incident decision log, notification outline and remediation list.</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55</a:t>
            </a:r>
          </a:p>
        </p:txBody>
      </p:sp>
    </p:spTree>
  </p:cSld>
  <p:clrMapOvr>
    <a:masterClrMapping/>
  </p:clrMapOvr>
  <p:transition spd="slow">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4</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Data Breach Notification Tabletop</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BrightCart's customer-support vendor emailed a spreadsheet containing 1,800 customer records to the wrong external recipient. The file includes names, contact details, order history and loyalty status. The recipient says the message was deleted but cannot provide technical proof.</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56</a:t>
            </a:r>
          </a:p>
        </p:txBody>
      </p:sp>
    </p:spTree>
  </p:cSld>
  <p:clrMapOvr>
    <a:masterClrMapping/>
  </p:clrMapOvr>
  <p:transition spd="slow">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4: Data Breach Notification Tabletop</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must be done in the first hour?</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facts determine significant harm or significant scale?</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When does the three-calendar-day notification clock matter?</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records support the decision whether or not to notify?</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Containment precedes notification drafting</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Clock described accurately</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Known/unknown facts separated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Decision and evidence documented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57</a:t>
            </a:r>
          </a:p>
        </p:txBody>
      </p:sp>
    </p:spTree>
  </p:cSld>
  <p:clrMapOvr>
    <a:masterClrMapping/>
  </p:clrMapOvr>
  <p:transition spd="slow">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2551" cy="155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698480" cy="822960"/>
          </a:xfrm>
          <a:prstGeom prst="rect">
            <a:avLst/>
          </a:prstGeom>
          <a:noFill/>
        </p:spPr>
        <p:txBody>
          <a:bodyPr wrap="square" anchor="t" lIns="45720" rIns="45720">
            <a:spAutoFit/>
          </a:bodyPr>
          <a:lstStyle/>
          <a:p>
            <a:pPr algn="ctr">
              <a:spcAft>
                <a:spcPts val="300"/>
              </a:spcAft>
            </a:pPr>
            <a:r>
              <a:rPr sz="4200" b="1">
                <a:solidFill>
                  <a:srgbClr val="172B4D"/>
                </a:solidFill>
                <a:latin typeface="Arial"/>
              </a:rPr>
              <a:t>Lunch Break</a:t>
            </a:r>
          </a:p>
        </p:txBody>
      </p:sp>
      <p:sp>
        <p:nvSpPr>
          <p:cNvPr id="6" name="TextBox 5"/>
          <p:cNvSpPr txBox="1"/>
          <p:nvPr/>
        </p:nvSpPr>
        <p:spPr>
          <a:xfrm>
            <a:off x="731520" y="3337560"/>
            <a:ext cx="10698480" cy="502920"/>
          </a:xfrm>
          <a:prstGeom prst="rect">
            <a:avLst/>
          </a:prstGeom>
          <a:noFill/>
        </p:spPr>
        <p:txBody>
          <a:bodyPr wrap="square" anchor="t" lIns="45720" rIns="45720">
            <a:spAutoFit/>
          </a:bodyPr>
          <a:lstStyle/>
          <a:p>
            <a:pPr algn="ctr">
              <a:spcAft>
                <a:spcPts val="300"/>
              </a:spcAft>
            </a:pPr>
            <a:r>
              <a:rPr sz="2000" b="1">
                <a:solidFill>
                  <a:srgbClr val="F59E0B"/>
                </a:solidFill>
                <a:latin typeface="Arial"/>
              </a:rPr>
              <a:t>40 minutes</a:t>
            </a:r>
          </a:p>
        </p:txBody>
      </p:sp>
      <p:sp>
        <p:nvSpPr>
          <p:cNvPr id="7" name="TextBox 6"/>
          <p:cNvSpPr txBox="1"/>
          <p:nvPr/>
        </p:nvSpPr>
        <p:spPr>
          <a:xfrm>
            <a:off x="1371600" y="4251960"/>
            <a:ext cx="9418320" cy="548640"/>
          </a:xfrm>
          <a:prstGeom prst="rect">
            <a:avLst/>
          </a:prstGeom>
          <a:noFill/>
        </p:spPr>
        <p:txBody>
          <a:bodyPr wrap="square" anchor="t" lIns="45720" rIns="45720">
            <a:spAutoFit/>
          </a:bodyPr>
          <a:lstStyle/>
          <a:p>
            <a:pPr algn="ctr">
              <a:spcAft>
                <a:spcPts val="300"/>
              </a:spcAft>
            </a:pPr>
            <a:r>
              <a:rPr sz="1400" b="0">
                <a:solidFill>
                  <a:srgbClr val="5B6372"/>
                </a:solidFill>
                <a:latin typeface="Arial"/>
              </a:rPr>
              <a:t>Return on time so the case-study sequence remains aligned with the assessment.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58</a:t>
            </a:r>
          </a:p>
        </p:txBody>
      </p:sp>
    </p:spTree>
  </p:cSld>
  <p:clrMapOvr>
    <a:masterClrMapping/>
  </p:clrMapOvr>
  <p:transition spd="slow">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3 | K2, A2 / LO2</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Business Decision-Making in Response to Regulatory Changes</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From regulatory signal to proportionate, documented and evidence-backed action</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03</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59</a:t>
            </a:r>
          </a:p>
        </p:txBody>
      </p:sp>
    </p:spTree>
  </p:cSld>
  <p:clrMapOvr>
    <a:masterClrMapping/>
  </p:clrMapOvr>
  <p:transition spd="slow">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DECISION FRAMEWORK</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SCAN decision model</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Spot the legal change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Clarify applicability</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 business impact</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Navigate a decision</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Verify implementation</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 | Financial Poise: Corporate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60</a:t>
            </a:r>
          </a:p>
        </p:txBody>
      </p:sp>
    </p:spTree>
  </p:cSld>
  <p:clrMapOvr>
    <a:masterClrMapping/>
  </p:clrMapOvr>
  <p:transition spd="slow">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K2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Start with business facts, not a generic checklist</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Business model</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Revenue streams, promises, channels and critical assets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Operating footprint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Locations, customers, vendors, people and systems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Risk appetite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What can be accepted, reduced, transferred or avoided</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Decision rights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Who recommends, approves, implements and challenges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Governance | ES Law: Corporate-law basics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61</a:t>
            </a:r>
          </a:p>
        </p:txBody>
      </p:sp>
    </p:spTree>
  </p:cSld>
  <p:clrMapOvr>
    <a:masterClrMapping/>
  </p:clrMapOvr>
  <p:transition spd="slow">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IMPACT ASSESSMENT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Six impact lenses</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People</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Roles, capability, workload and accountability</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Process</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Workflow, approvals, exceptions and deadlines</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Technology and data</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Systems, access, interfaces, records and security</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Contracts</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Customer, supplier, employment and data clauses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Finance</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Cost, revenue, tax, provisions and insurance</a:t>
            </a:r>
          </a:p>
        </p:txBody>
      </p:sp>
      <p:sp>
        <p:nvSpPr>
          <p:cNvPr id="36" name="Rounded Rectangle 35"/>
          <p:cNvSpPr/>
          <p:nvPr/>
        </p:nvSpPr>
        <p:spPr>
          <a:xfrm>
            <a:off x="8058912"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58912" y="3904488"/>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60080" y="41148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0080"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6</a:t>
            </a:r>
          </a:p>
        </p:txBody>
      </p:sp>
      <p:sp>
        <p:nvSpPr>
          <p:cNvPr id="40" name="TextBox 39"/>
          <p:cNvSpPr txBox="1"/>
          <p:nvPr/>
        </p:nvSpPr>
        <p:spPr>
          <a:xfrm>
            <a:off x="8845296" y="4069080"/>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Reputation</a:t>
            </a:r>
          </a:p>
        </p:txBody>
      </p:sp>
      <p:sp>
        <p:nvSpPr>
          <p:cNvPr id="41" name="TextBox 40"/>
          <p:cNvSpPr txBox="1"/>
          <p:nvPr/>
        </p:nvSpPr>
        <p:spPr>
          <a:xfrm>
            <a:off x="8845296"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Trust, regulator confidence and market access</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62</a:t>
            </a:r>
          </a:p>
        </p:txBody>
      </p:sp>
    </p:spTree>
  </p:cSld>
  <p:clrMapOvr>
    <a:masterClrMapping/>
  </p:clrMapOvr>
  <p:transition spd="slow">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RISK</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Score compliance risk consistently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Likelihood</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How probable is failure given exposure and control maturity?</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Impact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Legal, financial, operational, safety and trust consequences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Velocity</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How quickly could harm occur or a deadline expire?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Detectability</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Would the organisation discover failure before the regulator/customer?</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Bizbot: Company compliance | LeapXpert: Compliance guide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63</a:t>
            </a:r>
          </a:p>
        </p:txBody>
      </p:sp>
    </p:spTree>
  </p:cSld>
  <p:clrMapOvr>
    <a:masterClrMapping/>
  </p:clrMapOvr>
  <p:transition spd="slow">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CONTROLS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Control design hierarchy</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Avoid or redesign the risky activity</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Prevent failure through workflow and authority</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Detect exceptions quickly</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Correct and recover</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Evidence operation and review effectiveness</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Wolters Kluwer: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64</a:t>
            </a:r>
          </a:p>
        </p:txBody>
      </p:sp>
    </p:spTree>
  </p:cSld>
  <p:clrMapOvr>
    <a:masterClrMapping/>
  </p:clrMapOvr>
  <p:transition spd="slow">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TRADE-OFFS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Compliance options are business options</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Poor framing</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Comply or do nothing</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Legal says no</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Controls added after launch</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Success measured by absence of incidents</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Decision-grade framing</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Compare compliant design alternatives</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Quantify cost, delay, residual risk and opportunity</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Embed controls in the operating model</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Define leading indicators and escalation triggers</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65</a:t>
            </a:r>
          </a:p>
        </p:txBody>
      </p:sp>
    </p:spTree>
  </p:cSld>
  <p:clrMapOvr>
    <a:masterClrMapping/>
  </p:clrMapOvr>
  <p:transition spd="slow">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GOVERNANCE RECORD</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 board-ready decision memo</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Decision</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What approval or direction is needed, by when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Requirement</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duty, applicability analysis and effective date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Options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Feasible choices with cost, risk and operational effects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Recommendation</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Selected path, residual risk, owner and milestones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66</a:t>
            </a:r>
          </a:p>
        </p:txBody>
      </p:sp>
    </p:spTree>
  </p:cSld>
  <p:clrMapOvr>
    <a:masterClrMapping/>
  </p:clrMapOvr>
  <p:transition spd="slow">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AUDIT TRAIL</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Evidence that a decision was reasonable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Inputs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Current law, regulator guidance, data and expert advice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Challenge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Questions asked, assumptions tested and conflicts disclosed</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Approval</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Minutes, authority, rationale and conditions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Follow-through</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Owner, deadline, resources, verification and exception closure</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Financial reporting duties | ES Law: Corporate-law basics</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67</a:t>
            </a:r>
          </a:p>
        </p:txBody>
      </p:sp>
    </p:spTree>
  </p:cSld>
  <p:clrMapOvr>
    <a:masterClrMapping/>
  </p:clrMapOvr>
  <p:transition spd="slow">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PROGRAMME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Regulatory change implementation</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Read and scope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Design controls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Approve resources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Update systems and contracts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Train, launch and test</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68</a:t>
            </a:r>
          </a:p>
        </p:txBody>
      </p:sp>
    </p:spTree>
  </p:cSld>
  <p:clrMapOvr>
    <a:masterClrMapping/>
  </p:clrMapOvr>
  <p:transition spd="slow">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JUDGEMENT</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The lowest-cost control is not always the most proportionate control.</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Choose the option that meets the duty and preserves business objectives at an acceptable residual risk.</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69</a:t>
            </a:r>
          </a:p>
        </p:txBody>
      </p:sp>
    </p:spTree>
  </p:cSld>
  <p:clrMapOvr>
    <a:masterClrMapping/>
  </p:clrMapOvr>
  <p:transition spd="slow">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5 | K2, A2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Regulatory Change Impact Assessment</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Use the SCAN model to assess the effect of an ACRA register change on processes, systems, roles, evidence and third-party instructions.</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Completed impact assessment and recommendation.</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70</a:t>
            </a:r>
          </a:p>
        </p:txBody>
      </p:sp>
    </p:spTree>
  </p:cSld>
  <p:clrMapOvr>
    <a:masterClrMapping/>
  </p:clrMapOvr>
  <p:transition spd="slow">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5</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Regulatory Change Impact Assessment</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A company incorporated after 16 June 2025 uses a standard incorporation checklist written in 2024. The checklist creates its controller and nominee registers 30 days later and has no annual verification or central-register update step.</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71</a:t>
            </a:r>
          </a:p>
        </p:txBody>
      </p:sp>
    </p:spTree>
  </p:cSld>
  <p:clrMapOvr>
    <a:masterClrMapping/>
  </p:clrMapOvr>
  <p:transition spd="slow">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5: Regulatory Change Impact Assessment</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changed and which companies are affected?</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Where does the old process fail?</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options can management choose?</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evidence proves the new process operates?</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Applicability stated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All impact lenses considered</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Options are compliant</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Residual risk and verification included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Company registers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72</a:t>
            </a:r>
          </a:p>
        </p:txBody>
      </p:sp>
    </p:spTree>
  </p:cSld>
  <p:clrMapOvr>
    <a:masterClrMapping/>
  </p:clrMapOvr>
  <p:transition spd="slow">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6 | K2, A2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Board Decision Memo: Digital Filing Controls</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Frame a proportionate board decision that balances legal compliance, control quality, cost, implementation risk and operational benefit.</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One-page board decision memo.</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Seamless filing | IRAS: Record keeping | ACRA: Financial reporting duties</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73</a:t>
            </a:r>
          </a:p>
        </p:txBody>
      </p:sp>
    </p:spTree>
  </p:cSld>
  <p:clrMapOvr>
    <a:masterClrMapping/>
  </p:clrMapOvr>
  <p:transition spd="slow">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6</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Board Decision Memo: Digital Filing Controls</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The finance director proposes #SFFS-enabled accounting and payroll software. Operations prefers spreadsheets because the software subscription costs more, while the board is concerned about authorisation, data quality and reliance on one vendor.</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Seamless filing | IRAS: Record keeping | ACRA: Financial reporting duties</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74</a:t>
            </a:r>
          </a:p>
        </p:txBody>
      </p:sp>
    </p:spTree>
  </p:cSld>
  <p:clrMapOvr>
    <a:masterClrMapping/>
  </p:clrMapOvr>
  <p:transition spd="slow">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6: Board Decision Memo: Digital Filing Controls</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decision is required and by when?</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are the viable compliant options?</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risks remain after the recommended option?</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conditions should the board attach to approval?</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Decision explicit</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Options compared fairly</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Business facts drive recommendation</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Conditions and verification are specific</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IRAS: Seamless filing | IRAS: Record keeping | ACRA: Financial reporting duties</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75</a:t>
            </a:r>
          </a:p>
        </p:txBody>
      </p:sp>
    </p:spTree>
  </p:cSld>
  <p:clrMapOvr>
    <a:masterClrMapping/>
  </p:clrMapOvr>
  <p:transition spd="slow">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2551"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82551" cy="155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698480" cy="822960"/>
          </a:xfrm>
          <a:prstGeom prst="rect">
            <a:avLst/>
          </a:prstGeom>
          <a:noFill/>
        </p:spPr>
        <p:txBody>
          <a:bodyPr wrap="square" anchor="t" lIns="45720" rIns="45720">
            <a:spAutoFit/>
          </a:bodyPr>
          <a:lstStyle/>
          <a:p>
            <a:pPr algn="ctr">
              <a:spcAft>
                <a:spcPts val="300"/>
              </a:spcAft>
            </a:pPr>
            <a:r>
              <a:rPr sz="4200" b="1">
                <a:solidFill>
                  <a:srgbClr val="172B4D"/>
                </a:solidFill>
                <a:latin typeface="Arial"/>
              </a:rPr>
              <a:t>Afternoon Break</a:t>
            </a:r>
          </a:p>
        </p:txBody>
      </p:sp>
      <p:sp>
        <p:nvSpPr>
          <p:cNvPr id="6" name="TextBox 5"/>
          <p:cNvSpPr txBox="1"/>
          <p:nvPr/>
        </p:nvSpPr>
        <p:spPr>
          <a:xfrm>
            <a:off x="731520" y="3337560"/>
            <a:ext cx="10698480" cy="502920"/>
          </a:xfrm>
          <a:prstGeom prst="rect">
            <a:avLst/>
          </a:prstGeom>
          <a:noFill/>
        </p:spPr>
        <p:txBody>
          <a:bodyPr wrap="square" anchor="t" lIns="45720" rIns="45720">
            <a:spAutoFit/>
          </a:bodyPr>
          <a:lstStyle/>
          <a:p>
            <a:pPr algn="ctr">
              <a:spcAft>
                <a:spcPts val="300"/>
              </a:spcAft>
            </a:pPr>
            <a:r>
              <a:rPr sz="2000" b="1">
                <a:solidFill>
                  <a:srgbClr val="F59E0B"/>
                </a:solidFill>
                <a:latin typeface="Arial"/>
              </a:rPr>
              <a:t>10 minutes</a:t>
            </a:r>
          </a:p>
        </p:txBody>
      </p:sp>
      <p:sp>
        <p:nvSpPr>
          <p:cNvPr id="7" name="TextBox 6"/>
          <p:cNvSpPr txBox="1"/>
          <p:nvPr/>
        </p:nvSpPr>
        <p:spPr>
          <a:xfrm>
            <a:off x="1371600" y="4251960"/>
            <a:ext cx="9418320" cy="548640"/>
          </a:xfrm>
          <a:prstGeom prst="rect">
            <a:avLst/>
          </a:prstGeom>
          <a:noFill/>
        </p:spPr>
        <p:txBody>
          <a:bodyPr wrap="square" anchor="t" lIns="45720" rIns="45720">
            <a:spAutoFit/>
          </a:bodyPr>
          <a:lstStyle/>
          <a:p>
            <a:pPr algn="ctr">
              <a:spcAft>
                <a:spcPts val="300"/>
              </a:spcAft>
            </a:pPr>
            <a:r>
              <a:rPr sz="1400" b="0">
                <a:solidFill>
                  <a:srgbClr val="5B6372"/>
                </a:solidFill>
                <a:latin typeface="Arial"/>
              </a:rPr>
              <a:t>Return on time so the case-study sequence remains aligned with the assessment.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76</a:t>
            </a:r>
          </a:p>
        </p:txBody>
      </p:sp>
    </p:spTree>
  </p:cSld>
  <p:clrMapOvr>
    <a:masterClrMapping/>
  </p:clrMapOvr>
  <p:transition spd="slow">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TOPIC 4 | K2, A3 / LO2</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Influencing Business Units to Adapt to New Regulations</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Stakeholder alignment, role clarity, communication, training and compliance culture</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04</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77</a:t>
            </a:r>
          </a:p>
        </p:txBody>
      </p:sp>
    </p:spTree>
  </p:cSld>
  <p:clrMapOvr>
    <a:masterClrMapping/>
  </p:clrMapOvr>
  <p:transition spd="slow">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CHANGE LEADERSHIP</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Map stakeholders by impact and influence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High impact / high influence</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Co-design the response and resolve trade-offs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High impact / low influence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Listen, equip and provide escalation routes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Low impact / high influence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Keep informed with decision-grade evidence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Low impact / low influence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concise updates and monitor for change</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78</a:t>
            </a:r>
          </a:p>
        </p:txBody>
      </p:sp>
    </p:spTree>
  </p:cSld>
  <p:clrMapOvr>
    <a:masterClrMapping/>
  </p:clrMapOvr>
  <p:transition spd="slow">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COMMUNICATION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Translate legal text into four business questions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What changed?</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plain-language summary without unnecessary legal jargon</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Why us?</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business facts that make the requirement applicable</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What must change?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Specific behaviours, systems, approvals and evidence</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What happens next?</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Owner, date, support, exception path and verification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79</a:t>
            </a:r>
          </a:p>
        </p:txBody>
      </p:sp>
    </p:spTree>
  </p:cSld>
  <p:clrMapOvr>
    <a:masterClrMapping/>
  </p:clrMapOvr>
  <p:transition spd="slow">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INFLUENCE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Compliance as friction or enablement</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Constraint narrative</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A new legal burden</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More forms and approvals</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Compliance owns the problem</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Launch is delayed until legal is satisfied</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Value narrative</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Protects licences, market access and customer trust</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Reduces rework through built-in controls</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Business owns risk with expert support</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Compliant design accelerates repeatable growth</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Compliance | ES Law: Corporate-law basics</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80</a:t>
            </a:r>
          </a:p>
        </p:txBody>
      </p:sp>
    </p:spTree>
  </p:cSld>
  <p:clrMapOvr>
    <a:masterClrMapping/>
  </p:clrMapOvr>
  <p:transition spd="slow">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ROLE CLARITY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RACI prevents accountability gaps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Responsible</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Performs the control or implementation task</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Accountable</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Owns the outcome and approves exceptions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Consulted</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Provides specialist or affected-function input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Informed</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Receives status, decisions and escalation outcomes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Wolters Kluwer: Governance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81</a:t>
            </a:r>
          </a:p>
        </p:txBody>
      </p:sp>
    </p:spTree>
  </p:cSld>
  <p:clrMapOvr>
    <a:masterClrMapping/>
  </p:clrMapOvr>
  <p:transition spd="slow">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CAPABILITY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Role-based compliance learning</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Identify decisions and behaviours</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Segment roles by exposure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Use realistic scenarios</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Practise and assess</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Refresh after change or control failure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82</a:t>
            </a:r>
          </a:p>
        </p:txBody>
      </p:sp>
    </p:spTree>
  </p:cSld>
  <p:clrMapOvr>
    <a:masterClrMapping/>
  </p:clrMapOvr>
  <p:transition spd="slow">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SPEAK-UP CULTURE</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Make it safe to surface problems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Channels</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Accessible reporting and advice routes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Protection</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No retaliation for good-faith concerns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Response</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Triage, investigate and communicate outcomes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Learning</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root causes to improve controls and training</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Bizbot: Company compliance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83</a:t>
            </a:r>
          </a:p>
        </p:txBody>
      </p:sp>
    </p:spTree>
  </p:cSld>
  <p:clrMapOvr>
    <a:masterClrMapping/>
  </p:clrMapOvr>
  <p:transition spd="slow">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OVERSIGHT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Board reporting that drives action</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Exposure</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New obligations, major changes and high-risk business activity</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Control health</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Design gaps, operating failures and overdue actions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Incidents</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Root cause, harm, notification and remediation</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Decisions</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Residual risks or resources requiring board direction</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ACRA: Directors' duties | Wolters Kluwer: Governance</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84</a:t>
            </a:r>
          </a:p>
        </p:txBody>
      </p:sp>
    </p:spTree>
  </p:cSld>
  <p:clrMapOvr>
    <a:masterClrMapping/>
  </p:clrMapOvr>
  <p:transition spd="slow">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MEASUREMENT</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Leading and lagging indicators</a:t>
            </a:r>
          </a:p>
        </p:txBody>
      </p:sp>
      <p:sp>
        <p:nvSpPr>
          <p:cNvPr id="6" name="Rounded Rectangle 5"/>
          <p:cNvSpPr/>
          <p:nvPr/>
        </p:nvSpPr>
        <p:spPr>
          <a:xfrm>
            <a:off x="658368"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518464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993392"/>
            <a:ext cx="4617720" cy="475488"/>
          </a:xfrm>
          <a:prstGeom prst="rect">
            <a:avLst/>
          </a:prstGeom>
          <a:noFill/>
        </p:spPr>
        <p:txBody>
          <a:bodyPr wrap="square" anchor="t" lIns="45720" rIns="45720">
            <a:spAutoFit/>
          </a:bodyPr>
          <a:lstStyle/>
          <a:p>
            <a:pPr algn="l">
              <a:spcAft>
                <a:spcPts val="300"/>
              </a:spcAft>
            </a:pPr>
            <a:r>
              <a:rPr sz="1900" b="1">
                <a:solidFill>
                  <a:srgbClr val="1F6FEB"/>
                </a:solidFill>
                <a:latin typeface="Arial"/>
              </a:rPr>
              <a:t>Leading indicators</a:t>
            </a:r>
          </a:p>
        </p:txBody>
      </p:sp>
      <p:sp>
        <p:nvSpPr>
          <p:cNvPr id="9" name="Oval 8"/>
          <p:cNvSpPr/>
          <p:nvPr/>
        </p:nvSpPr>
        <p:spPr>
          <a:xfrm>
            <a:off x="932688" y="26334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1" name="TextBox 10"/>
          <p:cNvSpPr txBox="1"/>
          <p:nvPr/>
        </p:nvSpPr>
        <p:spPr>
          <a:xfrm>
            <a:off x="1408176"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Obligations without owners</a:t>
            </a:r>
          </a:p>
        </p:txBody>
      </p:sp>
      <p:sp>
        <p:nvSpPr>
          <p:cNvPr id="12" name="Oval 11"/>
          <p:cNvSpPr/>
          <p:nvPr/>
        </p:nvSpPr>
        <p:spPr>
          <a:xfrm>
            <a:off x="932688" y="343814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4" name="TextBox 13"/>
          <p:cNvSpPr txBox="1"/>
          <p:nvPr/>
        </p:nvSpPr>
        <p:spPr>
          <a:xfrm>
            <a:off x="1408176"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Upcoming deadlines and overdue training</a:t>
            </a:r>
          </a:p>
        </p:txBody>
      </p:sp>
      <p:sp>
        <p:nvSpPr>
          <p:cNvPr id="15" name="Oval 14"/>
          <p:cNvSpPr/>
          <p:nvPr/>
        </p:nvSpPr>
        <p:spPr>
          <a:xfrm>
            <a:off x="932688" y="424281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7" name="TextBox 16"/>
          <p:cNvSpPr txBox="1"/>
          <p:nvPr/>
        </p:nvSpPr>
        <p:spPr>
          <a:xfrm>
            <a:off x="1408176"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Control-test failures and unresolved exceptions</a:t>
            </a:r>
          </a:p>
        </p:txBody>
      </p:sp>
      <p:sp>
        <p:nvSpPr>
          <p:cNvPr id="18" name="Oval 17"/>
          <p:cNvSpPr/>
          <p:nvPr/>
        </p:nvSpPr>
        <p:spPr>
          <a:xfrm>
            <a:off x="932688" y="504748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20" name="TextBox 19"/>
          <p:cNvSpPr txBox="1"/>
          <p:nvPr/>
        </p:nvSpPr>
        <p:spPr>
          <a:xfrm>
            <a:off x="1408176"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Third parties without current due diligence</a:t>
            </a:r>
          </a:p>
        </p:txBody>
      </p:sp>
      <p:sp>
        <p:nvSpPr>
          <p:cNvPr id="21" name="Rounded Rectangle 20"/>
          <p:cNvSpPr/>
          <p:nvPr/>
        </p:nvSpPr>
        <p:spPr>
          <a:xfrm>
            <a:off x="6153912" y="1700784"/>
            <a:ext cx="5184648" cy="4187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1700784"/>
            <a:ext cx="518464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1993392"/>
            <a:ext cx="4617720" cy="475488"/>
          </a:xfrm>
          <a:prstGeom prst="rect">
            <a:avLst/>
          </a:prstGeom>
          <a:noFill/>
        </p:spPr>
        <p:txBody>
          <a:bodyPr wrap="square" anchor="t" lIns="45720" rIns="45720">
            <a:spAutoFit/>
          </a:bodyPr>
          <a:lstStyle/>
          <a:p>
            <a:pPr algn="l">
              <a:spcAft>
                <a:spcPts val="300"/>
              </a:spcAft>
            </a:pPr>
            <a:r>
              <a:rPr sz="1900" b="1">
                <a:solidFill>
                  <a:srgbClr val="10B981"/>
                </a:solidFill>
                <a:latin typeface="Arial"/>
              </a:rPr>
              <a:t>Lagging indicators</a:t>
            </a:r>
          </a:p>
        </p:txBody>
      </p:sp>
      <p:sp>
        <p:nvSpPr>
          <p:cNvPr id="24" name="Oval 23"/>
          <p:cNvSpPr/>
          <p:nvPr/>
        </p:nvSpPr>
        <p:spPr>
          <a:xfrm>
            <a:off x="6428232" y="263347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63347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26" name="TextBox 25"/>
          <p:cNvSpPr txBox="1"/>
          <p:nvPr/>
        </p:nvSpPr>
        <p:spPr>
          <a:xfrm>
            <a:off x="6903720" y="2606040"/>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Late filings and penalties</a:t>
            </a:r>
          </a:p>
        </p:txBody>
      </p:sp>
      <p:sp>
        <p:nvSpPr>
          <p:cNvPr id="27" name="Oval 26"/>
          <p:cNvSpPr/>
          <p:nvPr/>
        </p:nvSpPr>
        <p:spPr>
          <a:xfrm>
            <a:off x="6428232" y="343814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43814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29" name="TextBox 28"/>
          <p:cNvSpPr txBox="1"/>
          <p:nvPr/>
        </p:nvSpPr>
        <p:spPr>
          <a:xfrm>
            <a:off x="6903720" y="3410712"/>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Notifiable incidents and complaints</a:t>
            </a:r>
          </a:p>
        </p:txBody>
      </p:sp>
      <p:sp>
        <p:nvSpPr>
          <p:cNvPr id="30" name="Oval 29"/>
          <p:cNvSpPr/>
          <p:nvPr/>
        </p:nvSpPr>
        <p:spPr>
          <a:xfrm>
            <a:off x="6428232" y="424281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242816"/>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32" name="TextBox 31"/>
          <p:cNvSpPr txBox="1"/>
          <p:nvPr/>
        </p:nvSpPr>
        <p:spPr>
          <a:xfrm>
            <a:off x="6903720" y="4215383"/>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Regulator findings or licence conditions</a:t>
            </a:r>
          </a:p>
        </p:txBody>
      </p:sp>
      <p:sp>
        <p:nvSpPr>
          <p:cNvPr id="33" name="Oval 32"/>
          <p:cNvSpPr/>
          <p:nvPr/>
        </p:nvSpPr>
        <p:spPr>
          <a:xfrm>
            <a:off x="6428232" y="50474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504748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35" name="TextBox 34"/>
          <p:cNvSpPr txBox="1"/>
          <p:nvPr/>
        </p:nvSpPr>
        <p:spPr>
          <a:xfrm>
            <a:off x="6903720" y="5020055"/>
            <a:ext cx="4114800" cy="658368"/>
          </a:xfrm>
          <a:prstGeom prst="rect">
            <a:avLst/>
          </a:prstGeom>
          <a:noFill/>
        </p:spPr>
        <p:txBody>
          <a:bodyPr wrap="square" anchor="t" lIns="45720" rIns="45720">
            <a:spAutoFit/>
          </a:bodyPr>
          <a:lstStyle/>
          <a:p>
            <a:pPr algn="l">
              <a:spcAft>
                <a:spcPts val="300"/>
              </a:spcAft>
            </a:pPr>
            <a:r>
              <a:rPr sz="1400" b="0">
                <a:solidFill>
                  <a:srgbClr val="161B26"/>
                </a:solidFill>
                <a:latin typeface="Arial"/>
              </a:rPr>
              <a:t>Loss, rework, customer churn and reputational damage</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Bizbot: Company compliance</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85</a:t>
            </a:r>
          </a:p>
        </p:txBody>
      </p:sp>
    </p:spTree>
  </p:cSld>
  <p:clrMapOvr>
    <a:masterClrMapping/>
  </p:clrMapOvr>
  <p:transition spd="slow">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IMPLEMENTATION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 30-60-90 day adaptation plan</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0-30: scope and stabilise</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31-60: redesign and pilot</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61-90: deploy and train</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Test control operation</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Report residual risk and improve</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LeapXpert: Compliance guide | Financial Poise: Corporate compliance</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86</a:t>
            </a:r>
          </a:p>
        </p:txBody>
      </p:sp>
    </p:spTree>
  </p:cSld>
  <p:clrMapOvr>
    <a:masterClrMapping/>
  </p:clrMapOvr>
  <p:transition spd="slow">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A3</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People support change when the requirement is clear, the design is workable, and leaders model it.</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Influence combines evidence, empathy, role clarity and visible follow-through.</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Bizbot: Company compliance</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87</a:t>
            </a:r>
          </a:p>
        </p:txBody>
      </p:sp>
    </p:spTree>
  </p:cSld>
  <p:clrMapOvr>
    <a:masterClrMapping/>
  </p:clrMapOvr>
  <p:transition spd="slow">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7 | K2, A3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Influence Plan for Privacy-by-Design</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25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Build a stakeholder-specific influence plan that positions compliance as a workable design constraint and business enabler.</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Stakeholder map, influence messages and RACI.</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 | LeapXpert: Compliance guide | Pitt Law: Compliance legislation</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88</a:t>
            </a:r>
          </a:p>
        </p:txBody>
      </p:sp>
    </p:spTree>
  </p:cSld>
  <p:clrMapOvr>
    <a:masterClrMapping/>
  </p:clrMapOvr>
  <p:transition spd="slow">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7</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Influence Plan for Privacy-by-Design</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NexPort's Sales and Product teams resist new customer-data controls. Sales fears slower onboarding; Product fears delayed releases; Security wants strict approval gates; the DPO needs comparable overseas protection for support access.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 | LeapXpert: Compliance guide | Pitt Law: Compliance legislation</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89</a:t>
            </a:r>
          </a:p>
        </p:txBody>
      </p:sp>
    </p:spTree>
  </p:cSld>
  <p:clrMapOvr>
    <a:masterClrMapping/>
  </p:clrMapOvr>
  <p:transition spd="slow">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7: Privacy-by-Design</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does each stakeholder value and fear?</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behaviours must change in each function?</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evidence will show the design works?</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disagreement requires executive resolution?</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Messages are role-specific</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Compliance/business trade-off addressed</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RACI has one accountable owner</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Pilot and escalation defined</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PDPC: Breach notification | LeapXpert: Compliance guide | Pitt Law: Compliance legislation</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90</a:t>
            </a:r>
          </a:p>
        </p:txBody>
      </p:sp>
    </p:spTree>
  </p:cSld>
  <p:clrMapOvr>
    <a:masterClrMapping/>
  </p:clrMapOvr>
  <p:transition spd="slow">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ACTIVITY 8 | K2, A3 / LO2</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90-Day Compliance Operating Model</a:t>
            </a:r>
          </a:p>
        </p:txBody>
      </p:sp>
      <p:sp>
        <p:nvSpPr>
          <p:cNvPr id="6" name="Rounded Rectangle 5"/>
          <p:cNvSpPr/>
          <p:nvPr/>
        </p:nvSpPr>
        <p:spPr>
          <a:xfrm>
            <a:off x="658368" y="1709928"/>
            <a:ext cx="1828800" cy="438912"/>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37360"/>
            <a:ext cx="1828800" cy="365760"/>
          </a:xfrm>
          <a:prstGeom prst="rect">
            <a:avLst/>
          </a:prstGeom>
          <a:noFill/>
        </p:spPr>
        <p:txBody>
          <a:bodyPr wrap="square" anchor="t" lIns="45720" rIns="45720">
            <a:spAutoFit/>
          </a:bodyPr>
          <a:lstStyle/>
          <a:p>
            <a:pPr algn="ctr">
              <a:spcAft>
                <a:spcPts val="300"/>
              </a:spcAft>
            </a:pPr>
            <a:r>
              <a:rPr sz="1300" b="1">
                <a:solidFill>
                  <a:srgbClr val="FFFFFF"/>
                </a:solidFill>
                <a:latin typeface="Arial"/>
              </a:rPr>
              <a:t>20 MINUTES</a:t>
            </a:r>
          </a:p>
        </p:txBody>
      </p:sp>
      <p:sp>
        <p:nvSpPr>
          <p:cNvPr id="8" name="TextBox 7"/>
          <p:cNvSpPr txBox="1"/>
          <p:nvPr/>
        </p:nvSpPr>
        <p:spPr>
          <a:xfrm>
            <a:off x="658368" y="2423160"/>
            <a:ext cx="10744200" cy="1005840"/>
          </a:xfrm>
          <a:prstGeom prst="rect">
            <a:avLst/>
          </a:prstGeom>
          <a:noFill/>
        </p:spPr>
        <p:txBody>
          <a:bodyPr wrap="square" anchor="t" lIns="45720" rIns="45720">
            <a:spAutoFit/>
          </a:bodyPr>
          <a:lstStyle/>
          <a:p>
            <a:pPr algn="l">
              <a:spcAft>
                <a:spcPts val="300"/>
              </a:spcAft>
            </a:pPr>
            <a:r>
              <a:rPr sz="2200" b="1">
                <a:solidFill>
                  <a:srgbClr val="172B4D"/>
                </a:solidFill>
                <a:latin typeface="Arial"/>
              </a:rPr>
              <a:t>Design a practical 30-60-90 day operating model covering ownership, calendar, controls, training, reporting, speak-up channels and assurance.</a:t>
            </a:r>
          </a:p>
        </p:txBody>
      </p:sp>
      <p:sp>
        <p:nvSpPr>
          <p:cNvPr id="9" name="Rounded Rectangle 8"/>
          <p:cNvSpPr/>
          <p:nvPr/>
        </p:nvSpPr>
        <p:spPr>
          <a:xfrm>
            <a:off x="65836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3767328"/>
            <a:ext cx="33467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023360"/>
            <a:ext cx="2907792" cy="365760"/>
          </a:xfrm>
          <a:prstGeom prst="rect">
            <a:avLst/>
          </a:prstGeom>
          <a:noFill/>
        </p:spPr>
        <p:txBody>
          <a:bodyPr wrap="square" anchor="t" lIns="45720" rIns="45720">
            <a:spAutoFit/>
          </a:bodyPr>
          <a:lstStyle/>
          <a:p>
            <a:pPr algn="l">
              <a:spcAft>
                <a:spcPts val="300"/>
              </a:spcAft>
            </a:pPr>
            <a:r>
              <a:rPr sz="1600" b="1">
                <a:solidFill>
                  <a:srgbClr val="1F6FEB"/>
                </a:solidFill>
                <a:latin typeface="Arial"/>
              </a:rPr>
              <a:t>Scenario</a:t>
            </a:r>
          </a:p>
        </p:txBody>
      </p:sp>
      <p:sp>
        <p:nvSpPr>
          <p:cNvPr id="12" name="TextBox 11"/>
          <p:cNvSpPr txBox="1"/>
          <p:nvPr/>
        </p:nvSpPr>
        <p:spPr>
          <a:xfrm>
            <a:off x="85953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Apply the course concepts to a realistic Singapore business situation.</a:t>
            </a:r>
          </a:p>
        </p:txBody>
      </p:sp>
      <p:sp>
        <p:nvSpPr>
          <p:cNvPr id="13" name="Rounded Rectangle 12"/>
          <p:cNvSpPr/>
          <p:nvPr/>
        </p:nvSpPr>
        <p:spPr>
          <a:xfrm>
            <a:off x="436168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3767328"/>
            <a:ext cx="33467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4023360"/>
            <a:ext cx="2907792" cy="365760"/>
          </a:xfrm>
          <a:prstGeom prst="rect">
            <a:avLst/>
          </a:prstGeom>
          <a:noFill/>
        </p:spPr>
        <p:txBody>
          <a:bodyPr wrap="square" anchor="t" lIns="45720" rIns="45720">
            <a:spAutoFit/>
          </a:bodyPr>
          <a:lstStyle/>
          <a:p>
            <a:pPr algn="l">
              <a:spcAft>
                <a:spcPts val="300"/>
              </a:spcAft>
            </a:pPr>
            <a:r>
              <a:rPr sz="1600" b="1">
                <a:solidFill>
                  <a:srgbClr val="10B981"/>
                </a:solidFill>
                <a:latin typeface="Arial"/>
              </a:rPr>
              <a:t>Deliverable</a:t>
            </a:r>
          </a:p>
        </p:txBody>
      </p:sp>
      <p:sp>
        <p:nvSpPr>
          <p:cNvPr id="16" name="TextBox 15"/>
          <p:cNvSpPr txBox="1"/>
          <p:nvPr/>
        </p:nvSpPr>
        <p:spPr>
          <a:xfrm>
            <a:off x="456285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30-60-90 day roadmap and monthly compliance dashboard outline.</a:t>
            </a:r>
          </a:p>
        </p:txBody>
      </p:sp>
      <p:sp>
        <p:nvSpPr>
          <p:cNvPr id="17" name="Rounded Rectangle 16"/>
          <p:cNvSpPr/>
          <p:nvPr/>
        </p:nvSpPr>
        <p:spPr>
          <a:xfrm>
            <a:off x="8065008" y="3767328"/>
            <a:ext cx="3346704" cy="1901952"/>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3767328"/>
            <a:ext cx="334670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6" y="4023360"/>
            <a:ext cx="2907792" cy="365760"/>
          </a:xfrm>
          <a:prstGeom prst="rect">
            <a:avLst/>
          </a:prstGeom>
          <a:noFill/>
        </p:spPr>
        <p:txBody>
          <a:bodyPr wrap="square" anchor="t" lIns="45720" rIns="45720">
            <a:spAutoFit/>
          </a:bodyPr>
          <a:lstStyle/>
          <a:p>
            <a:pPr algn="l">
              <a:spcAft>
                <a:spcPts val="300"/>
              </a:spcAft>
            </a:pPr>
            <a:r>
              <a:rPr sz="1600" b="1">
                <a:solidFill>
                  <a:srgbClr val="7C3AED"/>
                </a:solidFill>
                <a:latin typeface="Arial"/>
              </a:rPr>
              <a:t>Evidence</a:t>
            </a:r>
          </a:p>
        </p:txBody>
      </p:sp>
      <p:sp>
        <p:nvSpPr>
          <p:cNvPr id="20" name="TextBox 19"/>
          <p:cNvSpPr txBox="1"/>
          <p:nvPr/>
        </p:nvSpPr>
        <p:spPr>
          <a:xfrm>
            <a:off x="8266176" y="4480560"/>
            <a:ext cx="2907792" cy="914400"/>
          </a:xfrm>
          <a:prstGeom prst="rect">
            <a:avLst/>
          </a:prstGeom>
          <a:noFill/>
        </p:spPr>
        <p:txBody>
          <a:bodyPr wrap="square" anchor="t" lIns="45720" rIns="45720">
            <a:spAutoFit/>
          </a:bodyPr>
          <a:lstStyle/>
          <a:p>
            <a:pPr algn="l">
              <a:spcAft>
                <a:spcPts val="300"/>
              </a:spcAft>
            </a:pPr>
            <a:r>
              <a:rPr sz="1250" b="0">
                <a:solidFill>
                  <a:srgbClr val="161B26"/>
                </a:solidFill>
                <a:latin typeface="Arial"/>
              </a:rPr>
              <a:t>Use regulator guidance, state assumptions and show owners, deadlines and proof.</a:t>
            </a:r>
          </a:p>
        </p:txBody>
      </p:sp>
      <p:sp>
        <p:nvSpPr>
          <p:cNvPr id="21" name="TextBox 20"/>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 | Bizbot: Company compliance | Wolters Kluwer: Governance</a:t>
            </a:r>
          </a:p>
        </p:txBody>
      </p:sp>
      <p:sp>
        <p:nvSpPr>
          <p:cNvPr id="22" name="Rectangle 21"/>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4" name="TextBox 23"/>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25" name="TextBox 24"/>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91</a:t>
            </a:r>
          </a:p>
        </p:txBody>
      </p:sp>
    </p:spTree>
  </p:cSld>
  <p:clrMapOvr>
    <a:masterClrMapping/>
  </p:clrMapOvr>
  <p:transition spd="slow">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7C3AED"/>
                </a:solidFill>
                <a:latin typeface="Arial"/>
              </a:rPr>
              <a:t>ACTIVITY 8</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Case Scenario | 90-Day Compliance Operating Model</a:t>
            </a:r>
          </a:p>
        </p:txBody>
      </p:sp>
      <p:sp>
        <p:nvSpPr>
          <p:cNvPr id="6" name="Rounded Rectangle 5"/>
          <p:cNvSpPr/>
          <p:nvPr/>
        </p:nvSpPr>
        <p:spPr>
          <a:xfrm>
            <a:off x="658368" y="1737360"/>
            <a:ext cx="6903720" cy="406908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011680"/>
            <a:ext cx="6355080" cy="365760"/>
          </a:xfrm>
          <a:prstGeom prst="rect">
            <a:avLst/>
          </a:prstGeom>
          <a:noFill/>
        </p:spPr>
        <p:txBody>
          <a:bodyPr wrap="square" anchor="t" lIns="45720" rIns="45720">
            <a:spAutoFit/>
          </a:bodyPr>
          <a:lstStyle/>
          <a:p>
            <a:pPr algn="l">
              <a:spcAft>
                <a:spcPts val="300"/>
              </a:spcAft>
            </a:pPr>
            <a:r>
              <a:rPr sz="1300" b="1">
                <a:solidFill>
                  <a:srgbClr val="7C3AED"/>
                </a:solidFill>
                <a:latin typeface="Arial"/>
              </a:rPr>
              <a:t>THE SITUATION</a:t>
            </a:r>
          </a:p>
        </p:txBody>
      </p:sp>
      <p:sp>
        <p:nvSpPr>
          <p:cNvPr id="8" name="TextBox 7"/>
          <p:cNvSpPr txBox="1"/>
          <p:nvPr/>
        </p:nvSpPr>
        <p:spPr>
          <a:xfrm>
            <a:off x="932688" y="2514600"/>
            <a:ext cx="6355080" cy="2880360"/>
          </a:xfrm>
          <a:prstGeom prst="rect">
            <a:avLst/>
          </a:prstGeom>
          <a:noFill/>
        </p:spPr>
        <p:txBody>
          <a:bodyPr wrap="square" anchor="t" lIns="45720" rIns="45720">
            <a:spAutoFit/>
          </a:bodyPr>
          <a:lstStyle/>
          <a:p>
            <a:pPr algn="l">
              <a:spcAft>
                <a:spcPts val="300"/>
              </a:spcAft>
            </a:pPr>
            <a:r>
              <a:rPr sz="1800" b="0">
                <a:solidFill>
                  <a:srgbClr val="161B26"/>
                </a:solidFill>
                <a:latin typeface="Arial"/>
              </a:rPr>
              <a:t>NovaCare Pte Ltd is growing from 20 to 80 employees and launching a digital service for healthcare clinics. Compliance tasks sit with different founders, deadlines are tracked in personal calendars, and employees do not know where to report concerns.</a:t>
            </a:r>
          </a:p>
        </p:txBody>
      </p:sp>
      <p:sp>
        <p:nvSpPr>
          <p:cNvPr id="9" name="Rounded Rectangle 8"/>
          <p:cNvSpPr/>
          <p:nvPr/>
        </p:nvSpPr>
        <p:spPr>
          <a:xfrm>
            <a:off x="7882127" y="1737360"/>
            <a:ext cx="3456432" cy="4069080"/>
          </a:xfrm>
          <a:prstGeom prst="roundRect">
            <a:avLst/>
          </a:prstGeom>
          <a:solidFill>
            <a:srgbClr val="FFFFFF"/>
          </a:solidFill>
          <a:ln w="1016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74736" y="2011680"/>
            <a:ext cx="2852928" cy="457200"/>
          </a:xfrm>
          <a:prstGeom prst="rect">
            <a:avLst/>
          </a:prstGeom>
          <a:noFill/>
        </p:spPr>
        <p:txBody>
          <a:bodyPr wrap="square" anchor="t" lIns="45720" rIns="45720">
            <a:spAutoFit/>
          </a:bodyPr>
          <a:lstStyle/>
          <a:p>
            <a:pPr algn="l">
              <a:spcAft>
                <a:spcPts val="300"/>
              </a:spcAft>
            </a:pPr>
            <a:r>
              <a:rPr sz="1300" b="1">
                <a:solidFill>
                  <a:srgbClr val="7C3AED"/>
                </a:solidFill>
                <a:latin typeface="Arial"/>
              </a:rPr>
              <a:t>YOUR ROLE</a:t>
            </a:r>
          </a:p>
        </p:txBody>
      </p:sp>
      <p:sp>
        <p:nvSpPr>
          <p:cNvPr id="11" name="TextBox 10"/>
          <p:cNvSpPr txBox="1"/>
          <p:nvPr/>
        </p:nvSpPr>
        <p:spPr>
          <a:xfrm>
            <a:off x="8174736" y="2560320"/>
            <a:ext cx="2852928" cy="2331720"/>
          </a:xfrm>
          <a:prstGeom prst="rect">
            <a:avLst/>
          </a:prstGeom>
          <a:noFill/>
        </p:spPr>
        <p:txBody>
          <a:bodyPr wrap="square" anchor="t" lIns="45720" rIns="45720">
            <a:spAutoFit/>
          </a:bodyPr>
          <a:lstStyle/>
          <a:p>
            <a:pPr algn="l">
              <a:spcAft>
                <a:spcPts val="300"/>
              </a:spcAft>
            </a:pPr>
            <a:r>
              <a:rPr sz="1600" b="1">
                <a:solidFill>
                  <a:srgbClr val="172B4D"/>
                </a:solidFill>
                <a:latin typeface="Arial"/>
              </a:rPr>
              <a:t>Act as the business owner or compliance lead. Separate facts from assumptions, identify the legal trigger, then make a defensible recommendation.</a:t>
            </a:r>
          </a:p>
        </p:txBody>
      </p:sp>
      <p:sp>
        <p:nvSpPr>
          <p:cNvPr id="12" name="TextBox 1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 | Bizbot: Company compliance | Wolters Kluwer: Governance</a:t>
            </a:r>
          </a:p>
        </p:txBody>
      </p:sp>
      <p:sp>
        <p:nvSpPr>
          <p:cNvPr id="13" name="Rectangle 1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5" name="TextBox 1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92</a:t>
            </a:r>
          </a:p>
        </p:txBody>
      </p:sp>
    </p:spTree>
  </p:cSld>
  <p:clrMapOvr>
    <a:masterClrMapping/>
  </p:clrMapOvr>
  <p:transition spd="slow">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0B981"/>
                </a:solidFill>
                <a:latin typeface="Arial"/>
              </a:rPr>
              <a:t>QUESTIONS + SUCCESS CHECK | NO CLICK-BY-CLICK STEPS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Debrief | Activity 8: 90-Day Operating Model</a:t>
            </a:r>
          </a:p>
        </p:txBody>
      </p:sp>
      <p:sp>
        <p:nvSpPr>
          <p:cNvPr id="6" name="Rounded Rectangle 5"/>
          <p:cNvSpPr/>
          <p:nvPr/>
        </p:nvSpPr>
        <p:spPr>
          <a:xfrm>
            <a:off x="658368" y="1719072"/>
            <a:ext cx="65379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65960"/>
            <a:ext cx="5989320" cy="384048"/>
          </a:xfrm>
          <a:prstGeom prst="rect">
            <a:avLst/>
          </a:prstGeom>
          <a:noFill/>
        </p:spPr>
        <p:txBody>
          <a:bodyPr wrap="square" anchor="t" lIns="45720" rIns="45720">
            <a:spAutoFit/>
          </a:bodyPr>
          <a:lstStyle/>
          <a:p>
            <a:pPr algn="l">
              <a:spcAft>
                <a:spcPts val="300"/>
              </a:spcAft>
            </a:pPr>
            <a:r>
              <a:rPr sz="1300" b="1">
                <a:solidFill>
                  <a:srgbClr val="10B981"/>
                </a:solidFill>
                <a:latin typeface="Arial"/>
              </a:rPr>
              <a:t>DISCUSS AND DECIDE</a:t>
            </a:r>
          </a:p>
        </p:txBody>
      </p:sp>
      <p:sp>
        <p:nvSpPr>
          <p:cNvPr id="8" name="Oval 7"/>
          <p:cNvSpPr/>
          <p:nvPr/>
        </p:nvSpPr>
        <p:spPr>
          <a:xfrm>
            <a:off x="914400" y="25146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1</a:t>
            </a:r>
          </a:p>
        </p:txBody>
      </p:sp>
      <p:sp>
        <p:nvSpPr>
          <p:cNvPr id="10" name="TextBox 9"/>
          <p:cNvSpPr txBox="1"/>
          <p:nvPr/>
        </p:nvSpPr>
        <p:spPr>
          <a:xfrm>
            <a:off x="1417320" y="2496312"/>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must be stabilised in the first 30 days?</a:t>
            </a:r>
          </a:p>
        </p:txBody>
      </p:sp>
      <p:sp>
        <p:nvSpPr>
          <p:cNvPr id="11" name="Oval 10"/>
          <p:cNvSpPr/>
          <p:nvPr/>
        </p:nvSpPr>
        <p:spPr>
          <a:xfrm>
            <a:off x="914400" y="330098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00984"/>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2</a:t>
            </a:r>
          </a:p>
        </p:txBody>
      </p:sp>
      <p:sp>
        <p:nvSpPr>
          <p:cNvPr id="13" name="TextBox 12"/>
          <p:cNvSpPr txBox="1"/>
          <p:nvPr/>
        </p:nvSpPr>
        <p:spPr>
          <a:xfrm>
            <a:off x="1417320" y="3282696"/>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Which controls should be piloted before full deployment?</a:t>
            </a:r>
          </a:p>
        </p:txBody>
      </p:sp>
      <p:sp>
        <p:nvSpPr>
          <p:cNvPr id="14" name="Oval 13"/>
          <p:cNvSpPr/>
          <p:nvPr/>
        </p:nvSpPr>
        <p:spPr>
          <a:xfrm>
            <a:off x="914400" y="408736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87368"/>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3</a:t>
            </a:r>
          </a:p>
        </p:txBody>
      </p:sp>
      <p:sp>
        <p:nvSpPr>
          <p:cNvPr id="16" name="TextBox 15"/>
          <p:cNvSpPr txBox="1"/>
          <p:nvPr/>
        </p:nvSpPr>
        <p:spPr>
          <a:xfrm>
            <a:off x="1417320" y="4069080"/>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What should management and the board see each month?</a:t>
            </a:r>
          </a:p>
        </p:txBody>
      </p:sp>
      <p:sp>
        <p:nvSpPr>
          <p:cNvPr id="17" name="Oval 16"/>
          <p:cNvSpPr/>
          <p:nvPr/>
        </p:nvSpPr>
        <p:spPr>
          <a:xfrm>
            <a:off x="914400" y="487375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73752"/>
            <a:ext cx="365760" cy="365760"/>
          </a:xfrm>
          <a:prstGeom prst="rect">
            <a:avLst/>
          </a:prstGeom>
          <a:noFill/>
        </p:spPr>
        <p:txBody>
          <a:bodyPr wrap="square" anchor="ctr" lIns="45720" rIns="45720">
            <a:spAutoFit/>
          </a:bodyPr>
          <a:lstStyle/>
          <a:p>
            <a:pPr algn="ctr">
              <a:spcAft>
                <a:spcPts val="300"/>
              </a:spcAft>
            </a:pPr>
            <a:r>
              <a:rPr sz="1100" b="1">
                <a:solidFill>
                  <a:srgbClr val="FFFFFF"/>
                </a:solidFill>
                <a:latin typeface="Arial"/>
              </a:rPr>
              <a:t>4</a:t>
            </a:r>
          </a:p>
        </p:txBody>
      </p:sp>
      <p:sp>
        <p:nvSpPr>
          <p:cNvPr id="19" name="TextBox 18"/>
          <p:cNvSpPr txBox="1"/>
          <p:nvPr/>
        </p:nvSpPr>
        <p:spPr>
          <a:xfrm>
            <a:off x="1417320" y="4855464"/>
            <a:ext cx="5394960" cy="621792"/>
          </a:xfrm>
          <a:prstGeom prst="rect">
            <a:avLst/>
          </a:prstGeom>
          <a:noFill/>
        </p:spPr>
        <p:txBody>
          <a:bodyPr wrap="square" anchor="t" lIns="45720" rIns="45720">
            <a:spAutoFit/>
          </a:bodyPr>
          <a:lstStyle/>
          <a:p>
            <a:pPr algn="l">
              <a:spcAft>
                <a:spcPts val="300"/>
              </a:spcAft>
            </a:pPr>
            <a:r>
              <a:rPr sz="1350" b="0">
                <a:solidFill>
                  <a:srgbClr val="161B26"/>
                </a:solidFill>
                <a:latin typeface="Arial"/>
              </a:rPr>
              <a:t>How will the organisation know the programme is effective?</a:t>
            </a:r>
          </a:p>
        </p:txBody>
      </p:sp>
      <p:sp>
        <p:nvSpPr>
          <p:cNvPr id="20" name="Rounded Rectangle 19"/>
          <p:cNvSpPr/>
          <p:nvPr/>
        </p:nvSpPr>
        <p:spPr>
          <a:xfrm>
            <a:off x="7498079" y="1719072"/>
            <a:ext cx="3840480" cy="4160520"/>
          </a:xfrm>
          <a:prstGeom prst="round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0688" y="1965960"/>
            <a:ext cx="3246120" cy="384048"/>
          </a:xfrm>
          <a:prstGeom prst="rect">
            <a:avLst/>
          </a:prstGeom>
          <a:noFill/>
        </p:spPr>
        <p:txBody>
          <a:bodyPr wrap="square" anchor="t" lIns="45720" rIns="45720">
            <a:spAutoFit/>
          </a:bodyPr>
          <a:lstStyle/>
          <a:p>
            <a:pPr algn="l">
              <a:spcAft>
                <a:spcPts val="300"/>
              </a:spcAft>
            </a:pPr>
            <a:r>
              <a:rPr sz="1300" b="1">
                <a:solidFill>
                  <a:srgbClr val="127A3E"/>
                </a:solidFill>
                <a:latin typeface="Arial"/>
              </a:rPr>
              <a:t>SUCCESS LOOKS LIKE</a:t>
            </a:r>
          </a:p>
        </p:txBody>
      </p:sp>
      <p:sp>
        <p:nvSpPr>
          <p:cNvPr id="22" name="TextBox 21"/>
          <p:cNvSpPr txBox="1"/>
          <p:nvPr/>
        </p:nvSpPr>
        <p:spPr>
          <a:xfrm>
            <a:off x="7790688" y="2542032"/>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Priorities risk-based</a:t>
            </a:r>
          </a:p>
        </p:txBody>
      </p:sp>
      <p:sp>
        <p:nvSpPr>
          <p:cNvPr id="23" name="TextBox 22"/>
          <p:cNvSpPr txBox="1"/>
          <p:nvPr/>
        </p:nvSpPr>
        <p:spPr>
          <a:xfrm>
            <a:off x="7790688" y="3255263"/>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Owners and cadence clear</a:t>
            </a:r>
          </a:p>
        </p:txBody>
      </p:sp>
      <p:sp>
        <p:nvSpPr>
          <p:cNvPr id="24" name="TextBox 23"/>
          <p:cNvSpPr txBox="1"/>
          <p:nvPr/>
        </p:nvSpPr>
        <p:spPr>
          <a:xfrm>
            <a:off x="7790688" y="3968496"/>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Training and speak-up included</a:t>
            </a:r>
          </a:p>
        </p:txBody>
      </p:sp>
      <p:sp>
        <p:nvSpPr>
          <p:cNvPr id="25" name="TextBox 24"/>
          <p:cNvSpPr txBox="1"/>
          <p:nvPr/>
        </p:nvSpPr>
        <p:spPr>
          <a:xfrm>
            <a:off x="7790688" y="4681728"/>
            <a:ext cx="3154680" cy="566928"/>
          </a:xfrm>
          <a:prstGeom prst="rect">
            <a:avLst/>
          </a:prstGeom>
          <a:noFill/>
        </p:spPr>
        <p:txBody>
          <a:bodyPr wrap="square" anchor="t" lIns="45720" rIns="45720">
            <a:spAutoFit/>
          </a:bodyPr>
          <a:lstStyle/>
          <a:p>
            <a:pPr algn="l">
              <a:spcAft>
                <a:spcPts val="300"/>
              </a:spcAft>
            </a:pPr>
            <a:r>
              <a:rPr sz="1350" b="0">
                <a:solidFill>
                  <a:srgbClr val="161B26"/>
                </a:solidFill>
                <a:latin typeface="Arial"/>
              </a:rPr>
              <a:t>✓  Metrics test effectiveness, not activity alone</a:t>
            </a:r>
          </a:p>
        </p:txBody>
      </p:sp>
      <p:sp>
        <p:nvSpPr>
          <p:cNvPr id="26" name="TextBox 2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Sources: Pitt Law: Compliance legislation | LeapXpert: Compliance guide | Bizbot: Company compliance | Wolters Kluwer: Governance</a:t>
            </a:r>
          </a:p>
        </p:txBody>
      </p:sp>
      <p:sp>
        <p:nvSpPr>
          <p:cNvPr id="27" name="Rectangle 2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29" name="TextBox 2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93</a:t>
            </a:r>
          </a:p>
        </p:txBody>
      </p:sp>
    </p:spTree>
  </p:cSld>
  <p:clrMapOvr>
    <a:masterClrMapping/>
  </p:clrMapOvr>
  <p:transition spd="slow">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72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874519"/>
            <a:ext cx="9784080" cy="365760"/>
          </a:xfrm>
          <a:prstGeom prst="rect">
            <a:avLst/>
          </a:prstGeom>
          <a:noFill/>
        </p:spPr>
        <p:txBody>
          <a:bodyPr wrap="square" anchor="t" lIns="45720" rIns="45720">
            <a:spAutoFit/>
          </a:bodyPr>
          <a:lstStyle/>
          <a:p>
            <a:pPr algn="l">
              <a:spcAft>
                <a:spcPts val="300"/>
              </a:spcAft>
            </a:pPr>
            <a:r>
              <a:rPr sz="1500" b="1">
                <a:solidFill>
                  <a:srgbClr val="1F6FEB"/>
                </a:solidFill>
                <a:latin typeface="Arial"/>
              </a:rPr>
              <a:t>WRAP-UP</a:t>
            </a:r>
          </a:p>
        </p:txBody>
      </p:sp>
      <p:sp>
        <p:nvSpPr>
          <p:cNvPr id="5" name="TextBox 4"/>
          <p:cNvSpPr txBox="1"/>
          <p:nvPr/>
        </p:nvSpPr>
        <p:spPr>
          <a:xfrm>
            <a:off x="777240" y="2304288"/>
            <a:ext cx="9966960" cy="1508760"/>
          </a:xfrm>
          <a:prstGeom prst="rect">
            <a:avLst/>
          </a:prstGeom>
          <a:noFill/>
        </p:spPr>
        <p:txBody>
          <a:bodyPr wrap="square" anchor="t" lIns="45720" rIns="45720">
            <a:spAutoFit/>
          </a:bodyPr>
          <a:lstStyle/>
          <a:p>
            <a:pPr algn="l">
              <a:spcAft>
                <a:spcPts val="300"/>
              </a:spcAft>
            </a:pPr>
            <a:r>
              <a:rPr sz="3700" b="1">
                <a:solidFill>
                  <a:srgbClr val="172B4D"/>
                </a:solidFill>
                <a:latin typeface="Arial"/>
              </a:rPr>
              <a:t>From obligations to an operating system</a:t>
            </a:r>
          </a:p>
        </p:txBody>
      </p:sp>
      <p:sp>
        <p:nvSpPr>
          <p:cNvPr id="6" name="TextBox 5"/>
          <p:cNvSpPr txBox="1"/>
          <p:nvPr/>
        </p:nvSpPr>
        <p:spPr>
          <a:xfrm>
            <a:off x="804672" y="3968496"/>
            <a:ext cx="9692640" cy="914400"/>
          </a:xfrm>
          <a:prstGeom prst="rect">
            <a:avLst/>
          </a:prstGeom>
          <a:noFill/>
        </p:spPr>
        <p:txBody>
          <a:bodyPr wrap="square" anchor="t" lIns="45720" rIns="45720">
            <a:spAutoFit/>
          </a:bodyPr>
          <a:lstStyle/>
          <a:p>
            <a:pPr algn="l">
              <a:spcAft>
                <a:spcPts val="300"/>
              </a:spcAft>
            </a:pPr>
            <a:r>
              <a:rPr sz="1600" b="0">
                <a:solidFill>
                  <a:srgbClr val="5B6372"/>
                </a:solidFill>
                <a:latin typeface="Arial"/>
              </a:rPr>
              <a:t>Consolidate the frameworks, activities and assessment evidence</a:t>
            </a:r>
          </a:p>
        </p:txBody>
      </p:sp>
      <p:sp>
        <p:nvSpPr>
          <p:cNvPr id="7" name="TextBox 6"/>
          <p:cNvSpPr txBox="1"/>
          <p:nvPr/>
        </p:nvSpPr>
        <p:spPr>
          <a:xfrm>
            <a:off x="9646920" y="502920"/>
            <a:ext cx="1828800" cy="1325880"/>
          </a:xfrm>
          <a:prstGeom prst="rect">
            <a:avLst/>
          </a:prstGeom>
          <a:noFill/>
        </p:spPr>
        <p:txBody>
          <a:bodyPr wrap="square" anchor="t" lIns="45720" rIns="45720">
            <a:spAutoFit/>
          </a:bodyPr>
          <a:lstStyle/>
          <a:p>
            <a:pPr algn="r">
              <a:spcAft>
                <a:spcPts val="300"/>
              </a:spcAft>
            </a:pPr>
            <a:r>
              <a:rPr sz="6800" b="1">
                <a:solidFill>
                  <a:srgbClr val="E2E8F0"/>
                </a:solidFill>
                <a:latin typeface="Arial"/>
              </a:rPr>
              <a:t>✓</a:t>
            </a:r>
          </a:p>
        </p:txBody>
      </p:sp>
      <p:sp>
        <p:nvSpPr>
          <p:cNvPr id="8" name="TextBox 7"/>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9" name="Rectangle 8"/>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1" name="TextBox 10"/>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94</a:t>
            </a:r>
          </a:p>
        </p:txBody>
      </p:sp>
    </p:spTree>
  </p:cSld>
  <p:clrMapOvr>
    <a:masterClrMapping/>
  </p:clrMapOvr>
  <p:transition spd="slow">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LEARNING OUTCOMES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What You Achieved</a:t>
            </a:r>
          </a:p>
        </p:txBody>
      </p:sp>
      <p:sp>
        <p:nvSpPr>
          <p:cNvPr id="6" name="Rounded Rectangle 5"/>
          <p:cNvSpPr/>
          <p:nvPr/>
        </p:nvSpPr>
        <p:spPr>
          <a:xfrm>
            <a:off x="658368"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K1</a:t>
            </a:r>
          </a:p>
        </p:txBody>
      </p:sp>
      <p:sp>
        <p:nvSpPr>
          <p:cNvPr id="11" name="TextBox 10"/>
          <p:cNvSpPr txBox="1"/>
          <p:nvPr/>
        </p:nvSpPr>
        <p:spPr>
          <a:xfrm>
            <a:off x="1444752"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Explained current legal/regulatory duties and global triggers.</a:t>
            </a:r>
          </a:p>
        </p:txBody>
      </p:sp>
      <p:sp>
        <p:nvSpPr>
          <p:cNvPr id="12" name="Rounded Rectangle 11"/>
          <p:cNvSpPr/>
          <p:nvPr/>
        </p:nvSpPr>
        <p:spPr>
          <a:xfrm>
            <a:off x="4358640"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8640"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9808"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5145024" y="1837944"/>
            <a:ext cx="2493264"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K2</a:t>
            </a:r>
          </a:p>
        </p:txBody>
      </p:sp>
      <p:sp>
        <p:nvSpPr>
          <p:cNvPr id="17" name="TextBox 16"/>
          <p:cNvSpPr txBox="1"/>
          <p:nvPr/>
        </p:nvSpPr>
        <p:spPr>
          <a:xfrm>
            <a:off x="5145024"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Connected compliance to the organisation's business and industry.</a:t>
            </a:r>
          </a:p>
        </p:txBody>
      </p:sp>
      <p:sp>
        <p:nvSpPr>
          <p:cNvPr id="18" name="Rounded Rectangle 17"/>
          <p:cNvSpPr/>
          <p:nvPr/>
        </p:nvSpPr>
        <p:spPr>
          <a:xfrm>
            <a:off x="8058912" y="1673352"/>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8912" y="1673352"/>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60080" y="1883664"/>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60080"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8845296" y="1837944"/>
            <a:ext cx="2493264"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A1</a:t>
            </a:r>
          </a:p>
        </p:txBody>
      </p:sp>
      <p:sp>
        <p:nvSpPr>
          <p:cNvPr id="23" name="TextBox 22"/>
          <p:cNvSpPr txBox="1"/>
          <p:nvPr/>
        </p:nvSpPr>
        <p:spPr>
          <a:xfrm>
            <a:off x="8845296" y="2313432"/>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Assessed regulatory impacts using evidence and structured lenses.</a:t>
            </a:r>
          </a:p>
        </p:txBody>
      </p:sp>
      <p:sp>
        <p:nvSpPr>
          <p:cNvPr id="24" name="Rounded Rectangle 23"/>
          <p:cNvSpPr/>
          <p:nvPr/>
        </p:nvSpPr>
        <p:spPr>
          <a:xfrm>
            <a:off x="658368"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9536"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1444752" y="4069080"/>
            <a:ext cx="2493264"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A2</a:t>
            </a:r>
          </a:p>
        </p:txBody>
      </p:sp>
      <p:sp>
        <p:nvSpPr>
          <p:cNvPr id="29" name="TextBox 28"/>
          <p:cNvSpPr txBox="1"/>
          <p:nvPr/>
        </p:nvSpPr>
        <p:spPr>
          <a:xfrm>
            <a:off x="1444752"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Produced proportionate, documented business decisions.</a:t>
            </a:r>
          </a:p>
        </p:txBody>
      </p:sp>
      <p:sp>
        <p:nvSpPr>
          <p:cNvPr id="30" name="Rounded Rectangle 29"/>
          <p:cNvSpPr/>
          <p:nvPr/>
        </p:nvSpPr>
        <p:spPr>
          <a:xfrm>
            <a:off x="4358640" y="3904488"/>
            <a:ext cx="3480816"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58640" y="3904488"/>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59808" y="41148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9808"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5</a:t>
            </a:r>
          </a:p>
        </p:txBody>
      </p:sp>
      <p:sp>
        <p:nvSpPr>
          <p:cNvPr id="34" name="TextBox 33"/>
          <p:cNvSpPr txBox="1"/>
          <p:nvPr/>
        </p:nvSpPr>
        <p:spPr>
          <a:xfrm>
            <a:off x="5145024" y="4069080"/>
            <a:ext cx="2493264"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A3</a:t>
            </a:r>
          </a:p>
        </p:txBody>
      </p:sp>
      <p:sp>
        <p:nvSpPr>
          <p:cNvPr id="35" name="TextBox 34"/>
          <p:cNvSpPr txBox="1"/>
          <p:nvPr/>
        </p:nvSpPr>
        <p:spPr>
          <a:xfrm>
            <a:off x="5145024" y="4544568"/>
            <a:ext cx="2493264" cy="1261872"/>
          </a:xfrm>
          <a:prstGeom prst="rect">
            <a:avLst/>
          </a:prstGeom>
          <a:noFill/>
        </p:spPr>
        <p:txBody>
          <a:bodyPr wrap="square" anchor="t" lIns="45720" rIns="45720">
            <a:spAutoFit/>
          </a:bodyPr>
          <a:lstStyle/>
          <a:p>
            <a:pPr algn="l">
              <a:spcAft>
                <a:spcPts val="300"/>
              </a:spcAft>
            </a:pPr>
            <a:r>
              <a:rPr sz="1250" b="0">
                <a:solidFill>
                  <a:srgbClr val="161B26"/>
                </a:solidFill>
                <a:latin typeface="Arial"/>
              </a:rPr>
              <a:t>Built influence, RACI, training and adaptation plans.</a:t>
            </a:r>
          </a:p>
        </p:txBody>
      </p:sp>
      <p:sp>
        <p:nvSpPr>
          <p:cNvPr id="36" name="TextBox 35"/>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7" name="Rectangle 36"/>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9" name="TextBox 38"/>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0" name="TextBox 39"/>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95</a:t>
            </a:r>
          </a:p>
        </p:txBody>
      </p:sp>
    </p:spTree>
  </p:cSld>
  <p:clrMapOvr>
    <a:masterClrMapping/>
  </p:clrMapOvr>
  <p:transition spd="slow">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TAKEAWAY</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Your Compliance Operating System</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Obligation register</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Calendar and owners</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Controls and evidence</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Change/incident response</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Assurance and board reporting</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96</a:t>
            </a:r>
          </a:p>
        </p:txBody>
      </p:sp>
    </p:spTree>
  </p:cSld>
  <p:clrMapOvr>
    <a:masterClrMapping/>
  </p:clrMapOvr>
  <p:transition spd="slow">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ACTION PLAN</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The Next 30 Days</a:t>
            </a:r>
          </a:p>
        </p:txBody>
      </p:sp>
      <p:sp>
        <p:nvSpPr>
          <p:cNvPr id="6" name="Rounded Rectangle 5"/>
          <p:cNvSpPr/>
          <p:nvPr/>
        </p:nvSpPr>
        <p:spPr>
          <a:xfrm>
            <a:off x="658368"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93392"/>
            <a:ext cx="2852928" cy="594360"/>
          </a:xfrm>
          <a:prstGeom prst="rect">
            <a:avLst/>
          </a:prstGeom>
          <a:noFill/>
        </p:spPr>
        <p:txBody>
          <a:bodyPr wrap="square" anchor="t" lIns="45720" rIns="45720">
            <a:spAutoFit/>
          </a:bodyPr>
          <a:lstStyle/>
          <a:p>
            <a:pPr algn="l">
              <a:spcAft>
                <a:spcPts val="300"/>
              </a:spcAft>
            </a:pPr>
            <a:r>
              <a:rPr sz="1900" b="1">
                <a:solidFill>
                  <a:srgbClr val="1F6FEB"/>
                </a:solidFill>
                <a:latin typeface="Arial"/>
              </a:rPr>
              <a:t>Week 1</a:t>
            </a:r>
          </a:p>
        </p:txBody>
      </p:sp>
      <p:sp>
        <p:nvSpPr>
          <p:cNvPr id="9" name="Oval 8"/>
          <p:cNvSpPr/>
          <p:nvPr/>
        </p:nvSpPr>
        <p:spPr>
          <a:xfrm>
            <a:off x="905256" y="2715768"/>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11" name="TextBox 10"/>
          <p:cNvSpPr txBox="1"/>
          <p:nvPr/>
        </p:nvSpPr>
        <p:spPr>
          <a:xfrm>
            <a:off x="1298448"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Confirm entity facts</a:t>
            </a:r>
          </a:p>
        </p:txBody>
      </p:sp>
      <p:sp>
        <p:nvSpPr>
          <p:cNvPr id="12" name="Oval 11"/>
          <p:cNvSpPr/>
          <p:nvPr/>
        </p:nvSpPr>
        <p:spPr>
          <a:xfrm>
            <a:off x="905256" y="346557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14" name="TextBox 13"/>
          <p:cNvSpPr txBox="1"/>
          <p:nvPr/>
        </p:nvSpPr>
        <p:spPr>
          <a:xfrm>
            <a:off x="1298448"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List regulators and licences</a:t>
            </a:r>
          </a:p>
        </p:txBody>
      </p:sp>
      <p:sp>
        <p:nvSpPr>
          <p:cNvPr id="15" name="Oval 14"/>
          <p:cNvSpPr/>
          <p:nvPr/>
        </p:nvSpPr>
        <p:spPr>
          <a:xfrm>
            <a:off x="905256" y="4215383"/>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17" name="TextBox 16"/>
          <p:cNvSpPr txBox="1"/>
          <p:nvPr/>
        </p:nvSpPr>
        <p:spPr>
          <a:xfrm>
            <a:off x="1298448"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Identify overdue obligations</a:t>
            </a:r>
          </a:p>
        </p:txBody>
      </p:sp>
      <p:sp>
        <p:nvSpPr>
          <p:cNvPr id="18" name="Rounded Rectangle 17"/>
          <p:cNvSpPr/>
          <p:nvPr/>
        </p:nvSpPr>
        <p:spPr>
          <a:xfrm>
            <a:off x="4370832"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1719072"/>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1993392"/>
            <a:ext cx="2852928" cy="594360"/>
          </a:xfrm>
          <a:prstGeom prst="rect">
            <a:avLst/>
          </a:prstGeom>
          <a:noFill/>
        </p:spPr>
        <p:txBody>
          <a:bodyPr wrap="square" anchor="t" lIns="45720" rIns="45720">
            <a:spAutoFit/>
          </a:bodyPr>
          <a:lstStyle/>
          <a:p>
            <a:pPr algn="l">
              <a:spcAft>
                <a:spcPts val="300"/>
              </a:spcAft>
            </a:pPr>
            <a:r>
              <a:rPr sz="1900" b="1">
                <a:solidFill>
                  <a:srgbClr val="10B981"/>
                </a:solidFill>
                <a:latin typeface="Arial"/>
              </a:rPr>
              <a:t>Weeks 2-3</a:t>
            </a:r>
          </a:p>
        </p:txBody>
      </p:sp>
      <p:sp>
        <p:nvSpPr>
          <p:cNvPr id="21" name="Oval 20"/>
          <p:cNvSpPr/>
          <p:nvPr/>
        </p:nvSpPr>
        <p:spPr>
          <a:xfrm>
            <a:off x="4617720" y="271576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23" name="TextBox 22"/>
          <p:cNvSpPr txBox="1"/>
          <p:nvPr/>
        </p:nvSpPr>
        <p:spPr>
          <a:xfrm>
            <a:off x="5010912"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Assign RACI</a:t>
            </a:r>
          </a:p>
        </p:txBody>
      </p:sp>
      <p:sp>
        <p:nvSpPr>
          <p:cNvPr id="24" name="Oval 23"/>
          <p:cNvSpPr/>
          <p:nvPr/>
        </p:nvSpPr>
        <p:spPr>
          <a:xfrm>
            <a:off x="4617720" y="346557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26" name="TextBox 25"/>
          <p:cNvSpPr txBox="1"/>
          <p:nvPr/>
        </p:nvSpPr>
        <p:spPr>
          <a:xfrm>
            <a:off x="5010912"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Build central calendar</a:t>
            </a:r>
          </a:p>
        </p:txBody>
      </p:sp>
      <p:sp>
        <p:nvSpPr>
          <p:cNvPr id="27" name="Oval 26"/>
          <p:cNvSpPr/>
          <p:nvPr/>
        </p:nvSpPr>
        <p:spPr>
          <a:xfrm>
            <a:off x="4617720" y="421538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29" name="TextBox 28"/>
          <p:cNvSpPr txBox="1"/>
          <p:nvPr/>
        </p:nvSpPr>
        <p:spPr>
          <a:xfrm>
            <a:off x="5010912"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Fix priority controls</a:t>
            </a:r>
          </a:p>
        </p:txBody>
      </p:sp>
      <p:sp>
        <p:nvSpPr>
          <p:cNvPr id="30" name="Rounded Rectangle 29"/>
          <p:cNvSpPr/>
          <p:nvPr/>
        </p:nvSpPr>
        <p:spPr>
          <a:xfrm>
            <a:off x="8083296"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1719072"/>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993392"/>
            <a:ext cx="2852928" cy="594360"/>
          </a:xfrm>
          <a:prstGeom prst="rect">
            <a:avLst/>
          </a:prstGeom>
          <a:noFill/>
        </p:spPr>
        <p:txBody>
          <a:bodyPr wrap="square" anchor="t" lIns="45720" rIns="45720">
            <a:spAutoFit/>
          </a:bodyPr>
          <a:lstStyle/>
          <a:p>
            <a:pPr algn="l">
              <a:spcAft>
                <a:spcPts val="300"/>
              </a:spcAft>
            </a:pPr>
            <a:r>
              <a:rPr sz="1900" b="1">
                <a:solidFill>
                  <a:srgbClr val="7C3AED"/>
                </a:solidFill>
                <a:latin typeface="Arial"/>
              </a:rPr>
              <a:t>Week 4</a:t>
            </a:r>
          </a:p>
        </p:txBody>
      </p:sp>
      <p:sp>
        <p:nvSpPr>
          <p:cNvPr id="33" name="Oval 32"/>
          <p:cNvSpPr/>
          <p:nvPr/>
        </p:nvSpPr>
        <p:spPr>
          <a:xfrm>
            <a:off x="8330184" y="27157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35" name="TextBox 34"/>
          <p:cNvSpPr txBox="1"/>
          <p:nvPr/>
        </p:nvSpPr>
        <p:spPr>
          <a:xfrm>
            <a:off x="8723376"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Run one tabletop</a:t>
            </a:r>
          </a:p>
        </p:txBody>
      </p:sp>
      <p:sp>
        <p:nvSpPr>
          <p:cNvPr id="36" name="Oval 35"/>
          <p:cNvSpPr/>
          <p:nvPr/>
        </p:nvSpPr>
        <p:spPr>
          <a:xfrm>
            <a:off x="8330184" y="34655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0184"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38" name="TextBox 37"/>
          <p:cNvSpPr txBox="1"/>
          <p:nvPr/>
        </p:nvSpPr>
        <p:spPr>
          <a:xfrm>
            <a:off x="8723376"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Report residual risks</a:t>
            </a:r>
          </a:p>
        </p:txBody>
      </p:sp>
      <p:sp>
        <p:nvSpPr>
          <p:cNvPr id="39" name="Oval 38"/>
          <p:cNvSpPr/>
          <p:nvPr/>
        </p:nvSpPr>
        <p:spPr>
          <a:xfrm>
            <a:off x="8330184" y="4215383"/>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41" name="TextBox 40"/>
          <p:cNvSpPr txBox="1"/>
          <p:nvPr/>
        </p:nvSpPr>
        <p:spPr>
          <a:xfrm>
            <a:off x="8723376"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Agree the next 90 days</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97</a:t>
            </a:r>
          </a:p>
        </p:txBody>
      </p:sp>
    </p:spTree>
  </p:cSld>
  <p:clrMapOvr>
    <a:masterClrMapping/>
  </p:clrMapOvr>
  <p:transition spd="slow">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RESEARCH</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Source Discipline</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Primary</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ACRA, IRAS, MOM, CPF Board, PDPC and sector regulators.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Secondary</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Use expert sources to frame questions and programme design.</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Current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Record access date and re-check time-sensitive facts.</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Advice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Escalate material ambiguity to qualified legal, tax or sector advisers.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98</a:t>
            </a:r>
          </a:p>
        </p:txBody>
      </p:sp>
    </p:spTree>
  </p:cSld>
  <p:clrMapOvr>
    <a:masterClrMapping/>
  </p:clrMapOvr>
  <p:transition spd="slow">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LMS</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Courseware and Assessment on the LMS</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01</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Download the current slides and Learner Guide</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02</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Open the activity folder for detailed procedures</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03</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digital attendance before assessment</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04</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Submit the WA and Case Study on the LMS</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99</a:t>
            </a:r>
          </a:p>
        </p:txBody>
      </p:sp>
    </p:spTree>
  </p:cSld>
  <p:clrMapOvr>
    <a:masterClrMapping/>
  </p:clrMapOvr>
  <p:transition spd="slow">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5:00 PM-6:00 PM</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Assessment Reminder</a:t>
            </a:r>
          </a:p>
        </p:txBody>
      </p:sp>
      <p:sp>
        <p:nvSpPr>
          <p:cNvPr id="6" name="Rounded Rectangle 5"/>
          <p:cNvSpPr/>
          <p:nvPr/>
        </p:nvSpPr>
        <p:spPr>
          <a:xfrm>
            <a:off x="658368"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19072"/>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993392"/>
            <a:ext cx="2852928" cy="594360"/>
          </a:xfrm>
          <a:prstGeom prst="rect">
            <a:avLst/>
          </a:prstGeom>
          <a:noFill/>
        </p:spPr>
        <p:txBody>
          <a:bodyPr wrap="square" anchor="t" lIns="45720" rIns="45720">
            <a:spAutoFit/>
          </a:bodyPr>
          <a:lstStyle/>
          <a:p>
            <a:pPr algn="l">
              <a:spcAft>
                <a:spcPts val="300"/>
              </a:spcAft>
            </a:pPr>
            <a:r>
              <a:rPr sz="1900" b="1">
                <a:solidFill>
                  <a:srgbClr val="1F6FEB"/>
                </a:solidFill>
                <a:latin typeface="Arial"/>
              </a:rPr>
              <a:t>WA | 30 min</a:t>
            </a:r>
          </a:p>
        </p:txBody>
      </p:sp>
      <p:sp>
        <p:nvSpPr>
          <p:cNvPr id="9" name="Oval 8"/>
          <p:cNvSpPr/>
          <p:nvPr/>
        </p:nvSpPr>
        <p:spPr>
          <a:xfrm>
            <a:off x="905256" y="2715768"/>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11" name="TextBox 10"/>
          <p:cNvSpPr txBox="1"/>
          <p:nvPr/>
        </p:nvSpPr>
        <p:spPr>
          <a:xfrm>
            <a:off x="1298448"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4 questions</a:t>
            </a:r>
          </a:p>
        </p:txBody>
      </p:sp>
      <p:sp>
        <p:nvSpPr>
          <p:cNvPr id="12" name="Oval 11"/>
          <p:cNvSpPr/>
          <p:nvPr/>
        </p:nvSpPr>
        <p:spPr>
          <a:xfrm>
            <a:off x="905256" y="3465576"/>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14" name="TextBox 13"/>
          <p:cNvSpPr txBox="1"/>
          <p:nvPr/>
        </p:nvSpPr>
        <p:spPr>
          <a:xfrm>
            <a:off x="1298448"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K1 + K2</a:t>
            </a:r>
          </a:p>
        </p:txBody>
      </p:sp>
      <p:sp>
        <p:nvSpPr>
          <p:cNvPr id="15" name="Oval 14"/>
          <p:cNvSpPr/>
          <p:nvPr/>
        </p:nvSpPr>
        <p:spPr>
          <a:xfrm>
            <a:off x="905256" y="4215383"/>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17" name="TextBox 16"/>
          <p:cNvSpPr txBox="1"/>
          <p:nvPr/>
        </p:nvSpPr>
        <p:spPr>
          <a:xfrm>
            <a:off x="1298448"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Open book</a:t>
            </a:r>
          </a:p>
        </p:txBody>
      </p:sp>
      <p:sp>
        <p:nvSpPr>
          <p:cNvPr id="18" name="Rounded Rectangle 17"/>
          <p:cNvSpPr/>
          <p:nvPr/>
        </p:nvSpPr>
        <p:spPr>
          <a:xfrm>
            <a:off x="4370832"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0832" y="1719072"/>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9432" y="1993392"/>
            <a:ext cx="2852928" cy="594360"/>
          </a:xfrm>
          <a:prstGeom prst="rect">
            <a:avLst/>
          </a:prstGeom>
          <a:noFill/>
        </p:spPr>
        <p:txBody>
          <a:bodyPr wrap="square" anchor="t" lIns="45720" rIns="45720">
            <a:spAutoFit/>
          </a:bodyPr>
          <a:lstStyle/>
          <a:p>
            <a:pPr algn="l">
              <a:spcAft>
                <a:spcPts val="300"/>
              </a:spcAft>
            </a:pPr>
            <a:r>
              <a:rPr sz="1900" b="1">
                <a:solidFill>
                  <a:srgbClr val="10B981"/>
                </a:solidFill>
                <a:latin typeface="Arial"/>
              </a:rPr>
              <a:t>CS | 30 min</a:t>
            </a:r>
          </a:p>
        </p:txBody>
      </p:sp>
      <p:sp>
        <p:nvSpPr>
          <p:cNvPr id="21" name="Oval 20"/>
          <p:cNvSpPr/>
          <p:nvPr/>
        </p:nvSpPr>
        <p:spPr>
          <a:xfrm>
            <a:off x="4617720" y="2715768"/>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17720"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23" name="TextBox 22"/>
          <p:cNvSpPr txBox="1"/>
          <p:nvPr/>
        </p:nvSpPr>
        <p:spPr>
          <a:xfrm>
            <a:off x="5010912"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2 tasks</a:t>
            </a:r>
          </a:p>
        </p:txBody>
      </p:sp>
      <p:sp>
        <p:nvSpPr>
          <p:cNvPr id="24" name="Oval 23"/>
          <p:cNvSpPr/>
          <p:nvPr/>
        </p:nvSpPr>
        <p:spPr>
          <a:xfrm>
            <a:off x="4617720" y="3465576"/>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26" name="TextBox 25"/>
          <p:cNvSpPr txBox="1"/>
          <p:nvPr/>
        </p:nvSpPr>
        <p:spPr>
          <a:xfrm>
            <a:off x="5010912"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A1 + A2 + A3</a:t>
            </a:r>
          </a:p>
        </p:txBody>
      </p:sp>
      <p:sp>
        <p:nvSpPr>
          <p:cNvPr id="27" name="Oval 26"/>
          <p:cNvSpPr/>
          <p:nvPr/>
        </p:nvSpPr>
        <p:spPr>
          <a:xfrm>
            <a:off x="4617720" y="4215383"/>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29" name="TextBox 28"/>
          <p:cNvSpPr txBox="1"/>
          <p:nvPr/>
        </p:nvSpPr>
        <p:spPr>
          <a:xfrm>
            <a:off x="5010912"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One coherent scenario</a:t>
            </a:r>
          </a:p>
        </p:txBody>
      </p:sp>
      <p:sp>
        <p:nvSpPr>
          <p:cNvPr id="30" name="Rounded Rectangle 29"/>
          <p:cNvSpPr/>
          <p:nvPr/>
        </p:nvSpPr>
        <p:spPr>
          <a:xfrm>
            <a:off x="8083296" y="1719072"/>
            <a:ext cx="3337560" cy="416052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83296" y="1719072"/>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993392"/>
            <a:ext cx="2852928" cy="594360"/>
          </a:xfrm>
          <a:prstGeom prst="rect">
            <a:avLst/>
          </a:prstGeom>
          <a:noFill/>
        </p:spPr>
        <p:txBody>
          <a:bodyPr wrap="square" anchor="t" lIns="45720" rIns="45720">
            <a:spAutoFit/>
          </a:bodyPr>
          <a:lstStyle/>
          <a:p>
            <a:pPr algn="l">
              <a:spcAft>
                <a:spcPts val="300"/>
              </a:spcAft>
            </a:pPr>
            <a:r>
              <a:rPr sz="1900" b="1">
                <a:solidFill>
                  <a:srgbClr val="7C3AED"/>
                </a:solidFill>
                <a:latin typeface="Arial"/>
              </a:rPr>
              <a:t>Finish</a:t>
            </a:r>
          </a:p>
        </p:txBody>
      </p:sp>
      <p:sp>
        <p:nvSpPr>
          <p:cNvPr id="33" name="Oval 32"/>
          <p:cNvSpPr/>
          <p:nvPr/>
        </p:nvSpPr>
        <p:spPr>
          <a:xfrm>
            <a:off x="8330184" y="2715768"/>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0184" y="2715768"/>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1</a:t>
            </a:r>
          </a:p>
        </p:txBody>
      </p:sp>
      <p:sp>
        <p:nvSpPr>
          <p:cNvPr id="35" name="TextBox 34"/>
          <p:cNvSpPr txBox="1"/>
          <p:nvPr/>
        </p:nvSpPr>
        <p:spPr>
          <a:xfrm>
            <a:off x="8723376" y="2697480"/>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Submit on LMS</a:t>
            </a:r>
          </a:p>
        </p:txBody>
      </p:sp>
      <p:sp>
        <p:nvSpPr>
          <p:cNvPr id="36" name="Oval 35"/>
          <p:cNvSpPr/>
          <p:nvPr/>
        </p:nvSpPr>
        <p:spPr>
          <a:xfrm>
            <a:off x="8330184" y="3465576"/>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0184" y="3465576"/>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2</a:t>
            </a:r>
          </a:p>
        </p:txBody>
      </p:sp>
      <p:sp>
        <p:nvSpPr>
          <p:cNvPr id="38" name="TextBox 37"/>
          <p:cNvSpPr txBox="1"/>
          <p:nvPr/>
        </p:nvSpPr>
        <p:spPr>
          <a:xfrm>
            <a:off x="8723376" y="3447288"/>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Sign summary record</a:t>
            </a:r>
          </a:p>
        </p:txBody>
      </p:sp>
      <p:sp>
        <p:nvSpPr>
          <p:cNvPr id="39" name="Oval 38"/>
          <p:cNvSpPr/>
          <p:nvPr/>
        </p:nvSpPr>
        <p:spPr>
          <a:xfrm>
            <a:off x="8330184" y="4215383"/>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30184" y="4215383"/>
            <a:ext cx="292608" cy="292608"/>
          </a:xfrm>
          <a:prstGeom prst="rect">
            <a:avLst/>
          </a:prstGeom>
          <a:noFill/>
        </p:spPr>
        <p:txBody>
          <a:bodyPr wrap="square" anchor="ctr" lIns="45720" rIns="45720">
            <a:spAutoFit/>
          </a:bodyPr>
          <a:lstStyle/>
          <a:p>
            <a:pPr algn="ctr">
              <a:spcAft>
                <a:spcPts val="300"/>
              </a:spcAft>
            </a:pPr>
            <a:r>
              <a:rPr sz="1000" b="1">
                <a:solidFill>
                  <a:srgbClr val="FFFFFF"/>
                </a:solidFill>
                <a:latin typeface="Arial"/>
              </a:rPr>
              <a:t>3</a:t>
            </a:r>
          </a:p>
        </p:txBody>
      </p:sp>
      <p:sp>
        <p:nvSpPr>
          <p:cNvPr id="41" name="TextBox 40"/>
          <p:cNvSpPr txBox="1"/>
          <p:nvPr/>
        </p:nvSpPr>
        <p:spPr>
          <a:xfrm>
            <a:off x="8723376" y="4197096"/>
            <a:ext cx="2423160" cy="685800"/>
          </a:xfrm>
          <a:prstGeom prst="rect">
            <a:avLst/>
          </a:prstGeom>
          <a:noFill/>
        </p:spPr>
        <p:txBody>
          <a:bodyPr wrap="square" anchor="t" lIns="45720" rIns="45720">
            <a:spAutoFit/>
          </a:bodyPr>
          <a:lstStyle/>
          <a:p>
            <a:pPr algn="l">
              <a:spcAft>
                <a:spcPts val="300"/>
              </a:spcAft>
            </a:pPr>
            <a:r>
              <a:rPr sz="1300" b="0">
                <a:solidFill>
                  <a:srgbClr val="161B26"/>
                </a:solidFill>
                <a:latin typeface="Arial"/>
              </a:rPr>
              <a:t>Raise appeal if required</a:t>
            </a:r>
          </a:p>
        </p:txBody>
      </p:sp>
      <p:sp>
        <p:nvSpPr>
          <p:cNvPr id="42" name="TextBox 41"/>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43" name="Rectangle 42"/>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45" name="TextBox 44"/>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46" name="TextBox 45"/>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100</a:t>
            </a:r>
          </a:p>
        </p:txBody>
      </p:sp>
    </p:spTree>
  </p:cSld>
  <p:clrMapOvr>
    <a:masterClrMapping/>
  </p:clrMapOvr>
  <p:transition spd="slow">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FINAL CHECK</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Assessment Flow</a:t>
            </a:r>
          </a:p>
        </p:txBody>
      </p:sp>
      <p:sp>
        <p:nvSpPr>
          <p:cNvPr id="6" name="Rounded Rectangle 5"/>
          <p:cNvSpPr/>
          <p:nvPr/>
        </p:nvSpPr>
        <p:spPr>
          <a:xfrm>
            <a:off x="658368"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4168"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4168"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1</a:t>
            </a:r>
          </a:p>
        </p:txBody>
      </p:sp>
      <p:sp>
        <p:nvSpPr>
          <p:cNvPr id="10" name="TextBox 9"/>
          <p:cNvSpPr txBox="1"/>
          <p:nvPr/>
        </p:nvSpPr>
        <p:spPr>
          <a:xfrm>
            <a:off x="777240"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TRAQOM</a:t>
            </a:r>
          </a:p>
        </p:txBody>
      </p:sp>
      <p:sp>
        <p:nvSpPr>
          <p:cNvPr id="11" name="TextBox 10"/>
          <p:cNvSpPr txBox="1"/>
          <p:nvPr/>
        </p:nvSpPr>
        <p:spPr>
          <a:xfrm>
            <a:off x="2651760"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2" name="Rounded Rectangle 11"/>
          <p:cNvSpPr/>
          <p:nvPr/>
        </p:nvSpPr>
        <p:spPr>
          <a:xfrm>
            <a:off x="2880360"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80360" y="2011680"/>
            <a:ext cx="199339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66160" y="2450592"/>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2</a:t>
            </a:r>
          </a:p>
        </p:txBody>
      </p:sp>
      <p:sp>
        <p:nvSpPr>
          <p:cNvPr id="16" name="TextBox 15"/>
          <p:cNvSpPr txBox="1"/>
          <p:nvPr/>
        </p:nvSpPr>
        <p:spPr>
          <a:xfrm>
            <a:off x="2999232"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Assessment digital attendance</a:t>
            </a:r>
          </a:p>
        </p:txBody>
      </p:sp>
      <p:sp>
        <p:nvSpPr>
          <p:cNvPr id="17" name="TextBox 16"/>
          <p:cNvSpPr txBox="1"/>
          <p:nvPr/>
        </p:nvSpPr>
        <p:spPr>
          <a:xfrm>
            <a:off x="4873752"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18" name="Rounded Rectangle 17"/>
          <p:cNvSpPr/>
          <p:nvPr/>
        </p:nvSpPr>
        <p:spPr>
          <a:xfrm>
            <a:off x="5102352"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2011680"/>
            <a:ext cx="1993392"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88152" y="2450592"/>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8152"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3</a:t>
            </a:r>
          </a:p>
        </p:txBody>
      </p:sp>
      <p:sp>
        <p:nvSpPr>
          <p:cNvPr id="22" name="TextBox 21"/>
          <p:cNvSpPr txBox="1"/>
          <p:nvPr/>
        </p:nvSpPr>
        <p:spPr>
          <a:xfrm>
            <a:off x="5221224"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WA-SAQ</a:t>
            </a:r>
          </a:p>
        </p:txBody>
      </p:sp>
      <p:sp>
        <p:nvSpPr>
          <p:cNvPr id="23" name="TextBox 22"/>
          <p:cNvSpPr txBox="1"/>
          <p:nvPr/>
        </p:nvSpPr>
        <p:spPr>
          <a:xfrm>
            <a:off x="7095744"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24" name="Rounded Rectangle 23"/>
          <p:cNvSpPr/>
          <p:nvPr/>
        </p:nvSpPr>
        <p:spPr>
          <a:xfrm>
            <a:off x="7324344"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344" y="2011680"/>
            <a:ext cx="1993392"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0144" y="2450592"/>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0144"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4</a:t>
            </a:r>
          </a:p>
        </p:txBody>
      </p:sp>
      <p:sp>
        <p:nvSpPr>
          <p:cNvPr id="28" name="TextBox 27"/>
          <p:cNvSpPr txBox="1"/>
          <p:nvPr/>
        </p:nvSpPr>
        <p:spPr>
          <a:xfrm>
            <a:off x="7443216"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Case Study</a:t>
            </a:r>
          </a:p>
        </p:txBody>
      </p:sp>
      <p:sp>
        <p:nvSpPr>
          <p:cNvPr id="29" name="TextBox 28"/>
          <p:cNvSpPr txBox="1"/>
          <p:nvPr/>
        </p:nvSpPr>
        <p:spPr>
          <a:xfrm>
            <a:off x="9317736" y="3310128"/>
            <a:ext cx="228600" cy="457200"/>
          </a:xfrm>
          <a:prstGeom prst="rect">
            <a:avLst/>
          </a:prstGeom>
          <a:noFill/>
        </p:spPr>
        <p:txBody>
          <a:bodyPr wrap="square" anchor="t" lIns="45720" rIns="45720">
            <a:spAutoFit/>
          </a:bodyPr>
          <a:lstStyle/>
          <a:p>
            <a:pPr algn="ctr">
              <a:spcAft>
                <a:spcPts val="300"/>
              </a:spcAft>
            </a:pPr>
            <a:r>
              <a:rPr sz="2400" b="1">
                <a:solidFill>
                  <a:srgbClr val="5B6372"/>
                </a:solidFill>
                <a:latin typeface="Arial"/>
              </a:rPr>
              <a:t>›</a:t>
            </a:r>
          </a:p>
        </p:txBody>
      </p:sp>
      <p:sp>
        <p:nvSpPr>
          <p:cNvPr id="30" name="Rounded Rectangle 29"/>
          <p:cNvSpPr/>
          <p:nvPr/>
        </p:nvSpPr>
        <p:spPr>
          <a:xfrm>
            <a:off x="9546336" y="2011680"/>
            <a:ext cx="1993392" cy="3337560"/>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46336" y="2011680"/>
            <a:ext cx="199339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32136" y="2450592"/>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32136" y="2450592"/>
            <a:ext cx="621792" cy="621792"/>
          </a:xfrm>
          <a:prstGeom prst="rect">
            <a:avLst/>
          </a:prstGeom>
          <a:noFill/>
        </p:spPr>
        <p:txBody>
          <a:bodyPr wrap="square" anchor="ctr" lIns="45720" rIns="45720">
            <a:spAutoFit/>
          </a:bodyPr>
          <a:lstStyle/>
          <a:p>
            <a:pPr algn="ctr">
              <a:spcAft>
                <a:spcPts val="300"/>
              </a:spcAft>
            </a:pPr>
            <a:r>
              <a:rPr sz="2100" b="1">
                <a:solidFill>
                  <a:srgbClr val="FFFFFF"/>
                </a:solidFill>
                <a:latin typeface="Arial"/>
              </a:rPr>
              <a:t>5</a:t>
            </a:r>
          </a:p>
        </p:txBody>
      </p:sp>
      <p:sp>
        <p:nvSpPr>
          <p:cNvPr id="34" name="TextBox 33"/>
          <p:cNvSpPr txBox="1"/>
          <p:nvPr/>
        </p:nvSpPr>
        <p:spPr>
          <a:xfrm>
            <a:off x="9665208" y="3310128"/>
            <a:ext cx="1755648" cy="1325880"/>
          </a:xfrm>
          <a:prstGeom prst="rect">
            <a:avLst/>
          </a:prstGeom>
          <a:noFill/>
        </p:spPr>
        <p:txBody>
          <a:bodyPr wrap="square" anchor="t" lIns="45720" rIns="45720">
            <a:spAutoFit/>
          </a:bodyPr>
          <a:lstStyle/>
          <a:p>
            <a:pPr algn="ctr">
              <a:spcAft>
                <a:spcPts val="300"/>
              </a:spcAft>
            </a:pPr>
            <a:r>
              <a:rPr sz="1300" b="0">
                <a:solidFill>
                  <a:srgbClr val="161B26"/>
                </a:solidFill>
                <a:latin typeface="Arial"/>
              </a:rPr>
              <a:t>Submit and sign</a:t>
            </a:r>
          </a:p>
        </p:txBody>
      </p:sp>
      <p:sp>
        <p:nvSpPr>
          <p:cNvPr id="35" name="TextBox 34"/>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6" name="Rectangle 35"/>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8" name="TextBox 37"/>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101</a:t>
            </a:r>
          </a:p>
        </p:txBody>
      </p:sp>
    </p:spTree>
  </p:cSld>
  <p:clrMapOvr>
    <a:masterClrMapping/>
  </p:clrMapOvr>
  <p:transition spd="slow">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93192"/>
            <a:ext cx="10881360" cy="310896"/>
          </a:xfrm>
          <a:prstGeom prst="rect">
            <a:avLst/>
          </a:prstGeom>
          <a:noFill/>
        </p:spPr>
        <p:txBody>
          <a:bodyPr wrap="square" anchor="t" lIns="45720" rIns="45720">
            <a:spAutoFit/>
          </a:bodyPr>
          <a:lstStyle/>
          <a:p>
            <a:pPr algn="l">
              <a:spcAft>
                <a:spcPts val="300"/>
              </a:spcAft>
            </a:pPr>
            <a:r>
              <a:rPr sz="1200" b="1">
                <a:solidFill>
                  <a:srgbClr val="1F6FEB"/>
                </a:solidFill>
                <a:latin typeface="Arial"/>
              </a:rPr>
              <a:t>TRAQOM | SSG</a:t>
            </a:r>
          </a:p>
        </p:txBody>
      </p:sp>
      <p:sp>
        <p:nvSpPr>
          <p:cNvPr id="5" name="TextBox 4"/>
          <p:cNvSpPr txBox="1"/>
          <p:nvPr/>
        </p:nvSpPr>
        <p:spPr>
          <a:xfrm>
            <a:off x="658368" y="749808"/>
            <a:ext cx="10881360" cy="749808"/>
          </a:xfrm>
          <a:prstGeom prst="rect">
            <a:avLst/>
          </a:prstGeom>
          <a:noFill/>
        </p:spPr>
        <p:txBody>
          <a:bodyPr wrap="square" anchor="t" lIns="45720" rIns="45720">
            <a:spAutoFit/>
          </a:bodyPr>
          <a:lstStyle/>
          <a:p>
            <a:pPr algn="l">
              <a:spcAft>
                <a:spcPts val="300"/>
              </a:spcAft>
            </a:pPr>
            <a:r>
              <a:rPr sz="2800" b="1">
                <a:solidFill>
                  <a:srgbClr val="161B26"/>
                </a:solidFill>
                <a:latin typeface="Arial"/>
              </a:rPr>
              <a:t>Digital Attendance (Mandatory)</a:t>
            </a:r>
          </a:p>
        </p:txBody>
      </p:sp>
      <p:sp>
        <p:nvSpPr>
          <p:cNvPr id="6" name="Rounded Rectangle 5"/>
          <p:cNvSpPr/>
          <p:nvPr/>
        </p:nvSpPr>
        <p:spPr>
          <a:xfrm>
            <a:off x="658368"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73352"/>
            <a:ext cx="73152" cy="20299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83664"/>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1</a:t>
            </a:r>
          </a:p>
        </p:txBody>
      </p:sp>
      <p:sp>
        <p:nvSpPr>
          <p:cNvPr id="10" name="TextBox 9"/>
          <p:cNvSpPr txBox="1"/>
          <p:nvPr/>
        </p:nvSpPr>
        <p:spPr>
          <a:xfrm>
            <a:off x="1444752" y="1837944"/>
            <a:ext cx="4343400" cy="420624"/>
          </a:xfrm>
          <a:prstGeom prst="rect">
            <a:avLst/>
          </a:prstGeom>
          <a:noFill/>
        </p:spPr>
        <p:txBody>
          <a:bodyPr wrap="square" anchor="t" lIns="45720" rIns="45720">
            <a:spAutoFit/>
          </a:bodyPr>
          <a:lstStyle/>
          <a:p>
            <a:pPr algn="l">
              <a:spcAft>
                <a:spcPts val="300"/>
              </a:spcAft>
            </a:pPr>
            <a:r>
              <a:rPr sz="1600" b="1">
                <a:solidFill>
                  <a:srgbClr val="1F6FEB"/>
                </a:solidFill>
                <a:latin typeface="Arial"/>
              </a:rPr>
              <a:t>AM</a:t>
            </a:r>
          </a:p>
        </p:txBody>
      </p:sp>
      <p:sp>
        <p:nvSpPr>
          <p:cNvPr id="11" name="TextBox 10"/>
          <p:cNvSpPr txBox="1"/>
          <p:nvPr/>
        </p:nvSpPr>
        <p:spPr>
          <a:xfrm>
            <a:off x="1444752"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Completed at the start of class</a:t>
            </a:r>
          </a:p>
        </p:txBody>
      </p:sp>
      <p:sp>
        <p:nvSpPr>
          <p:cNvPr id="12" name="Rounded Rectangle 11"/>
          <p:cNvSpPr/>
          <p:nvPr/>
        </p:nvSpPr>
        <p:spPr>
          <a:xfrm>
            <a:off x="6208776" y="1673352"/>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1673352"/>
            <a:ext cx="73152" cy="20299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9944" y="188366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83664"/>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2</a:t>
            </a:r>
          </a:p>
        </p:txBody>
      </p:sp>
      <p:sp>
        <p:nvSpPr>
          <p:cNvPr id="16" name="TextBox 15"/>
          <p:cNvSpPr txBox="1"/>
          <p:nvPr/>
        </p:nvSpPr>
        <p:spPr>
          <a:xfrm>
            <a:off x="6995160" y="1837944"/>
            <a:ext cx="4343400" cy="420624"/>
          </a:xfrm>
          <a:prstGeom prst="rect">
            <a:avLst/>
          </a:prstGeom>
          <a:noFill/>
        </p:spPr>
        <p:txBody>
          <a:bodyPr wrap="square" anchor="t" lIns="45720" rIns="45720">
            <a:spAutoFit/>
          </a:bodyPr>
          <a:lstStyle/>
          <a:p>
            <a:pPr algn="l">
              <a:spcAft>
                <a:spcPts val="300"/>
              </a:spcAft>
            </a:pPr>
            <a:r>
              <a:rPr sz="1600" b="1">
                <a:solidFill>
                  <a:srgbClr val="10B981"/>
                </a:solidFill>
                <a:latin typeface="Arial"/>
              </a:rPr>
              <a:t>PM</a:t>
            </a:r>
          </a:p>
        </p:txBody>
      </p:sp>
      <p:sp>
        <p:nvSpPr>
          <p:cNvPr id="17" name="TextBox 16"/>
          <p:cNvSpPr txBox="1"/>
          <p:nvPr/>
        </p:nvSpPr>
        <p:spPr>
          <a:xfrm>
            <a:off x="6995160" y="2313432"/>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Completed after lunch</a:t>
            </a:r>
          </a:p>
        </p:txBody>
      </p:sp>
      <p:sp>
        <p:nvSpPr>
          <p:cNvPr id="18" name="Rounded Rectangle 17"/>
          <p:cNvSpPr/>
          <p:nvPr/>
        </p:nvSpPr>
        <p:spPr>
          <a:xfrm>
            <a:off x="658368"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904488"/>
            <a:ext cx="73152" cy="20299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9536" y="41148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3</a:t>
            </a:r>
          </a:p>
        </p:txBody>
      </p:sp>
      <p:sp>
        <p:nvSpPr>
          <p:cNvPr id="22" name="TextBox 21"/>
          <p:cNvSpPr txBox="1"/>
          <p:nvPr/>
        </p:nvSpPr>
        <p:spPr>
          <a:xfrm>
            <a:off x="1444752" y="4069080"/>
            <a:ext cx="4343400" cy="420624"/>
          </a:xfrm>
          <a:prstGeom prst="rect">
            <a:avLst/>
          </a:prstGeom>
          <a:noFill/>
        </p:spPr>
        <p:txBody>
          <a:bodyPr wrap="square" anchor="t" lIns="45720" rIns="45720">
            <a:spAutoFit/>
          </a:bodyPr>
          <a:lstStyle/>
          <a:p>
            <a:pPr algn="l">
              <a:spcAft>
                <a:spcPts val="300"/>
              </a:spcAft>
            </a:pPr>
            <a:r>
              <a:rPr sz="1600" b="1">
                <a:solidFill>
                  <a:srgbClr val="7C3AED"/>
                </a:solidFill>
                <a:latin typeface="Arial"/>
              </a:rPr>
              <a:t>Assessment</a:t>
            </a:r>
          </a:p>
        </p:txBody>
      </p:sp>
      <p:sp>
        <p:nvSpPr>
          <p:cNvPr id="23" name="TextBox 22"/>
          <p:cNvSpPr txBox="1"/>
          <p:nvPr/>
        </p:nvSpPr>
        <p:spPr>
          <a:xfrm>
            <a:off x="1444752"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Complete the assessment digital attendance now</a:t>
            </a:r>
          </a:p>
        </p:txBody>
      </p:sp>
      <p:sp>
        <p:nvSpPr>
          <p:cNvPr id="24" name="Rounded Rectangle 23"/>
          <p:cNvSpPr/>
          <p:nvPr/>
        </p:nvSpPr>
        <p:spPr>
          <a:xfrm>
            <a:off x="6208776" y="3904488"/>
            <a:ext cx="5330952" cy="2029968"/>
          </a:xfrm>
          <a:prstGeom prst="roundRect">
            <a:avLst/>
          </a:prstGeom>
          <a:solidFill>
            <a:srgbClr val="F5F8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3904488"/>
            <a:ext cx="73152" cy="20299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09944" y="41148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4114800"/>
            <a:ext cx="457200" cy="457200"/>
          </a:xfrm>
          <a:prstGeom prst="rect">
            <a:avLst/>
          </a:prstGeom>
          <a:noFill/>
        </p:spPr>
        <p:txBody>
          <a:bodyPr wrap="square" anchor="ctr" lIns="45720" rIns="45720">
            <a:spAutoFit/>
          </a:bodyPr>
          <a:lstStyle/>
          <a:p>
            <a:pPr algn="ctr">
              <a:spcAft>
                <a:spcPts val="300"/>
              </a:spcAft>
            </a:pPr>
            <a:r>
              <a:rPr sz="1500" b="1">
                <a:solidFill>
                  <a:srgbClr val="FFFFFF"/>
                </a:solidFill>
                <a:latin typeface="Arial"/>
              </a:rPr>
              <a:t>4</a:t>
            </a:r>
          </a:p>
        </p:txBody>
      </p:sp>
      <p:sp>
        <p:nvSpPr>
          <p:cNvPr id="28" name="TextBox 27"/>
          <p:cNvSpPr txBox="1"/>
          <p:nvPr/>
        </p:nvSpPr>
        <p:spPr>
          <a:xfrm>
            <a:off x="6995160" y="4069080"/>
            <a:ext cx="4343400" cy="420624"/>
          </a:xfrm>
          <a:prstGeom prst="rect">
            <a:avLst/>
          </a:prstGeom>
          <a:noFill/>
        </p:spPr>
        <p:txBody>
          <a:bodyPr wrap="square" anchor="t" lIns="45720" rIns="45720">
            <a:spAutoFit/>
          </a:bodyPr>
          <a:lstStyle/>
          <a:p>
            <a:pPr algn="l">
              <a:spcAft>
                <a:spcPts val="300"/>
              </a:spcAft>
            </a:pPr>
            <a:r>
              <a:rPr sz="1600" b="1">
                <a:solidFill>
                  <a:srgbClr val="F59E0B"/>
                </a:solidFill>
                <a:latin typeface="Arial"/>
              </a:rPr>
              <a:t>Evidence</a:t>
            </a:r>
          </a:p>
        </p:txBody>
      </p:sp>
      <p:sp>
        <p:nvSpPr>
          <p:cNvPr id="29" name="TextBox 28"/>
          <p:cNvSpPr txBox="1"/>
          <p:nvPr/>
        </p:nvSpPr>
        <p:spPr>
          <a:xfrm>
            <a:off x="6995160" y="4544568"/>
            <a:ext cx="4343400" cy="1261872"/>
          </a:xfrm>
          <a:prstGeom prst="rect">
            <a:avLst/>
          </a:prstGeom>
          <a:noFill/>
        </p:spPr>
        <p:txBody>
          <a:bodyPr wrap="square" anchor="t" lIns="45720" rIns="45720">
            <a:spAutoFit/>
          </a:bodyPr>
          <a:lstStyle/>
          <a:p>
            <a:pPr algn="l">
              <a:spcAft>
                <a:spcPts val="300"/>
              </a:spcAft>
            </a:pPr>
            <a:r>
              <a:rPr sz="1400" b="0">
                <a:solidFill>
                  <a:srgbClr val="161B26"/>
                </a:solidFill>
                <a:latin typeface="Arial"/>
              </a:rPr>
              <a:t>The SSG attendance record is authoritative</a:t>
            </a:r>
          </a:p>
        </p:txBody>
      </p:sp>
      <p:sp>
        <p:nvSpPr>
          <p:cNvPr id="30" name="TextBox 29"/>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31" name="Rectangle 30"/>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33" name="TextBox 32"/>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102</a:t>
            </a:r>
          </a:p>
        </p:txBody>
      </p:sp>
    </p:spTree>
  </p:cSld>
  <p:clrMapOvr>
    <a:masterClrMapping/>
  </p:clrMapOvr>
  <p:transition spd="slow">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2551" cy="68488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488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10241280" cy="365760"/>
          </a:xfrm>
          <a:prstGeom prst="rect">
            <a:avLst/>
          </a:prstGeom>
          <a:noFill/>
        </p:spPr>
        <p:txBody>
          <a:bodyPr wrap="square" anchor="t" lIns="45720" rIns="45720">
            <a:spAutoFit/>
          </a:bodyPr>
          <a:lstStyle/>
          <a:p>
            <a:pPr algn="l">
              <a:spcAft>
                <a:spcPts val="300"/>
              </a:spcAft>
            </a:pPr>
            <a:r>
              <a:rPr sz="1400" b="1">
                <a:solidFill>
                  <a:srgbClr val="10B981"/>
                </a:solidFill>
                <a:latin typeface="Arial"/>
              </a:rPr>
              <a:t>CORPORATE LAW COMPLIANCE</a:t>
            </a:r>
          </a:p>
        </p:txBody>
      </p:sp>
      <p:sp>
        <p:nvSpPr>
          <p:cNvPr id="5" name="TextBox 4"/>
          <p:cNvSpPr txBox="1"/>
          <p:nvPr/>
        </p:nvSpPr>
        <p:spPr>
          <a:xfrm>
            <a:off x="868680" y="1965960"/>
            <a:ext cx="10241280" cy="2103120"/>
          </a:xfrm>
          <a:prstGeom prst="rect">
            <a:avLst/>
          </a:prstGeom>
          <a:noFill/>
        </p:spPr>
        <p:txBody>
          <a:bodyPr wrap="square" anchor="t" lIns="45720" rIns="45720">
            <a:spAutoFit/>
          </a:bodyPr>
          <a:lstStyle/>
          <a:p>
            <a:pPr algn="l">
              <a:spcAft>
                <a:spcPts val="300"/>
              </a:spcAft>
            </a:pPr>
            <a:r>
              <a:rPr sz="3400" b="1">
                <a:solidFill>
                  <a:srgbClr val="172B4D"/>
                </a:solidFill>
                <a:latin typeface="Arial"/>
              </a:rPr>
              <a:t>Thank You</a:t>
            </a:r>
          </a:p>
        </p:txBody>
      </p:sp>
      <p:sp>
        <p:nvSpPr>
          <p:cNvPr id="6" name="TextBox 5"/>
          <p:cNvSpPr txBox="1"/>
          <p:nvPr/>
        </p:nvSpPr>
        <p:spPr>
          <a:xfrm>
            <a:off x="896112" y="4315968"/>
            <a:ext cx="9875520" cy="1097280"/>
          </a:xfrm>
          <a:prstGeom prst="rect">
            <a:avLst/>
          </a:prstGeom>
          <a:noFill/>
        </p:spPr>
        <p:txBody>
          <a:bodyPr wrap="square" anchor="t" lIns="45720" rIns="45720">
            <a:spAutoFit/>
          </a:bodyPr>
          <a:lstStyle/>
          <a:p>
            <a:pPr algn="l">
              <a:spcAft>
                <a:spcPts val="300"/>
              </a:spcAft>
            </a:pPr>
            <a:r>
              <a:rPr sz="1800" b="0">
                <a:solidFill>
                  <a:srgbClr val="5B6372"/>
                </a:solidFill>
                <a:latin typeface="Arial"/>
              </a:rPr>
              <a:t>Apply the frameworks with current regulator guidance and qualified advice where the facts require it.</a:t>
            </a:r>
          </a:p>
        </p:txBody>
      </p:sp>
      <p:sp>
        <p:nvSpPr>
          <p:cNvPr id="7" name="TextBox 6"/>
          <p:cNvSpPr txBox="1"/>
          <p:nvPr/>
        </p:nvSpPr>
        <p:spPr>
          <a:xfrm>
            <a:off x="384048" y="6144768"/>
            <a:ext cx="11384280" cy="201168"/>
          </a:xfrm>
          <a:prstGeom prst="rect">
            <a:avLst/>
          </a:prstGeom>
          <a:noFill/>
        </p:spPr>
        <p:txBody>
          <a:bodyPr wrap="square" anchor="t" lIns="45720" rIns="45720">
            <a:spAutoFit/>
          </a:bodyPr>
          <a:lstStyle/>
          <a:p>
            <a:pPr algn="l">
              <a:spcAft>
                <a:spcPts val="300"/>
              </a:spcAft>
            </a:pPr>
            <a:r>
              <a:rPr sz="850" b="0">
                <a:solidFill>
                  <a:srgbClr val="5B6372"/>
                </a:solidFill>
                <a:latin typeface="Arial"/>
              </a:rPr>
              <a:t>Source: Course proposal and approved TSC mapping</a:t>
            </a:r>
          </a:p>
        </p:txBody>
      </p:sp>
      <p:sp>
        <p:nvSpPr>
          <p:cNvPr id="8" name="Rectangle 7"/>
          <p:cNvSpPr/>
          <p:nvPr/>
        </p:nvSpPr>
        <p:spPr>
          <a:xfrm>
            <a:off x="384048" y="6382512"/>
            <a:ext cx="11384280"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6437376"/>
            <a:ext cx="5303520" cy="219456"/>
          </a:xfrm>
          <a:prstGeom prst="rect">
            <a:avLst/>
          </a:prstGeom>
          <a:noFill/>
        </p:spPr>
        <p:txBody>
          <a:bodyPr wrap="square" anchor="t" lIns="45720" rIns="45720">
            <a:spAutoFit/>
          </a:bodyPr>
          <a:lstStyle/>
          <a:p>
            <a:pPr algn="l">
              <a:spcAft>
                <a:spcPts val="300"/>
              </a:spcAft>
            </a:pPr>
            <a:r>
              <a:rPr sz="800" b="0">
                <a:solidFill>
                  <a:srgbClr val="5B6372"/>
                </a:solidFill>
                <a:latin typeface="Arial"/>
              </a:rPr>
              <a:t>Corporate Law Compliance for Business Owners | TGS-2025053923</a:t>
            </a:r>
          </a:p>
        </p:txBody>
      </p:sp>
      <p:sp>
        <p:nvSpPr>
          <p:cNvPr id="10" name="TextBox 9"/>
          <p:cNvSpPr txBox="1"/>
          <p:nvPr/>
        </p:nvSpPr>
        <p:spPr>
          <a:xfrm>
            <a:off x="4251960" y="6437376"/>
            <a:ext cx="4023360" cy="219456"/>
          </a:xfrm>
          <a:prstGeom prst="rect">
            <a:avLst/>
          </a:prstGeom>
          <a:noFill/>
        </p:spPr>
        <p:txBody>
          <a:bodyPr wrap="square" anchor="t" lIns="45720" rIns="45720">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137392" y="6437376"/>
            <a:ext cx="594360" cy="219456"/>
          </a:xfrm>
          <a:prstGeom prst="rect">
            <a:avLst/>
          </a:prstGeom>
          <a:noFill/>
        </p:spPr>
        <p:txBody>
          <a:bodyPr wrap="square" anchor="t" lIns="45720" rIns="45720">
            <a:spAutoFit/>
          </a:bodyPr>
          <a:lstStyle/>
          <a:p>
            <a:pPr algn="r">
              <a:spcAft>
                <a:spcPts val="300"/>
              </a:spcAft>
            </a:pPr>
            <a:r>
              <a:rPr sz="800" b="0">
                <a:solidFill>
                  <a:srgbClr val="5B6372"/>
                </a:solidFill>
                <a:latin typeface="Arial"/>
              </a:rPr>
              <a:t>103</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