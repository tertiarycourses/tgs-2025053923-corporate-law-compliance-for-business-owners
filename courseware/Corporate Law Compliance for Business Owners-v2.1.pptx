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hyperlink" Target="https://github.com/tertiarycourses/TGS-2025053923-Corporate-Law-Compliance-for-Business-Owner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82880"/>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82551" cy="1737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685800" y="502920"/>
            <a:ext cx="804672" cy="804672"/>
          </a:xfrm>
          <a:prstGeom prst="rect">
            <a:avLst/>
          </a:prstGeom>
        </p:spPr>
      </p:pic>
      <p:sp>
        <p:nvSpPr>
          <p:cNvPr id="6" name="TextBox 5"/>
          <p:cNvSpPr txBox="1"/>
          <p:nvPr/>
        </p:nvSpPr>
        <p:spPr>
          <a:xfrm>
            <a:off x="731520" y="1572768"/>
            <a:ext cx="10789920" cy="320040"/>
          </a:xfrm>
          <a:prstGeom prst="rect">
            <a:avLst/>
          </a:prstGeom>
          <a:noFill/>
        </p:spPr>
        <p:txBody>
          <a:bodyPr wrap="square" anchor="t" lIns="45720" rIns="45720">
            <a:spAutoFit/>
          </a:bodyPr>
          <a:lstStyle/>
          <a:p>
            <a:pPr algn="l">
              <a:spcAft>
                <a:spcPts val="300"/>
              </a:spcAft>
            </a:pPr>
            <a:r>
              <a:rPr sz="1500" b="1">
                <a:solidFill>
                  <a:srgbClr val="1F6FEB"/>
                </a:solidFill>
                <a:latin typeface="Arial"/>
              </a:rPr>
              <a:t>WSQ COURSE SLIDES</a:t>
            </a:r>
          </a:p>
        </p:txBody>
      </p:sp>
      <p:sp>
        <p:nvSpPr>
          <p:cNvPr id="7" name="TextBox 6"/>
          <p:cNvSpPr txBox="1"/>
          <p:nvPr/>
        </p:nvSpPr>
        <p:spPr>
          <a:xfrm>
            <a:off x="731520" y="1993392"/>
            <a:ext cx="10789920" cy="1325880"/>
          </a:xfrm>
          <a:prstGeom prst="rect">
            <a:avLst/>
          </a:prstGeom>
          <a:noFill/>
        </p:spPr>
        <p:txBody>
          <a:bodyPr wrap="square" anchor="t" lIns="45720" rIns="45720">
            <a:spAutoFit/>
          </a:bodyPr>
          <a:lstStyle/>
          <a:p>
            <a:pPr algn="l">
              <a:spcAft>
                <a:spcPts val="300"/>
              </a:spcAft>
            </a:pPr>
            <a:r>
              <a:rPr sz="3800" b="1">
                <a:solidFill>
                  <a:srgbClr val="172B4D"/>
                </a:solidFill>
                <a:latin typeface="Arial"/>
              </a:rPr>
              <a:t>Corporate Law Compliance for Business Owners</a:t>
            </a:r>
          </a:p>
        </p:txBody>
      </p:sp>
      <p:sp>
        <p:nvSpPr>
          <p:cNvPr id="8" name="Rectangle 7"/>
          <p:cNvSpPr/>
          <p:nvPr/>
        </p:nvSpPr>
        <p:spPr>
          <a:xfrm>
            <a:off x="749808" y="3493008"/>
            <a:ext cx="224028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22191"/>
            <a:ext cx="10789920" cy="1371600"/>
          </a:xfrm>
          <a:prstGeom prst="rect">
            <a:avLst/>
          </a:prstGeom>
          <a:noFill/>
        </p:spPr>
        <p:txBody>
          <a:bodyPr wrap="square" anchor="t" lIns="45720" rIns="45720">
            <a:spAutoFit/>
          </a:bodyPr>
          <a:lstStyle/>
          <a:p>
            <a:pPr algn="l">
              <a:spcAft>
                <a:spcPts val="300"/>
              </a:spcAft>
            </a:pPr>
            <a:r>
              <a:rPr sz="1600" b="1">
                <a:solidFill>
                  <a:srgbClr val="161B26"/>
                </a:solidFill>
                <a:latin typeface="Arial"/>
              </a:rPr>
              <a:t>Course Code: TGS-2025053923</a:t>
            </a:r>
          </a:p>
          <a:p>
            <a:pPr algn="l">
              <a:spcAft>
                <a:spcPts val="300"/>
              </a:spcAft>
            </a:pPr>
            <a:r>
              <a:rPr sz="1400" b="0">
                <a:solidFill>
                  <a:srgbClr val="5B6372"/>
                </a:solidFill>
                <a:latin typeface="Arial"/>
              </a:rPr>
              <a:t>TSC: ACC-BLR-5001-1.1 | Corporate and Business Law</a:t>
            </a:r>
          </a:p>
          <a:p>
            <a:pPr algn="l">
              <a:spcAft>
                <a:spcPts val="300"/>
              </a:spcAft>
            </a:pPr>
            <a:r>
              <a:rPr sz="1400" b="0">
                <a:solidFill>
                  <a:srgbClr val="5B6372"/>
                </a:solidFill>
                <a:latin typeface="Arial"/>
              </a:rPr>
              <a:t>Conducted by Tertiary Infotech Academy Pte Ltd | UEN 201200696W</a:t>
            </a:r>
          </a:p>
          <a:p>
            <a:pPr algn="l">
              <a:spcAft>
                <a:spcPts val="300"/>
              </a:spcAft>
            </a:pPr>
            <a:r>
              <a:rPr sz="1400" b="0">
                <a:solidFill>
                  <a:srgbClr val="5B6372"/>
                </a:solidFill>
                <a:latin typeface="Arial"/>
              </a:rPr>
              <a:t>Trainer: Dr Alfred Ang</a:t>
            </a:r>
          </a:p>
        </p:txBody>
      </p:sp>
      <p:sp>
        <p:nvSpPr>
          <p:cNvPr id="10" name="TextBox 9"/>
          <p:cNvSpPr txBox="1"/>
          <p:nvPr/>
        </p:nvSpPr>
        <p:spPr>
          <a:xfrm>
            <a:off x="731520" y="5833872"/>
            <a:ext cx="10789920" cy="365760"/>
          </a:xfrm>
          <a:prstGeom prst="rect">
            <a:avLst/>
          </a:prstGeom>
          <a:noFill/>
        </p:spPr>
        <p:txBody>
          <a:bodyPr wrap="square" anchor="t" lIns="45720" rIns="45720">
            <a:spAutoFit/>
          </a:bodyPr>
          <a:lstStyle/>
          <a:p>
            <a:pPr algn="l">
              <a:spcAft>
                <a:spcPts val="300"/>
              </a:spcAft>
            </a:pPr>
            <a:r>
              <a:rPr sz="1200" b="0">
                <a:solidFill>
                  <a:srgbClr val="5B6372"/>
                </a:solidFill>
                <a:latin typeface="Arial"/>
              </a:rPr>
              <a:t>Version v2.1 | 12 August 2026</a:t>
            </a:r>
          </a:p>
        </p:txBody>
      </p:sp>
      <p:sp>
        <p:nvSpPr>
          <p:cNvPr id="11" name="TextBox 10"/>
          <p:cNvSpPr txBox="1"/>
          <p:nvPr/>
        </p:nvSpPr>
        <p:spPr>
          <a:xfrm>
            <a:off x="731520" y="6236208"/>
            <a:ext cx="10789920" cy="228600"/>
          </a:xfrm>
          <a:prstGeom prst="rect">
            <a:avLst/>
          </a:prstGeom>
          <a:noFill/>
        </p:spPr>
        <p:txBody>
          <a:bodyPr wrap="square" anchor="t" lIns="45720" rIns="45720">
            <a:spAutoFit/>
          </a:bodyPr>
          <a:lstStyle/>
          <a:p>
            <a:pPr algn="l">
              <a:spcAft>
                <a:spcPts val="300"/>
              </a:spcAft>
            </a:pPr>
            <a:r>
              <a:rPr sz="900" b="0">
                <a:solidFill>
                  <a:srgbClr val="5B6372"/>
                </a:solidFill>
                <a:latin typeface="Arial"/>
              </a:rPr>
              <a:t>© 2026 Tertiary Infotech Academy Pte Ltd. All rights reserved.</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TRAQOM | SSG DIGITAL ATTENDANCE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Digital Attendance (Mandatory)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AM</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Scan and submit the SSG digital attendance at the start of class.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PM</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PM attendance after lunch.</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Assessment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separate assessment attendance before the assessment.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Eligibility</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At least 75% attendance is required for funding/assessment eligibility.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5B6372"/>
                </a:solidFill>
                <a:latin typeface="Arial"/>
              </a:rPr>
              <a:t>FACILITATOR CAPABILITY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Trainer Standards</a:t>
            </a:r>
          </a:p>
        </p:txBody>
      </p:sp>
      <p:sp>
        <p:nvSpPr>
          <p:cNvPr id="6" name="Rounded Rectangle 5"/>
          <p:cNvSpPr/>
          <p:nvPr/>
        </p:nvSpPr>
        <p:spPr>
          <a:xfrm>
            <a:off x="658368" y="1700784"/>
            <a:ext cx="324612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64208" y="2084831"/>
            <a:ext cx="1234440" cy="123444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84831"/>
            <a:ext cx="1234440" cy="1234440"/>
          </a:xfrm>
          <a:prstGeom prst="rect">
            <a:avLst/>
          </a:prstGeom>
          <a:noFill/>
        </p:spPr>
        <p:txBody>
          <a:bodyPr wrap="square" anchor="ctr" lIns="45720" rIns="45720">
            <a:spAutoFit/>
          </a:bodyPr>
          <a:lstStyle/>
          <a:p>
            <a:pPr algn="ctr">
              <a:spcAft>
                <a:spcPts val="300"/>
              </a:spcAft>
            </a:pPr>
            <a:r>
              <a:rPr sz="3800" b="1">
                <a:solidFill>
                  <a:srgbClr val="FFFFFF"/>
                </a:solidFill>
                <a:latin typeface="Arial"/>
              </a:rPr>
              <a:t>✓</a:t>
            </a:r>
          </a:p>
        </p:txBody>
      </p:sp>
      <p:sp>
        <p:nvSpPr>
          <p:cNvPr id="9" name="TextBox 8"/>
          <p:cNvSpPr txBox="1"/>
          <p:nvPr/>
        </p:nvSpPr>
        <p:spPr>
          <a:xfrm>
            <a:off x="868680" y="3611880"/>
            <a:ext cx="2816352" cy="502920"/>
          </a:xfrm>
          <a:prstGeom prst="rect">
            <a:avLst/>
          </a:prstGeom>
          <a:noFill/>
        </p:spPr>
        <p:txBody>
          <a:bodyPr wrap="square" anchor="t" lIns="45720" rIns="45720">
            <a:spAutoFit/>
          </a:bodyPr>
          <a:lstStyle/>
          <a:p>
            <a:pPr algn="ctr">
              <a:spcAft>
                <a:spcPts val="300"/>
              </a:spcAft>
            </a:pPr>
            <a:r>
              <a:rPr sz="2000" b="1">
                <a:solidFill>
                  <a:srgbClr val="161B26"/>
                </a:solidFill>
                <a:latin typeface="Arial"/>
              </a:rPr>
              <a:t>Qualified Facilitator</a:t>
            </a:r>
          </a:p>
        </p:txBody>
      </p:sp>
      <p:sp>
        <p:nvSpPr>
          <p:cNvPr id="10" name="TextBox 9"/>
          <p:cNvSpPr txBox="1"/>
          <p:nvPr/>
        </p:nvSpPr>
        <p:spPr>
          <a:xfrm>
            <a:off x="868680" y="4187952"/>
            <a:ext cx="2816352" cy="640080"/>
          </a:xfrm>
          <a:prstGeom prst="rect">
            <a:avLst/>
          </a:prstGeom>
          <a:noFill/>
        </p:spPr>
        <p:txBody>
          <a:bodyPr wrap="square" anchor="t" lIns="45720" rIns="45720">
            <a:spAutoFit/>
          </a:bodyPr>
          <a:lstStyle/>
          <a:p>
            <a:pPr algn="ctr">
              <a:spcAft>
                <a:spcPts val="300"/>
              </a:spcAft>
            </a:pPr>
            <a:r>
              <a:rPr sz="1250" b="0">
                <a:solidFill>
                  <a:srgbClr val="5B6372"/>
                </a:solidFill>
                <a:latin typeface="Arial"/>
              </a:rPr>
              <a:t>Course delivery standard</a:t>
            </a:r>
          </a:p>
        </p:txBody>
      </p:sp>
      <p:sp>
        <p:nvSpPr>
          <p:cNvPr id="11" name="Rounded Rectangle 10"/>
          <p:cNvSpPr/>
          <p:nvPr/>
        </p:nvSpPr>
        <p:spPr>
          <a:xfrm>
            <a:off x="4224528" y="1700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7647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ADULT EDUCATION</a:t>
            </a:r>
          </a:p>
        </p:txBody>
      </p:sp>
      <p:sp>
        <p:nvSpPr>
          <p:cNvPr id="13" name="TextBox 12"/>
          <p:cNvSpPr txBox="1"/>
          <p:nvPr/>
        </p:nvSpPr>
        <p:spPr>
          <a:xfrm>
            <a:off x="6446520" y="1764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WSQ-certified adult educator</a:t>
            </a:r>
          </a:p>
        </p:txBody>
      </p:sp>
      <p:sp>
        <p:nvSpPr>
          <p:cNvPr id="14" name="Rounded Rectangle 13"/>
          <p:cNvSpPr/>
          <p:nvPr/>
        </p:nvSpPr>
        <p:spPr>
          <a:xfrm>
            <a:off x="4224528" y="23865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4505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LEGAL BOUNDARIES</a:t>
            </a:r>
          </a:p>
        </p:txBody>
      </p:sp>
      <p:sp>
        <p:nvSpPr>
          <p:cNvPr id="16" name="TextBox 15"/>
          <p:cNvSpPr txBox="1"/>
          <p:nvPr/>
        </p:nvSpPr>
        <p:spPr>
          <a:xfrm>
            <a:off x="6446520" y="24505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Distinguishes education from legal advice</a:t>
            </a:r>
          </a:p>
        </p:txBody>
      </p:sp>
      <p:sp>
        <p:nvSpPr>
          <p:cNvPr id="17" name="Rounded Rectangle 16"/>
          <p:cNvSpPr/>
          <p:nvPr/>
        </p:nvSpPr>
        <p:spPr>
          <a:xfrm>
            <a:off x="4224528" y="30723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136392"/>
            <a:ext cx="2011680" cy="210312"/>
          </a:xfrm>
          <a:prstGeom prst="rect">
            <a:avLst/>
          </a:prstGeom>
          <a:noFill/>
        </p:spPr>
        <p:txBody>
          <a:bodyPr wrap="square" anchor="t" lIns="45720" rIns="45720">
            <a:spAutoFit/>
          </a:bodyPr>
          <a:lstStyle/>
          <a:p>
            <a:pPr algn="l">
              <a:spcAft>
                <a:spcPts val="300"/>
              </a:spcAft>
            </a:pPr>
            <a:r>
              <a:rPr sz="950" b="1">
                <a:solidFill>
                  <a:srgbClr val="7C3AED"/>
                </a:solidFill>
                <a:latin typeface="Arial"/>
              </a:rPr>
              <a:t>SOURCE DISCIPLINE</a:t>
            </a:r>
          </a:p>
        </p:txBody>
      </p:sp>
      <p:sp>
        <p:nvSpPr>
          <p:cNvPr id="19" name="TextBox 18"/>
          <p:cNvSpPr txBox="1"/>
          <p:nvPr/>
        </p:nvSpPr>
        <p:spPr>
          <a:xfrm>
            <a:off x="6446520" y="31363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Uses current Singapore regulator sources</a:t>
            </a:r>
          </a:p>
        </p:txBody>
      </p:sp>
      <p:sp>
        <p:nvSpPr>
          <p:cNvPr id="20" name="Rounded Rectangle 19"/>
          <p:cNvSpPr/>
          <p:nvPr/>
        </p:nvSpPr>
        <p:spPr>
          <a:xfrm>
            <a:off x="4224528" y="37581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822192"/>
            <a:ext cx="2011680" cy="210312"/>
          </a:xfrm>
          <a:prstGeom prst="rect">
            <a:avLst/>
          </a:prstGeom>
          <a:noFill/>
        </p:spPr>
        <p:txBody>
          <a:bodyPr wrap="square" anchor="t" lIns="45720" rIns="45720">
            <a:spAutoFit/>
          </a:bodyPr>
          <a:lstStyle/>
          <a:p>
            <a:pPr algn="l">
              <a:spcAft>
                <a:spcPts val="300"/>
              </a:spcAft>
            </a:pPr>
            <a:r>
              <a:rPr sz="950" b="1">
                <a:solidFill>
                  <a:srgbClr val="F59E0B"/>
                </a:solidFill>
                <a:latin typeface="Arial"/>
              </a:rPr>
              <a:t>FACILITATION</a:t>
            </a:r>
          </a:p>
        </p:txBody>
      </p:sp>
      <p:sp>
        <p:nvSpPr>
          <p:cNvPr id="22" name="TextBox 21"/>
          <p:cNvSpPr txBox="1"/>
          <p:nvPr/>
        </p:nvSpPr>
        <p:spPr>
          <a:xfrm>
            <a:off x="6446520" y="38221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Supports evidence-based business decisions</a:t>
            </a:r>
          </a:p>
        </p:txBody>
      </p:sp>
      <p:sp>
        <p:nvSpPr>
          <p:cNvPr id="23" name="Rounded Rectangle 22"/>
          <p:cNvSpPr/>
          <p:nvPr/>
        </p:nvSpPr>
        <p:spPr>
          <a:xfrm>
            <a:off x="4224528" y="44439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5079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ASSESSMENT</a:t>
            </a:r>
          </a:p>
        </p:txBody>
      </p:sp>
      <p:sp>
        <p:nvSpPr>
          <p:cNvPr id="25" name="TextBox 24"/>
          <p:cNvSpPr txBox="1"/>
          <p:nvPr/>
        </p:nvSpPr>
        <p:spPr>
          <a:xfrm>
            <a:off x="6446520" y="45079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Applies approved instruments consistently</a:t>
            </a:r>
          </a:p>
        </p:txBody>
      </p:sp>
      <p:sp>
        <p:nvSpPr>
          <p:cNvPr id="26" name="Rounded Rectangle 25"/>
          <p:cNvSpPr/>
          <p:nvPr/>
        </p:nvSpPr>
        <p:spPr>
          <a:xfrm>
            <a:off x="4224528" y="5129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51937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SUPPORT</a:t>
            </a:r>
          </a:p>
        </p:txBody>
      </p:sp>
      <p:sp>
        <p:nvSpPr>
          <p:cNvPr id="28" name="TextBox 27"/>
          <p:cNvSpPr txBox="1"/>
          <p:nvPr/>
        </p:nvSpPr>
        <p:spPr>
          <a:xfrm>
            <a:off x="6446520" y="5193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Escalates material uncertainty appropriately</a:t>
            </a:r>
          </a:p>
        </p:txBody>
      </p:sp>
      <p:sp>
        <p:nvSpPr>
          <p:cNvPr id="29" name="TextBox 28"/>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0" name="Rectangle 29"/>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2" name="TextBox 31"/>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YOUR TRAINER</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About the Trainer</a:t>
            </a:r>
          </a:p>
        </p:txBody>
      </p:sp>
      <p:sp>
        <p:nvSpPr>
          <p:cNvPr id="6" name="Rounded Rectangle 5"/>
          <p:cNvSpPr/>
          <p:nvPr/>
        </p:nvSpPr>
        <p:spPr>
          <a:xfrm>
            <a:off x="658368" y="1700784"/>
            <a:ext cx="324612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64208" y="2084831"/>
            <a:ext cx="1234440" cy="12344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84831"/>
            <a:ext cx="1234440" cy="1234440"/>
          </a:xfrm>
          <a:prstGeom prst="rect">
            <a:avLst/>
          </a:prstGeom>
          <a:noFill/>
        </p:spPr>
        <p:txBody>
          <a:bodyPr wrap="square" anchor="ctr" lIns="45720" rIns="45720">
            <a:spAutoFit/>
          </a:bodyPr>
          <a:lstStyle/>
          <a:p>
            <a:pPr algn="ctr">
              <a:spcAft>
                <a:spcPts val="300"/>
              </a:spcAft>
            </a:pPr>
            <a:r>
              <a:rPr sz="3800" b="1">
                <a:solidFill>
                  <a:srgbClr val="FFFFFF"/>
                </a:solidFill>
                <a:latin typeface="Arial"/>
              </a:rPr>
              <a:t>AA</a:t>
            </a:r>
          </a:p>
        </p:txBody>
      </p:sp>
      <p:sp>
        <p:nvSpPr>
          <p:cNvPr id="9" name="TextBox 8"/>
          <p:cNvSpPr txBox="1"/>
          <p:nvPr/>
        </p:nvSpPr>
        <p:spPr>
          <a:xfrm>
            <a:off x="868680" y="3611880"/>
            <a:ext cx="2816352" cy="502920"/>
          </a:xfrm>
          <a:prstGeom prst="rect">
            <a:avLst/>
          </a:prstGeom>
          <a:noFill/>
        </p:spPr>
        <p:txBody>
          <a:bodyPr wrap="square" anchor="t" lIns="45720" rIns="45720">
            <a:spAutoFit/>
          </a:bodyPr>
          <a:lstStyle/>
          <a:p>
            <a:pPr algn="ctr">
              <a:spcAft>
                <a:spcPts val="300"/>
              </a:spcAft>
            </a:pPr>
            <a:r>
              <a:rPr sz="2000" b="1">
                <a:solidFill>
                  <a:srgbClr val="161B26"/>
                </a:solidFill>
                <a:latin typeface="Arial"/>
              </a:rPr>
              <a:t>Dr Alfred Ang</a:t>
            </a:r>
          </a:p>
        </p:txBody>
      </p:sp>
      <p:sp>
        <p:nvSpPr>
          <p:cNvPr id="10" name="TextBox 9"/>
          <p:cNvSpPr txBox="1"/>
          <p:nvPr/>
        </p:nvSpPr>
        <p:spPr>
          <a:xfrm>
            <a:off x="868680" y="4187952"/>
            <a:ext cx="2816352" cy="640080"/>
          </a:xfrm>
          <a:prstGeom prst="rect">
            <a:avLst/>
          </a:prstGeom>
          <a:noFill/>
        </p:spPr>
        <p:txBody>
          <a:bodyPr wrap="square" anchor="t" lIns="45720" rIns="45720">
            <a:spAutoFit/>
          </a:bodyPr>
          <a:lstStyle/>
          <a:p>
            <a:pPr algn="ctr">
              <a:spcAft>
                <a:spcPts val="300"/>
              </a:spcAft>
            </a:pPr>
            <a:r>
              <a:rPr sz="1250" b="0">
                <a:solidFill>
                  <a:srgbClr val="5B6372"/>
                </a:solidFill>
                <a:latin typeface="Arial"/>
              </a:rPr>
              <a:t>Principal Trainer | Tertiary Infotech Academy</a:t>
            </a:r>
          </a:p>
        </p:txBody>
      </p:sp>
      <p:sp>
        <p:nvSpPr>
          <p:cNvPr id="11" name="Rounded Rectangle 10"/>
          <p:cNvSpPr/>
          <p:nvPr/>
        </p:nvSpPr>
        <p:spPr>
          <a:xfrm>
            <a:off x="4224528" y="1700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7647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ADULT EDUCATION</a:t>
            </a:r>
          </a:p>
        </p:txBody>
      </p:sp>
      <p:sp>
        <p:nvSpPr>
          <p:cNvPr id="13" name="TextBox 12"/>
          <p:cNvSpPr txBox="1"/>
          <p:nvPr/>
        </p:nvSpPr>
        <p:spPr>
          <a:xfrm>
            <a:off x="6446520" y="1764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Dr Alfred Ang</a:t>
            </a:r>
          </a:p>
        </p:txBody>
      </p:sp>
      <p:sp>
        <p:nvSpPr>
          <p:cNvPr id="14" name="Rounded Rectangle 13"/>
          <p:cNvSpPr/>
          <p:nvPr/>
        </p:nvSpPr>
        <p:spPr>
          <a:xfrm>
            <a:off x="4224528" y="23865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4505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LEGAL BOUNDARIES</a:t>
            </a:r>
          </a:p>
        </p:txBody>
      </p:sp>
      <p:sp>
        <p:nvSpPr>
          <p:cNvPr id="16" name="TextBox 15"/>
          <p:cNvSpPr txBox="1"/>
          <p:nvPr/>
        </p:nvSpPr>
        <p:spPr>
          <a:xfrm>
            <a:off x="6446520" y="24505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Founder and Principal Trainer</a:t>
            </a:r>
          </a:p>
        </p:txBody>
      </p:sp>
      <p:sp>
        <p:nvSpPr>
          <p:cNvPr id="17" name="Rounded Rectangle 16"/>
          <p:cNvSpPr/>
          <p:nvPr/>
        </p:nvSpPr>
        <p:spPr>
          <a:xfrm>
            <a:off x="4224528" y="30723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136392"/>
            <a:ext cx="2011680" cy="210312"/>
          </a:xfrm>
          <a:prstGeom prst="rect">
            <a:avLst/>
          </a:prstGeom>
          <a:noFill/>
        </p:spPr>
        <p:txBody>
          <a:bodyPr wrap="square" anchor="t" lIns="45720" rIns="45720">
            <a:spAutoFit/>
          </a:bodyPr>
          <a:lstStyle/>
          <a:p>
            <a:pPr algn="l">
              <a:spcAft>
                <a:spcPts val="300"/>
              </a:spcAft>
            </a:pPr>
            <a:r>
              <a:rPr sz="950" b="1">
                <a:solidFill>
                  <a:srgbClr val="7C3AED"/>
                </a:solidFill>
                <a:latin typeface="Arial"/>
              </a:rPr>
              <a:t>SOURCE DISCIPLINE</a:t>
            </a:r>
          </a:p>
        </p:txBody>
      </p:sp>
      <p:sp>
        <p:nvSpPr>
          <p:cNvPr id="19" name="TextBox 18"/>
          <p:cNvSpPr txBox="1"/>
          <p:nvPr/>
        </p:nvSpPr>
        <p:spPr>
          <a:xfrm>
            <a:off x="6446520" y="31363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Doctorate-level educator and adult-learning practitioner</a:t>
            </a:r>
          </a:p>
        </p:txBody>
      </p:sp>
      <p:sp>
        <p:nvSpPr>
          <p:cNvPr id="20" name="Rounded Rectangle 19"/>
          <p:cNvSpPr/>
          <p:nvPr/>
        </p:nvSpPr>
        <p:spPr>
          <a:xfrm>
            <a:off x="4224528" y="37581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822192"/>
            <a:ext cx="2011680" cy="210312"/>
          </a:xfrm>
          <a:prstGeom prst="rect">
            <a:avLst/>
          </a:prstGeom>
          <a:noFill/>
        </p:spPr>
        <p:txBody>
          <a:bodyPr wrap="square" anchor="t" lIns="45720" rIns="45720">
            <a:spAutoFit/>
          </a:bodyPr>
          <a:lstStyle/>
          <a:p>
            <a:pPr algn="l">
              <a:spcAft>
                <a:spcPts val="300"/>
              </a:spcAft>
            </a:pPr>
            <a:r>
              <a:rPr sz="950" b="1">
                <a:solidFill>
                  <a:srgbClr val="F59E0B"/>
                </a:solidFill>
                <a:latin typeface="Arial"/>
              </a:rPr>
              <a:t>FACILITATION</a:t>
            </a:r>
          </a:p>
        </p:txBody>
      </p:sp>
      <p:sp>
        <p:nvSpPr>
          <p:cNvPr id="22" name="TextBox 21"/>
          <p:cNvSpPr txBox="1"/>
          <p:nvPr/>
        </p:nvSpPr>
        <p:spPr>
          <a:xfrm>
            <a:off x="6446520" y="38221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Business, AI, digital transformation and governance</a:t>
            </a:r>
          </a:p>
        </p:txBody>
      </p:sp>
      <p:sp>
        <p:nvSpPr>
          <p:cNvPr id="23" name="Rounded Rectangle 22"/>
          <p:cNvSpPr/>
          <p:nvPr/>
        </p:nvSpPr>
        <p:spPr>
          <a:xfrm>
            <a:off x="4224528" y="44439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5079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ASSESSMENT</a:t>
            </a:r>
          </a:p>
        </p:txBody>
      </p:sp>
      <p:sp>
        <p:nvSpPr>
          <p:cNvPr id="25" name="TextBox 24"/>
          <p:cNvSpPr txBox="1"/>
          <p:nvPr/>
        </p:nvSpPr>
        <p:spPr>
          <a:xfrm>
            <a:off x="6446520" y="45079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WSQ course development and enterprise training</a:t>
            </a:r>
          </a:p>
        </p:txBody>
      </p:sp>
      <p:sp>
        <p:nvSpPr>
          <p:cNvPr id="26" name="Rounded Rectangle 25"/>
          <p:cNvSpPr/>
          <p:nvPr/>
        </p:nvSpPr>
        <p:spPr>
          <a:xfrm>
            <a:off x="4224528" y="5129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51937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SUPPORT</a:t>
            </a:r>
          </a:p>
        </p:txBody>
      </p:sp>
      <p:sp>
        <p:nvSpPr>
          <p:cNvPr id="28" name="TextBox 27"/>
          <p:cNvSpPr txBox="1"/>
          <p:nvPr/>
        </p:nvSpPr>
        <p:spPr>
          <a:xfrm>
            <a:off x="6446520" y="5193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enquiry@tertiaryinfotech.com | +65 6100 0613</a:t>
            </a:r>
          </a:p>
        </p:txBody>
      </p:sp>
      <p:sp>
        <p:nvSpPr>
          <p:cNvPr id="29" name="TextBox 28"/>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0" name="Rectangle 29"/>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2" name="TextBox 31"/>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LEARNER INTRODUCTION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Let's Know Each Other</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01</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Name and business/role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02</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One regulated activity in your organisation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03</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compliance problem you want to prevent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04</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One outcome you want from today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HOUSEKEEPING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Ground Rules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Respect</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Challenge ideas, not people.</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Participation</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examples without exposing confidential information.</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Questions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Ask early; legal ambiguity is part of the learning.</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Phones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Silent unless used for attendance or learning.</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Timing</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Return from breaks promptly.</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Attendance</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75% minimum is required.</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72B4D"/>
                </a:solidFill>
                <a:latin typeface="Arial"/>
              </a:rPr>
              <a:t>WHY THIS COURSE</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Compliance protects the licence to operate.</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For business owners, it is also a decision discipline that preserves trust, market access and resilience.</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ES Law: Corporate-law basics</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ONE-DAY LEARNING JOURNEY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 Map</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Framework and global context</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Industry and functional duties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Decision-making</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Influencing business units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APPROVED COURSE OUTCOMES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Learning Outcomes</a:t>
            </a:r>
          </a:p>
        </p:txBody>
      </p:sp>
      <p:sp>
        <p:nvSpPr>
          <p:cNvPr id="6" name="Rounded Rectangle 5"/>
          <p:cNvSpPr/>
          <p:nvPr/>
        </p:nvSpPr>
        <p:spPr>
          <a:xfrm>
            <a:off x="658368" y="1673352"/>
            <a:ext cx="5330952" cy="4261104"/>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42611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LO1</a:t>
            </a:r>
          </a:p>
        </p:txBody>
      </p:sp>
      <p:sp>
        <p:nvSpPr>
          <p:cNvPr id="11" name="TextBox 10"/>
          <p:cNvSpPr txBox="1"/>
          <p:nvPr/>
        </p:nvSpPr>
        <p:spPr>
          <a:xfrm>
            <a:off x="1444752" y="2313432"/>
            <a:ext cx="4343400" cy="349300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Assess the implications of global legal developments and business laws on the organisation's regulatory framework.</a:t>
            </a:r>
          </a:p>
        </p:txBody>
      </p:sp>
      <p:sp>
        <p:nvSpPr>
          <p:cNvPr id="12" name="Rounded Rectangle 11"/>
          <p:cNvSpPr/>
          <p:nvPr/>
        </p:nvSpPr>
        <p:spPr>
          <a:xfrm>
            <a:off x="6208776" y="1673352"/>
            <a:ext cx="5330952" cy="4261104"/>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42611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LO2</a:t>
            </a:r>
          </a:p>
        </p:txBody>
      </p:sp>
      <p:sp>
        <p:nvSpPr>
          <p:cNvPr id="17" name="TextBox 16"/>
          <p:cNvSpPr txBox="1"/>
          <p:nvPr/>
        </p:nvSpPr>
        <p:spPr>
          <a:xfrm>
            <a:off x="6995160" y="2313432"/>
            <a:ext cx="4343400" cy="349300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Drive decision-making based on regulatory changes and influence business units to adapt to new laws.</a:t>
            </a:r>
          </a:p>
        </p:txBody>
      </p:sp>
      <p:sp>
        <p:nvSpPr>
          <p:cNvPr id="18" name="TextBox 1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19" name="Rectangle 1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1" name="TextBox 2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2" name="TextBox 2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ACC-BLR-5001-1.1 | CORPORATE AND BUSINESS LAW</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TSC Knowledge and Abilities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K1</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Latest global developments, and regulatory and legal framework within which the organisation operates</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K2</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Organisation's business, environment and industry in which it operates</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A1</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Assess impact of changes in global developments and relevant business laws and regulations to organisation</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A2</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Drive decision making based on changes in laws and regulations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A3</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Influence the relevant business units to adapt to new regulations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8 HOURS INCLUDING 1-HOUR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Lesson Plan | 9:00 AM-6:00 PM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AM: foundations + Topic 1</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Late AM: Topic 2</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PM: Topic 2 applications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Late PM: Topics 3-4</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5:00 PM: WA + CS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11</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BEFORE THE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Briefing for Assessment</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Individual</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No discussion, photos or recording.</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Open book</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Slides, Learner Guide and approved materials only.</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Materials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Phones and unapproved materials under the table.</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Writing</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Black/blue pen; no correction fluid/tape for hardcopy.</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Timing</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30 minutes WA, then 30 minutes Case Study.</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Rights</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Re-assessment and appeal processes are available.</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12</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ASSESSMENT AND FUNDING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Final Assessment</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WA-SAQ | 30 min</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4 open-ended questions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K1 and K2</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Answer in your own words</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Case Study | 30 min</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2 scenario tasks</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A1, A2 and A3</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Apply course activities</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Competency</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Open book</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Complete all evidence</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Competent / Not Yet Competent</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13</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ON ASSESSMENT DAY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Flow</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TRAQOM</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 digital attendance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WA-SAQ</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Case Study</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Submit on LMS and sign record</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14</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ACCESS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Courseware and Activities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hlinkClick r:id="rId2"/>
              </a:rPr>
              <a:t>LMS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Download the slides and Learner Guide; complete assessment submissions.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hlinkClick r:id="rId3"/>
              </a:rPr>
              <a:t>GitHub</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Access the eight detailed activity Markdown files and source register.</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Clone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git clone the course repository, or use Code &gt; Download ZIP.</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Support</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enquiry@tertiaryinfotech.com | +65 6100 0613</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15</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IMPORTANT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Legal and Source Boundaries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Education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This course builds compliance capability; it is not legal or tax advice.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Verify currency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Deadlines, rates, forms and guidance can change; check the regulator before acting.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Singapore first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Official ACRA, IRAS, MOM and PDPC sources control Singapore propositions.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Comparative sources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Overseas articles contribute frameworks only; foreign rules are not imported as Singapore law.</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16</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FOUNDATION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Corporate compliance is a management 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Law</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Mandatory statutes, regulations and enforceable duties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Governance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Who may decide, approve, oversee and challenge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Operations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Policies, controls and evidence embedded in work</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Assurance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Monitoring, testing, reporting and remediation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17</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FOUNDATION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Legal compliance and regulatory compliance</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Legal compliance</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Broad duties that apply across business activities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employment, tax, contract and privacy law</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Courts and regulators may enforce consequences</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Regulatory compliance</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Rules linked to a regulator, licence, sector or activity</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Finance, healthcare, food, technology and safety overlays</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Often includes reporting, inspection and licence conditions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18</a:t>
            </a:r>
          </a:p>
        </p:txBody>
      </p:sp>
    </p:spTree>
  </p:cSld>
  <p:clrMapOvr>
    <a:masterClrMapping/>
  </p:clrMapOvr>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OPERATING MODEL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continuous compliance cycle</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Identify applicable duties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Assign owners and controls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Operate and retain evidence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Monitor change and test</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Escalate, remediate and improve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 | Wolters Kluwer: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19</a:t>
            </a:r>
          </a:p>
        </p:txBody>
      </p:sp>
    </p:spTree>
  </p:cSld>
  <p:clrMapOvr>
    <a:masterClrMapping/>
  </p:clrMapOvr>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Three accountability layers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Board / directors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Set direction, challenge assumptions and remain accountable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Management / owners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Translate obligations into resources, decisions and controls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Business functions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Perform controls, keep evidence and raise issues early</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Independent assurance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Review design and effectiveness without owning the control</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20</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DIRECTOR MINDSET</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Outsourcing a task does not outsource accountability.</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Directors must understand, challenge and authorise - even when advisers prepare the work.</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21</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EVIDENCE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useful compliance evidence chain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Requirement</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law, filing, licence or regulator expectation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Control</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preventive or detective action that addresses it</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Owner</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named role with authority, capacity and deadline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Evidence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Dated proof that the control operated and exceptions were resolved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Financial Poise: Corporate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22</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1 | K1, A1 / LO1</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Singapore's Legal and Regulatory Framework in a Global Context</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Corporate duties, governance, registers, financial reporting and cross-border legal triggers</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01</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23</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REGULATOR MAP</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Singapore's business-law ecosystem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ACRA</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Entity records, directors, annual returns and financial reporting</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IRAS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Corporate tax, GST, employer reporting and record keeping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MOM / CPFB</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Employment standards, CPF and workplace safety</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PDPC + sector regulators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data plus finance, health, food and technology overlays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Legal requirements | IRAS: Corporate income tax | MOM: Employment practices | PDPC: Breach notification</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24</a:t>
            </a:r>
          </a:p>
        </p:txBody>
      </p:sp>
    </p:spTree>
  </p:cSld>
  <p:clrMapOvr>
    <a:masterClrMapping/>
  </p:clrMapOvr>
  <p:transition spd="slow">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LEGAL HIERARCHY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How legal requirements reach the business</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Acts passed by Parliament</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Subsidiary legislation and regulations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Regulator guidance and filing systems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Court decisions and contractual duties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Company policies and controls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25</a:t>
            </a:r>
          </a:p>
        </p:txBody>
      </p:sp>
    </p:spTree>
  </p:cSld>
  <p:clrMapOvr>
    <a:masterClrMapping/>
  </p:clrMapOvr>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DIRECTORS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Five non-delegable director touchpoints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Records</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Keep proper accounting records and preserve them</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Financial statements</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Ensure compliance and a true and fair view</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Meetings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Hold an AGM unless exempt or validly dispensed with</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Returns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File annual returns, including for dormant companies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Registers</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Keep officers, shareholders and controllers current</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ACRA: Financial reporting duties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26</a:t>
            </a:r>
          </a:p>
        </p:txBody>
      </p:sp>
    </p:spTree>
  </p:cSld>
  <p:clrMapOvr>
    <a:masterClrMapping/>
  </p:clrMapOvr>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Director oversight: weak versus defensible</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Weak oversight</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Signs without reading or questioning</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Treats the company secretary or accountant as the legal owner</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Accepts late or incomplete evidence</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Cannot explain the basis of the decision</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Defensible oversight</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Understands key figures and legal deadlines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Challenges estimates and unusual transactions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Uses competent advisers but forms an independent view</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Records questions, advice, decisions and follow-up</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27</a:t>
            </a:r>
          </a:p>
        </p:txBody>
      </p:sp>
    </p:spTree>
  </p:cSld>
  <p:clrMapOvr>
    <a:masterClrMapping/>
  </p:clrMapOvr>
  <p:transition spd="slow">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ACRA RHYTHM</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Annual corporate housekeeping</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Confirm company particulars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Reconcile member and officer changes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Verify controllers and nominees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Review financial reporting status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and file the annual return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 | ACRA: Directors' duties</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28</a:t>
            </a:r>
          </a:p>
        </p:txBody>
      </p:sp>
    </p:spTree>
  </p:cSld>
  <p:clrMapOvr>
    <a:masterClrMapping/>
  </p:clrMapOvr>
  <p:transition spd="slow">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COMPANY RECORDS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Registers and key deadlines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Electronic registers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Report officer/shareholder changes through Bizfile within 14 days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Private RORC</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controller information; update within 7 days after confirmation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Central RORC</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For applicable companies, lodge updates within 2 business days after the private register</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Annual verification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Send controllers a notice at least once a year to verify particulars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29</a:t>
            </a:r>
          </a:p>
        </p:txBody>
      </p:sp>
    </p:spTree>
  </p:cSld>
  <p:clrMapOvr>
    <a:masterClrMapping/>
  </p:clrMapOvr>
  <p:transition spd="slow">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CURRENT DEVELOPMENT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16 June 2025 register change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At incorporation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Companies incorporated from this date establish RORC/ROND/RONS from registration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Private first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Update the company's own register before the central filing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Central filing</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relevant changes to ACRA within the prescribed short window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Control implication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Incorporation and change-management checklists must be redesigned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30</a:t>
            </a:r>
          </a:p>
        </p:txBody>
      </p:sp>
    </p:spTree>
  </p:cSld>
  <p:clrMapOvr>
    <a:masterClrMapping/>
  </p:clrMapOvr>
  <p:transition spd="slow">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FINANCIAL 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Financial reporting: what directors must do</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Read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Understand the statements before authorising issuance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Challenge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Question treatments that conflict with transaction substance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Learn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enough current financial knowledge for high-level review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Resource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Appoint competent people, robust controls and external help when needed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31</a:t>
            </a:r>
          </a:p>
        </p:txBody>
      </p:sp>
    </p:spTree>
  </p:cSld>
  <p:clrMapOvr>
    <a:masterClrMapping/>
  </p:clrMapOvr>
  <p:transition spd="slow">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FILING DISCIPLINE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Annual return and tax return are different</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ACRA annual return</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Maintains the public corporate record</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Covers officers, shareholders and company particulars</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May include XBRL financial statements where applicable</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IRAS corporate income tax return</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Declares taxable income and supporting tax positions</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Includes ECI and Form C-S/C-S (Lite)/C obligations</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Uses the Year of Assessment framework</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IRAS: Corporate income tax</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32</a:t>
            </a:r>
          </a:p>
        </p:txBody>
      </p:sp>
    </p:spTree>
  </p:cSld>
  <p:clrMapOvr>
    <a:masterClrMapping/>
  </p:clrMapOvr>
  <p:transition spd="slow">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CROSS-BORDER TRIGGERS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Global developments become local business issues when...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Customers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business serves or targets persons in another jurisdiction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Data</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or operational data is transferred or accessed overseas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Supply chain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Contracts import foreign standards, sanctions or reporting duties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Capital and people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Investors, staff, directors or assets cross borders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ES Law: Corporate-law basics | Wolters Kluwer: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33</a:t>
            </a:r>
          </a:p>
        </p:txBody>
      </p:sp>
    </p:spTree>
  </p:cSld>
  <p:clrMapOvr>
    <a:masterClrMapping/>
  </p:clrMapOvr>
  <p:transition spd="slow">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1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Duties and Governance Gap Scan</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Identify director, record, reporting and register gaps; distinguish tasks that may be outsourced from accountability that remains with directors.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One-page governance gap scan and two-minute board briefing.</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Individual fined $108,000 for a | ACRA: Directors' duties | ACRA: Financial reporting duties | ACRA: Company registers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34</a:t>
            </a:r>
          </a:p>
        </p:txBody>
      </p:sp>
    </p:spTree>
  </p:cSld>
  <p:clrMapOvr>
    <a:masterClrMapping/>
  </p:clrMapOvr>
  <p:transition spd="slow">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1 | 18 MAY 2026 | CONVICTED AND SENTENCED IN THE STATE COURTS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Board Duties and Governance Gap Scan</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ROBERT SINPRASEUTH - FALSE DIRECTOR-APPOINTMENT FILINGS</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ACRA reported that Robert Sinpraseuth authorised a corporate service provider to lodge forms across 12 companies falsely declaring that an individual had consented to be appointed as director. He was convicted on 12 charges and fined a total of $108,000; 12 similar charges were considered for sentencing.</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Use only the published ACRA facts as case evidence. The control redesign and board response are learner recommendations, not facts found by the court.</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Individual fined $108,000 for a | ACRA: Directors' duties | ACRA: Financial reporting duties | ACRA: Company registers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35</a:t>
            </a:r>
          </a:p>
        </p:txBody>
      </p:sp>
    </p:spTree>
  </p:cSld>
  <p:clrMapOvr>
    <a:masterClrMapping/>
  </p:clrMapOvr>
  <p:transition spd="slow">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1: Board Duties and Governance Gap Scan</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should an authorising person have verified before the 12 filings?</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consent, review and approval evidence should have existed?</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immediate review should the affected companies undertake?</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maker-checker and director-oversight controls would prevent recurrence?</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All material facts mapped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Director accountability stated correctly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Owners/deadlines named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Evidence requirements explicit</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Individual fined $108,000 for a | ACRA: Directors' duties | ACRA: Financial reporting duties | ACRA: Company registers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36</a:t>
            </a:r>
          </a:p>
        </p:txBody>
      </p:sp>
    </p:spTree>
  </p:cSld>
  <p:clrMapOvr>
    <a:masterClrMapping/>
  </p:clrMapOvr>
  <p:transition spd="slow">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2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Global Trigger and Regulatory Perimeter Map</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Show how customers, data flows, contracts, staff and suppliers can make global legal developments relevant to a Singapore business.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Regulatory perimeter map with owners and escalation rules.</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- 12 persons charged with Compani | ACRA: Directors' duties | Wolters Kluwer: Compliance | Pitt Law: Compliance legislation | ES Law: Corporate-law basics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37</a:t>
            </a:r>
          </a:p>
        </p:txBody>
      </p:sp>
    </p:spTree>
  </p:cSld>
  <p:clrMapOvr>
    <a:masterClrMapping/>
  </p:clrMapOvr>
  <p:transition spd="slow">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2 | 1 JUNE 2023 | CHARGES REPORTED; DO NOT TREAT ALLEGATIONS AS CONVICTIONS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Global Trigger and Regulatory Perimeter Map</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ACRA/CAD INVESTIGATION INVOLVING 35 SINGAPORE COMPANIES AND FOREIGN AGENTS</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ACRA reported that foreign agents used overseas corporate service providers to engage Singapore providers to incorporate local companies and open bank accounts. Investigations found that nominee directors of 35 Singapore-registered companies allowed foreign agents to operate the accounts, which received and laundered about US$36 million from local and overseas scam victims. Twelve persons were charged with Companies Act offences.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Treat the enforcement status accurately: the source reports charges and investigation findings. The perimeter map is a preventive analysis, not a finding about the guilt of every person charged.</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- 12 persons charged with Compani | ACRA: Directors' duties | Wolters Kluwer: Compliance | Pitt Law: Compliance legislation | ES Law: Corporate-law basics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38</a:t>
            </a:r>
          </a:p>
        </p:txBody>
      </p:sp>
    </p:spTree>
  </p:cSld>
  <p:clrMapOvr>
    <a:masterClrMapping/>
  </p:clrMapOvr>
  <p:transition spd="slow">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2: Global Trigger and Regulatory Perimeter Map</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cross-border actors, services, accounts and victims expanded the risk perimeter?</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Singapore director/CSP duties remain local even when instructions originate overseas?</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customer, agent and transaction information should trigger enhanced review?</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red flags require refusal, escalation or a suspicious-transaction decision?</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Five trigger categories covered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Singapore/foreign distinction clear</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No foreign rule treated as Singapore law</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Escalation rule is decision-ready</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- 12 persons charged with Compani | ACRA: Directors' duties | Wolters Kluwer: Compliance | Pitt Law: Compliance legislation | ES Law: Corporate-law basics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39</a:t>
            </a:r>
          </a:p>
        </p:txBody>
      </p:sp>
    </p:spTree>
  </p:cSld>
  <p:clrMapOvr>
    <a:masterClrMapping/>
  </p:clrMapOvr>
  <p:transition spd="slow">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Morning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10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40</a:t>
            </a:r>
          </a:p>
        </p:txBody>
      </p:sp>
    </p:spTree>
  </p:cSld>
  <p:clrMapOvr>
    <a:masterClrMapping/>
  </p:clrMapOvr>
  <p:transition spd="slow">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2 | K1, A1 / LO1</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Industry-Specific Business Laws and Compliance</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Tax, GST, employment, CPF, workplace safety, data protection and sector overlays</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02</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41</a:t>
            </a:r>
          </a:p>
        </p:txBody>
      </p:sp>
    </p:spTree>
  </p:cSld>
  <p:clrMapOvr>
    <a:masterClrMapping/>
  </p:clrMapOvr>
  <p:transition spd="slow">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APPLICABILITY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Build the compliance universe from business facts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Entity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type, ownership, officers and lifecycle stage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Activity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is sold, promised, processed, imported or exported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People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Employees, contractors, migrant workers and workplace risks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Data and sector</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data, regulated products, licences and jurisdictions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Nakat: Compliance checklist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42</a:t>
            </a:r>
          </a:p>
        </p:txBody>
      </p:sp>
    </p:spTree>
  </p:cSld>
  <p:clrMapOvr>
    <a:masterClrMapping/>
  </p:clrMapOvr>
  <p:transition spd="slow">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IRAS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Corporate income tax filing rhythm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Close the financial year</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File ECI within 3 months unless a waiver applies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Prepare tax computation</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File Form C-S / C-S (Lite) / C by the annual due date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Pay and retain evidence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Corporate income tax | IRAS: CIT filing guide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43</a:t>
            </a:r>
          </a:p>
        </p:txBody>
      </p:sp>
    </p:spTree>
  </p:cSld>
  <p:clrMapOvr>
    <a:masterClrMapping/>
  </p:clrMapOvr>
  <p:transition spd="slow">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RECORD KEEPING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Tax records must tell the transaction story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Source documents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Invoices, receipts, contracts and supporting evidence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Accounting trail</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Ledgers, schedules and systematic transaction records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Cash evidence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Bank statements and payment records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Retention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relevant records for at least 5 years from the relevant YA</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Record keeping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44</a:t>
            </a:r>
          </a:p>
        </p:txBody>
      </p:sp>
    </p:spTree>
  </p:cSld>
  <p:clrMapOvr>
    <a:masterClrMapping/>
  </p:clrMapOvr>
  <p:transition spd="slow">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GST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GST-registered business responsibilities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Charge and account</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Apply GST correctly to standard-rated supplies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File and pay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returns and tax due on time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Invoice and display</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compliant tax invoices and GST-inclusive price displays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Records and changes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support, notify IRAS and account at deregistration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GST responsibilities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45</a:t>
            </a:r>
          </a:p>
        </p:txBody>
      </p:sp>
    </p:spTree>
  </p:cSld>
  <p:clrMapOvr>
    <a:masterClrMapping/>
  </p:clrMapOvr>
  <p:transition spd="slow">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DIGITAL COMPLIANCE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Manual filing and seamless filing</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Manual hand-offs</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Repeated re-keying between source systems and portals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Higher transposition and version-control risk</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Evidence spread across email and local files</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#SFFS-enabled workflow</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Accounting/payroll data flows to tax forms with review</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Corppass authorisation and acknowledgement remain visible</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Digital records can support adjacent ACRA/CPF/MOM duties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Seamless filing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46</a:t>
            </a:r>
          </a:p>
        </p:txBody>
      </p:sp>
    </p:spTree>
  </p:cSld>
  <p:clrMapOvr>
    <a:masterClrMapping/>
  </p:clrMapOvr>
  <p:transition spd="slow">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EMPLOYER DUTY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Who requires CPF contributions?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Singapore citizens / PRs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Employees working in Singapore under a contract of service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Directors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directors receiving wages may be covered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Flexible workers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Part-time and casual employees are included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Connected persons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Paid family members and concurrently employed staff may also qualify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CPF contributions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47</a:t>
            </a:r>
          </a:p>
        </p:txBody>
      </p:sp>
    </p:spTree>
  </p:cSld>
  <p:clrMapOvr>
    <a:masterClrMapping/>
  </p:clrMapOvr>
  <p:transition spd="slow">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PAYROLL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Monthly CPF control</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Validate employee status and wages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Calculate employer and employee shares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payroll</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Pay contributions by the required date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Reconcile acknowledgement and exceptions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CPF contributions</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48</a:t>
            </a:r>
          </a:p>
        </p:txBody>
      </p:sp>
    </p:spTree>
  </p:cSld>
  <p:clrMapOvr>
    <a:masterClrMapping/>
  </p:clrMapOvr>
  <p:transition spd="slow">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WORKPLACE SAFETY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Employer responsibilities under the WSH Act</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Assess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Identify hazards and implement effective risk controls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Provide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a safe environment, machinery, equipment and processes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Prepare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Establish systems for emergencies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Enable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Give sufficient instruction, training and supervision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WSH responsibilities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49</a:t>
            </a:r>
          </a:p>
        </p:txBody>
      </p:sp>
    </p:spTree>
  </p:cSld>
  <p:clrMapOvr>
    <a:masterClrMapping/>
  </p:clrMapOvr>
  <p:transition spd="slow">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PERSONAL DATA</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PDPA obligations as an operating 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Accountability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Appoint a DPO and make policies/practices available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Purpose and consent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Notify purposes and manage valid consent/withdrawal</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Protection and retention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Secure data and stop retaining it when no longer needed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Transfer and rights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Manage overseas protection, access and correction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50</a:t>
            </a:r>
          </a:p>
        </p:txBody>
      </p:sp>
    </p:spTree>
  </p:cSld>
  <p:clrMapOvr>
    <a:masterClrMapping/>
  </p:clrMapOvr>
  <p:transition spd="slow">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INCIDENT RESPONSE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Notifiable data breach timeline</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Contain and investigate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 significant harm and significant scale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Determine whether notifiable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Notify PDPC as soon as practicable and within 3 calendar days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Notify affected individuals and document response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51</a:t>
            </a:r>
          </a:p>
        </p:txBody>
      </p:sp>
    </p:spTree>
  </p:cSld>
  <p:clrMapOvr>
    <a:masterClrMapping/>
  </p:clrMapOvr>
  <p:transition spd="slow">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3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Five-Agency Compliance Calendar</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Convert company facts into a calendar of ACRA, IRAS, MOM/CPF, WSH and PDPA responsibilities with evidence owners.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12-month compliance calendar and evidence register.</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Husband and wife convicted for  | ACRA: Directors' duties | IRAS: Corporate income tax | IRAS: GST responsibilities | MOM: CPF contributions | MOM: WSH responsibilities | PDPC: Breach notification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52</a:t>
            </a:r>
          </a:p>
        </p:txBody>
      </p:sp>
    </p:spTree>
  </p:cSld>
  <p:clrMapOvr>
    <a:masterClrMapping/>
  </p:clrMapOvr>
  <p:transition spd="slow">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3 | 12 DECEMBER 2022 | CONVICTIONS AND SENTENCES REPORTED BY IRAS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Five-Agency Compliance Calendar</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WAN LIN HEALTHCARE CENTRE - INCOME TAX AND GST EVASIONS</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IRAS reported that Lim Meng Fatt and Gan Bee Bee were convicted for income tax and GST evasions involving Wan Lin Healthcare Centre Pte Ltd. The case included omitted output tax, fraudulent GST deregistration while the company remained liable to be registered, and a false Productivity and Innovation Credit claim. The court imposed imprisonment terms and substantial financial penalties.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Build the calendar from the published tax failures, then add ACRA, employment/CPF, WSH and PDPA rows as a clearly labelled prospective control extension. Do not imply that IRAS found Wan Lin in breach of those other regimes.</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Husband and wife convicted for  | ACRA: Directors' duties | IRAS: Corporate income tax | IRAS: GST responsibilities | MOM: CPF contributions | MOM: WSH responsibilities | PDPC: Breach notification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53</a:t>
            </a:r>
          </a:p>
        </p:txBody>
      </p:sp>
    </p:spTree>
  </p:cSld>
  <p:clrMapOvr>
    <a:masterClrMapping/>
  </p:clrMapOvr>
  <p:transition spd="slow">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3: Five-Agency Compliance Calendar</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tax events and records should have appeared in Wan Lin's compliance calendar?</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evidence should reconcile sales, output tax, GST status and corporate tax?</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independent review could have detected the published failures earlier?</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non-tax calendar rows are prospective extensions rather than case findings?</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Five regulator categories present</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Trigger/frequency accurate</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 and reviewer separated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Evidence and escalation captured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Husband and wife convicted for  | ACRA: Directors' duties | IRAS: Corporate income tax | IRAS: GST responsibilities | MOM: CPF contributions | MOM: WSH responsibilities | PDPC: Breach notification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54</a:t>
            </a:r>
          </a:p>
        </p:txBody>
      </p:sp>
    </p:spTree>
  </p:cSld>
  <p:clrMapOvr>
    <a:masterClrMapping/>
  </p:clrMapOvr>
  <p:transition spd="slow">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4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Data Breach Notification Tabletop</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Practise containment, assessment, decision ownership, notification timing and evidence capture under the PDPA breach-notification framework.</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Incident decision log, notification outline and remediation list.</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Decision and undertakings annou | PDPC: Breach notification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55</a:t>
            </a:r>
          </a:p>
        </p:txBody>
      </p:sp>
    </p:spTree>
  </p:cSld>
  <p:clrMapOvr>
    <a:masterClrMapping/>
  </p:clrMapOvr>
  <p:transition spd="slow">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4 | 26 FEBRUARY 2026 | PDPC DECISION; ORGANISATION NOT NAMED IN THE ANNOUNCEMENT SUMMARY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Data Breach Notification Tabletop</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PDPC FEBRUARY 2026 RANSOMWARE DECISION - SHARED B2B E-COMMERCE NETWORK</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PDPC announced a decision concerning a ransomware incident on a shared network managed by a B2B e-commerce service provider. About 39,000 individuals were affected and bank and credit-card details were among the data rendered inaccessible. PDPC identified unpatched systems, weak access controls and failure to enforce multi-factor authentication, found a breach of the Protection Obligation, and issued directions to strengthen security.</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The official summary does not publish every incident-response timestamp. Learners must identify missing facts and build a notification decision log without inventing what the organisation actually knew or notified.</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Decision and undertakings annou | PDPC: Breach notification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56</a:t>
            </a:r>
          </a:p>
        </p:txBody>
      </p:sp>
    </p:spTree>
  </p:cSld>
  <p:clrMapOvr>
    <a:masterClrMapping/>
  </p:clrMapOvr>
  <p:transition spd="slow">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4: Data Breach Notification Tabletop</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containment and evidence-preservation actions should begin first?</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published facts affect significant-harm or significant-scale assessment?</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missing timestamps are needed to apply the three-calendar-day rule?</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should the decision log show even when the public summary is silent?</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Containment precedes notification drafting</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Clock described accurately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Known/unknown facts separated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Decision and evidence documented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Decision and undertakings annou | PDPC: Breach notification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57</a:t>
            </a:r>
          </a:p>
        </p:txBody>
      </p:sp>
    </p:spTree>
  </p:cSld>
  <p:clrMapOvr>
    <a:masterClrMapping/>
  </p:clrMapOvr>
  <p:transition spd="slow">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Lunch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40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58</a:t>
            </a:r>
          </a:p>
        </p:txBody>
      </p:sp>
    </p:spTree>
  </p:cSld>
  <p:clrMapOvr>
    <a:masterClrMapping/>
  </p:clrMapOvr>
  <p:transition spd="slow">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3 | K2, A2 / LO2</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Business Decision-Making in Response to Regulatory Changes</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From regulatory signal to proportionate, documented and evidence-backed action</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03</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59</a:t>
            </a:r>
          </a:p>
        </p:txBody>
      </p:sp>
    </p:spTree>
  </p:cSld>
  <p:clrMapOvr>
    <a:masterClrMapping/>
  </p:clrMapOvr>
  <p:transition spd="slow">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DECISION FRAMEWORK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SCAN decision model</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Spot the legal change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Clarify applicability</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 business impact</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Navigate a decision</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Verify implementation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 | Financial Poise: Corporate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60</a:t>
            </a:r>
          </a:p>
        </p:txBody>
      </p:sp>
    </p:spTree>
  </p:cSld>
  <p:clrMapOvr>
    <a:masterClrMapping/>
  </p:clrMapOvr>
  <p:transition spd="slow">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K2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Start with business facts, not a generic checklist</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Business model</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Revenue streams, promises, channels and critical assets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Operating footprint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Locations, customers, vendors, people and systems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Risk appetite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can be accepted, reduced, transferred or avoided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Decision rights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Who recommends, approves, implements and challenges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Governance | ES Law: Corporate-law basics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61</a:t>
            </a:r>
          </a:p>
        </p:txBody>
      </p:sp>
    </p:spTree>
  </p:cSld>
  <p:clrMapOvr>
    <a:masterClrMapping/>
  </p:clrMapOvr>
  <p:transition spd="slow">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IMPACT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Six impact lenses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People</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Roles, capability, workload and accountability</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Process</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Workflow, approvals, exceptions and deadlines</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Technology and data</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Systems, access, interfaces, records and security</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Contracts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Customer, supplier, employment and data clauses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Finance</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Cost, revenue, tax, provisions and insurance</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Reputation</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Trust, regulator confidence and market access</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62</a:t>
            </a:r>
          </a:p>
        </p:txBody>
      </p:sp>
    </p:spTree>
  </p:cSld>
  <p:clrMapOvr>
    <a:masterClrMapping/>
  </p:clrMapOvr>
  <p:transition spd="slow">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RISK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Score compliance risk consistently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Likelihood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How probable is failure given exposure and control maturity?</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Impact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Legal, financial, operational, safety and trust consequences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Velocity</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How quickly could harm occur or a deadline expire?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Detectability</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Would the organisation discover failure before the regulator/customer?</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Bizbot: Company compliance | LeapXpert: Compliance guide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63</a:t>
            </a:r>
          </a:p>
        </p:txBody>
      </p:sp>
    </p:spTree>
  </p:cSld>
  <p:clrMapOvr>
    <a:masterClrMapping/>
  </p:clrMapOvr>
  <p:transition spd="slow">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CONTROLS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Control design hierarchy</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Avoid or redesign the risky activity</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Prevent failure through workflow and authority</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Detect exceptions quickly</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Correct and recover</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Evidence operation and review effectiveness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Wolters Kluwer: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64</a:t>
            </a:r>
          </a:p>
        </p:txBody>
      </p:sp>
    </p:spTree>
  </p:cSld>
  <p:clrMapOvr>
    <a:masterClrMapping/>
  </p:clrMapOvr>
  <p:transition spd="slow">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TRADE-OFFS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Compliance options are business options</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Poor framing</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Comply or do nothing</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Legal says no</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Controls added after launch</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Success measured by absence of incidents</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Decision-grade framing</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Compare compliant design alternatives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Quantify cost, delay, residual risk and opportunity</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Embed controls in the operating model</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Define leading indicators and escalation triggers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65</a:t>
            </a:r>
          </a:p>
        </p:txBody>
      </p:sp>
    </p:spTree>
  </p:cSld>
  <p:clrMapOvr>
    <a:masterClrMapping/>
  </p:clrMapOvr>
  <p:transition spd="slow">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 RECORD</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board-ready decision memo</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Decision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approval or direction is needed, by when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Requirement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duty, applicability analysis and effective date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Options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Feasible choices with cost, risk and operational effects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Recommendation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Selected path, residual risk, owner and milestones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66</a:t>
            </a:r>
          </a:p>
        </p:txBody>
      </p:sp>
    </p:spTree>
  </p:cSld>
  <p:clrMapOvr>
    <a:masterClrMapping/>
  </p:clrMapOvr>
  <p:transition spd="slow">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AUDIT TRAIL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Evidence that a decision was reasonable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Inputs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Current law, regulator guidance, data and expert advice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Challenge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Questions asked, assumptions tested and conflicts disclosed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Approval</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Minutes, authority, rationale and conditions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Follow-through</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Owner, deadline, resources, verification and exception closure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 | ES Law: Corporate-law basics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67</a:t>
            </a:r>
          </a:p>
        </p:txBody>
      </p:sp>
    </p:spTree>
  </p:cSld>
  <p:clrMapOvr>
    <a:masterClrMapping/>
  </p:clrMapOvr>
  <p:transition spd="slow">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PROGRAMME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Regulatory change implementation</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Read and scope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Design controls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resources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Update systems and contracts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Train, launch and test</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68</a:t>
            </a:r>
          </a:p>
        </p:txBody>
      </p:sp>
    </p:spTree>
  </p:cSld>
  <p:clrMapOvr>
    <a:masterClrMapping/>
  </p:clrMapOvr>
  <p:transition spd="slow">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JUDGEMENT</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The lowest-cost control is not always the most proportionate control.</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Choose the option that meets the duty and preserves business objectives at an acceptable residual risk.</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69</a:t>
            </a:r>
          </a:p>
        </p:txBody>
      </p:sp>
    </p:spTree>
  </p:cSld>
  <p:clrMapOvr>
    <a:masterClrMapping/>
  </p:clrMapOvr>
  <p:transition spd="slow">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5 | K2, A2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Regulatory Change Impact Assessment</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Use the SCAN model to assess the effect of an ACRA register change on processes, systems, roles, evidence and third-party instructions.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Completed impact assessment and recommendation.</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Three individuals fined for fal | ACRA: Company registers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70</a:t>
            </a:r>
          </a:p>
        </p:txBody>
      </p:sp>
    </p:spTree>
  </p:cSld>
  <p:clrMapOvr>
    <a:masterClrMapping/>
  </p:clrMapOvr>
  <p:transition spd="slow">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5 | 31 OCTOBER 2025 | CONVICTED, FINED AND DISQUALIFIED</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Regulatory Change Impact Assessment</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YUAN SHUHUA - FALSE RORC EXEMPTION DECLARATIONS IN ANNUAL RETURNS</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ACRA reported that Yuan Shuhua made false declarations in RH Corporate Pte Ltd's annual returns for financial years ended 31 December 2020 and 2021, stating that the company was exempt from keeping a Register of Registrable Controllers when it was not. He was fined $15,000 and disqualified from acting as a director or taking part in company management for five years.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Use the conviction as the failure event. Apply current ACRA register guidance to design the corrected process; do not assume current deadlines were identical during the offence period.</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Three individuals fined for fal | ACRA: Company registers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71</a:t>
            </a:r>
          </a:p>
        </p:txBody>
      </p:sp>
    </p:spTree>
  </p:cSld>
  <p:clrMapOvr>
    <a:masterClrMapping/>
  </p:clrMapOvr>
  <p:transition spd="slow">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5: Regulatory Change Impact Assessment</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factual and eligibility checks should precede an exemption declaration?</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Where could annual-return and RORC processes fail independently or together?</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How should current ACRA requirements change the control design?</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evidence proves review, challenge, approval and filing accuracy?</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Applicability stated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All impact lenses considered</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Options are compliant</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Residual risk and verification included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 Three individuals fined for fal | ACRA: Company registers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72</a:t>
            </a:r>
          </a:p>
        </p:txBody>
      </p:sp>
    </p:spTree>
  </p:cSld>
  <p:clrMapOvr>
    <a:masterClrMapping/>
  </p:clrMapOvr>
  <p:transition spd="slow">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6 | K2, A2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Decision Memo: Digital Filing Controls</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Frame a proportionate board decision that balances legal compliance, control quality, cost, implementation risk and operational benefit.</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One-page board decision memo.</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Key GST missing-trader-fraud sy | IRAS: Seamless filing | IRAS: Record keeping | ACRA: Financial reporting duties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73</a:t>
            </a:r>
          </a:p>
        </p:txBody>
      </p:sp>
    </p:spTree>
  </p:cSld>
  <p:clrMapOvr>
    <a:masterClrMapping/>
  </p:clrMapOvr>
  <p:transition spd="slow">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6 | 29 JUNE 2026 | KEY SYNDICATE MEMBER CONVICTED AND SENTENCED</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Board Decision Memo: Digital Filing Controls</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NAGORE TRADING - GST MISSING-TRADER-FRAUD SCHEME</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IRAS reported that Giam Zi Hin, Luke was sentenced to six years' imprisonment for fraudulent trading in a GST missing-trader-fraud scheme involving about S$114 million in fictitious sales. Under his directions, Nagore Trading Pte Ltd used forged invoices from at least 12 local suppliers to create a false appearance of purchases and GST payments. Eight accused persons were charged in the scheme and the proceedings concluded with convictions.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The case demonstrates that digitisation cannot replace transaction authenticity and due diligence. The board options, system controls and approval conditions are learner recommendations.</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Key GST missing-trader-fraud sy | IRAS: Seamless filing | IRAS: Record keeping | ACRA: Financial reporting duties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74</a:t>
            </a:r>
          </a:p>
        </p:txBody>
      </p:sp>
    </p:spTree>
  </p:cSld>
  <p:clrMapOvr>
    <a:masterClrMapping/>
  </p:clrMapOvr>
  <p:transition spd="slow">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6: Board Decision Memo: Digital Filing Controls</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controls could test supplier identity, invoice authenticity and transaction substance?</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should remain a human approval or exception decision?</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due-diligence evidence should be retained before claiming input tax?</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conditions should a board attach to digital filing automation?</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Decision explicit</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Options compared fairly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Business facts drive recommendation</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Conditions and verification are specific</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 Key GST missing-trader-fraud sy | IRAS: Seamless filing | IRAS: Record keeping | ACRA: Financial reporting duties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75</a:t>
            </a:r>
          </a:p>
        </p:txBody>
      </p:sp>
    </p:spTree>
  </p:cSld>
  <p:clrMapOvr>
    <a:masterClrMapping/>
  </p:clrMapOvr>
  <p:transition spd="slow">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Afternoon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10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76</a:t>
            </a:r>
          </a:p>
        </p:txBody>
      </p:sp>
    </p:spTree>
  </p:cSld>
  <p:clrMapOvr>
    <a:masterClrMapping/>
  </p:clrMapOvr>
  <p:transition spd="slow">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4 | K2, A3 / LO2</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Influencing Business Units to Adapt to New Regulations</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Stakeholder alignment, role clarity, communication, training and compliance culture</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04</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77</a:t>
            </a:r>
          </a:p>
        </p:txBody>
      </p:sp>
    </p:spTree>
  </p:cSld>
  <p:clrMapOvr>
    <a:masterClrMapping/>
  </p:clrMapOvr>
  <p:transition spd="slow">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CHANGE LEADERSHIP</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Map stakeholders by impact and influence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High impact / high influence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Co-design the response and resolve trade-offs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High impact / low influence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Listen, equip and provide escalation routes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Low impact / high influence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informed with decision-grade evidence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Low impact / low influence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concise updates and monitor for change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78</a:t>
            </a:r>
          </a:p>
        </p:txBody>
      </p:sp>
    </p:spTree>
  </p:cSld>
  <p:clrMapOvr>
    <a:masterClrMapping/>
  </p:clrMapOvr>
  <p:transition spd="slow">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COMMUNICATION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Translate legal text into four business questions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What changed?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plain-language summary without unnecessary legal jargon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Why us?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business facts that make the requirement applicable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What must change?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Specific behaviours, systems, approvals and evidence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What happens next?</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Owner, date, support, exception path and verification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79</a:t>
            </a:r>
          </a:p>
        </p:txBody>
      </p:sp>
    </p:spTree>
  </p:cSld>
  <p:clrMapOvr>
    <a:masterClrMapping/>
  </p:clrMapOvr>
  <p:transition spd="slow">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INFLUENCE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Compliance as friction or enablement</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Constraint narrative</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new legal burden</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More forms and approvals</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Compliance owns the problem</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Launch is delayed until legal is satisfied</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Value narrative</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Protects licences, market access and customer trust</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Reduces rework through built-in controls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Business owns risk with expert support</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Compliant design accelerates repeatable growth</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ES Law: Corporate-law basics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80</a:t>
            </a:r>
          </a:p>
        </p:txBody>
      </p:sp>
    </p:spTree>
  </p:cSld>
  <p:clrMapOvr>
    <a:masterClrMapping/>
  </p:clrMapOvr>
  <p:transition spd="slow">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ROLE CLARITY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RACI prevents accountability gaps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Responsible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Performs the control or implementation task</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Accountable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Owns the outcome and approves exceptions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Consulted</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Provides specialist or affected-function input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Informed</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Receives status, decisions and escalation outcomes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Governance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81</a:t>
            </a:r>
          </a:p>
        </p:txBody>
      </p:sp>
    </p:spTree>
  </p:cSld>
  <p:clrMapOvr>
    <a:masterClrMapping/>
  </p:clrMapOvr>
  <p:transition spd="slow">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CAPABILITY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Role-based compliance learning</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Identify decisions and behaviours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Segment roles by exposure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Use realistic scenarios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Practise and assess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Refresh after change or control failure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82</a:t>
            </a:r>
          </a:p>
        </p:txBody>
      </p:sp>
    </p:spTree>
  </p:cSld>
  <p:clrMapOvr>
    <a:masterClrMapping/>
  </p:clrMapOvr>
  <p:transition spd="slow">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SPEAK-UP CULTURE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Make it safe to surface problems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Channels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Accessible reporting and advice routes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Protection</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 retaliation for good-faith concerns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Response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Triage, investigate and communicate outcomes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Learning</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root causes to improve controls and training</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83</a:t>
            </a:r>
          </a:p>
        </p:txBody>
      </p:sp>
    </p:spTree>
  </p:cSld>
  <p:clrMapOvr>
    <a:masterClrMapping/>
  </p:clrMapOvr>
  <p:transition spd="slow">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OVERSIGHT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reporting that drives action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Exposure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New obligations, major changes and high-risk business activity</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Control health</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Design gaps, operating failures and overdue actions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Incidents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Root cause, harm, notification and remediation</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Decisions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Residual risks or resources requiring board direction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84</a:t>
            </a:r>
          </a:p>
        </p:txBody>
      </p:sp>
    </p:spTree>
  </p:cSld>
  <p:clrMapOvr>
    <a:masterClrMapping/>
  </p:clrMapOvr>
  <p:transition spd="slow">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MEASUREMENT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Leading and lagging indicators</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Leading indicators</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Obligations without owners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Upcoming deadlines and overdue training</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Control-test failures and unresolved exceptions</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Third parties without current due diligence</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Lagging indicators</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Late filings and penalties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Notifiable incidents and complaints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Regulator findings or licence conditions</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Loss, rework, customer churn and reputational damage</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85</a:t>
            </a:r>
          </a:p>
        </p:txBody>
      </p:sp>
    </p:spTree>
  </p:cSld>
  <p:clrMapOvr>
    <a:masterClrMapping/>
  </p:clrMapOvr>
  <p:transition spd="slow">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IMPLEMENTATION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30-60-90 day adaptation plan</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0-30: scope and stabilise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31-60: redesign and pilot</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61-90: deploy and train</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Test control operation</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Report residual risk and improve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Financial Poise: Corporate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86</a:t>
            </a:r>
          </a:p>
        </p:txBody>
      </p:sp>
    </p:spTree>
  </p:cSld>
  <p:clrMapOvr>
    <a:masterClrMapping/>
  </p:clrMapOvr>
  <p:transition spd="slow">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A3</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People support change when the requirement is clear, the design is workable, and leaders model it.</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Influence combines evidence, empathy, role clarity and visible follow-through.</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Bizbot: Company compliance</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87</a:t>
            </a:r>
          </a:p>
        </p:txBody>
      </p:sp>
    </p:spTree>
  </p:cSld>
  <p:clrMapOvr>
    <a:masterClrMapping/>
  </p:clrMapOvr>
  <p:transition spd="slow">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7 | K2, A3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Influence Plan for Privacy-by-Design</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Build a stakeholder-specific influence plan that positions compliance as a workable design constraint and business enabler.</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Stakeholder map, influence messages and RACI.</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Breach of the Protection Obliga | PDPC: Breach notification | LeapXpert: Compliance guide | Pitt Law: Compliance legislation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88</a:t>
            </a:r>
          </a:p>
        </p:txBody>
      </p:sp>
    </p:spTree>
  </p:cSld>
  <p:clrMapOvr>
    <a:masterClrMapping/>
  </p:clrMapOvr>
  <p:transition spd="slow">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7 | 28 OCTOBER 2025 | PDPC BREACH DECISION AND $315,000 FINANCIAL PENALTY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Influence Plan for Privacy-by-Design</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MARINA BAY SANDS - SECURITY-CONTROL OMISSION DURING SOFTWARE MIGRATION</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PDPC reported that 665,495 Marina Bay Sands patrons had personal data illegally accessed and exfiltrated in October 2023. During a large software migration, one identifier for the Art Science Friends webpage was omitted from security-policy coverage. A single employee manually compiled API configurations without a second-layer check, and the omission remained undetected for six months. PDPC imposed a $315,000 penalty.</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Use the published migration and control facts. Stakeholder objections, messages, RACI and pilot design are learner-created implementation proposals, not statements made by MBS or PDPC.</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Breach of the Protection Obliga | PDPC: Breach notification | LeapXpert: Compliance guide | Pitt Law: Compliance legislation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89</a:t>
            </a:r>
          </a:p>
        </p:txBody>
      </p:sp>
    </p:spTree>
  </p:cSld>
  <p:clrMapOvr>
    <a:masterClrMapping/>
  </p:clrMapOvr>
  <p:transition spd="slow">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7: Privacy-by-Design</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stakeholder groups should have influenced migration design and sign-off?</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behaviours must change in Product, Engineering, Security, Data and leadership?</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evidence would show complete policy coverage before and after migration?</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residual-risk decision requires executive ownership?</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Messages are role-specific</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Compliance/business trade-off addressed</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RACI has one accountable owner</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Pilot and escalation defined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 Breach of the Protection Obliga | PDPC: Breach notification | LeapXpert: Compliance guide | Pitt Law: Compliance legislation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90</a:t>
            </a:r>
          </a:p>
        </p:txBody>
      </p:sp>
    </p:spTree>
  </p:cSld>
  <p:clrMapOvr>
    <a:masterClrMapping/>
  </p:clrMapOvr>
  <p:transition spd="slow">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8 | K2, A3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90-Day Compliance Operating Model</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Design a practical 30-60-90 day operating model covering ownership, calendar, controls, training, reporting, speak-up channels and assurance.</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30-60-90 day roadmap and monthly compliance dashboard outline.</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 Stars Engrg director sentenced o | MOM: WSH responsibilities | Pitt Law: Compliance legislation | LeapXpert: Compliance guide | Bizbot: Company compliance | Wolters Kluwer: Governance</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91</a:t>
            </a:r>
          </a:p>
        </p:txBody>
      </p:sp>
    </p:spTree>
  </p:cSld>
  <p:clrMapOvr>
    <a:masterClrMapping/>
  </p:clrMapOvr>
  <p:transition spd="slow">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8 | 25 JUNE 2026 SENTENCING ANNOUNCEMENT | DIRECTOR AND PRODUCTION MANAGER SENTENCED; COMPANY FINED $500,000</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Real Case | 90-Day Compliance Operating Model</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200" b="1">
                <a:solidFill>
                  <a:srgbClr val="7C3AED"/>
                </a:solidFill>
                <a:latin typeface="Arial"/>
              </a:rPr>
              <a:t>STARS ENGRG - FATAL 2021 TUAS WORKPLACE EXPLOSION</a:t>
            </a:r>
          </a:p>
        </p:txBody>
      </p:sp>
      <p:sp>
        <p:nvSpPr>
          <p:cNvPr id="8" name="TextBox 7"/>
          <p:cNvSpPr txBox="1"/>
          <p:nvPr/>
        </p:nvSpPr>
        <p:spPr>
          <a:xfrm>
            <a:off x="932688" y="2487168"/>
            <a:ext cx="6355080" cy="2971800"/>
          </a:xfrm>
          <a:prstGeom prst="rect">
            <a:avLst/>
          </a:prstGeom>
          <a:noFill/>
        </p:spPr>
        <p:txBody>
          <a:bodyPr wrap="square" anchor="t" lIns="45720" rIns="45720">
            <a:spAutoFit/>
          </a:bodyPr>
          <a:lstStyle/>
          <a:p>
            <a:pPr algn="l">
              <a:spcAft>
                <a:spcPts val="300"/>
              </a:spcAft>
            </a:pPr>
            <a:r>
              <a:rPr sz="1550" b="0">
                <a:solidFill>
                  <a:srgbClr val="161B26"/>
                </a:solidFill>
                <a:latin typeface="Arial"/>
              </a:rPr>
              <a:t>MOM reported that a 24 February 2021 explosion at Stars Engrg's Tuas worksite killed three workers and injured seven. A heated mixer had been operated unsafely despite overheating, oil leaks, smoke and an earlier fire. Investigations identified failures in risk assessment, safe work procedures, maintenance, supervision and training. The director was imprisoned, the company fined $500,000, and the production manager imprisoned for obstructing justice after messages were deleted.</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EVIDENCE BOUNDARY</a:t>
            </a:r>
          </a:p>
        </p:txBody>
      </p:sp>
      <p:sp>
        <p:nvSpPr>
          <p:cNvPr id="11" name="TextBox 10"/>
          <p:cNvSpPr txBox="1"/>
          <p:nvPr/>
        </p:nvSpPr>
        <p:spPr>
          <a:xfrm>
            <a:off x="8174736" y="2560320"/>
            <a:ext cx="2852928" cy="2560320"/>
          </a:xfrm>
          <a:prstGeom prst="rect">
            <a:avLst/>
          </a:prstGeom>
          <a:noFill/>
        </p:spPr>
        <p:txBody>
          <a:bodyPr wrap="square" anchor="t" lIns="45720" rIns="45720">
            <a:spAutoFit/>
          </a:bodyPr>
          <a:lstStyle/>
          <a:p>
            <a:pPr algn="l">
              <a:spcAft>
                <a:spcPts val="300"/>
              </a:spcAft>
            </a:pPr>
            <a:r>
              <a:rPr sz="1350" b="1">
                <a:solidFill>
                  <a:srgbClr val="172B4D"/>
                </a:solidFill>
                <a:latin typeface="Arial"/>
              </a:rPr>
              <a:t>The published failures are the diagnostic baseline. The 30-60-90 day operating model is a learner-designed remediation and prevention plan, not MOM's prescribed plan for the company.</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 Stars Engrg director sentenced o | MOM: WSH responsibilities | Pitt Law: Compliance legislation | LeapXpert: Compliance guide | Bizbot: Company compliance | Wolters Kluwer: Governance</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92</a:t>
            </a:r>
          </a:p>
        </p:txBody>
      </p:sp>
    </p:spTree>
  </p:cSld>
  <p:clrMapOvr>
    <a:masterClrMapping/>
  </p:clrMapOvr>
  <p:transition spd="slow">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8: 90-Day Operating Model</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warning signs and unsafe conditions required immediate stop-work action?</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risk, maintenance, training and supervision controls should be stabilised first?</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should management and the board see about exceptions and unresolved hazards?</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How should evidence preservation and speak-up protection be built into the model?</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Priorities risk-based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Owners and cadence clear</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Training and speak-up included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Metrics test effectiveness, not activity alone</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 Stars Engrg director sentenced o | MOM: WSH responsibilities | Pitt Law: Compliance legislation | LeapXpert: Compliance guide | Bizbot: Company compliance | Wolters Kluwer: Governance</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93</a:t>
            </a:r>
          </a:p>
        </p:txBody>
      </p:sp>
    </p:spTree>
  </p:cSld>
  <p:clrMapOvr>
    <a:masterClrMapping/>
  </p:clrMapOvr>
  <p:transition spd="slow">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WRAP-UP</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From obligations to an operating system</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Consolidate the frameworks, activities and assessment evidence</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94</a:t>
            </a:r>
          </a:p>
        </p:txBody>
      </p:sp>
    </p:spTree>
  </p:cSld>
  <p:clrMapOvr>
    <a:masterClrMapping/>
  </p:clrMapOvr>
  <p:transition spd="slow">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LEARNING OUTCOMES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What You Achieved</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K1</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Explained current legal/regulatory duties and global triggers.</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K2</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Connected compliance to the organisation's business and industry.</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A1</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Assessed regulatory impacts using evidence and structured lenses.</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A2</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Produced proportionate, documented business decisions.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A3</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Built influence, RACI, training and adaptation plans.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95</a:t>
            </a:r>
          </a:p>
        </p:txBody>
      </p:sp>
    </p:spTree>
  </p:cSld>
  <p:clrMapOvr>
    <a:masterClrMapping/>
  </p:clrMapOvr>
  <p:transition spd="slow">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TAKEAWAY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Your Compliance Operating System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Obligation register</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Calendar and owners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Controls and evidence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Change/incident response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Assurance and board reporting</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96</a:t>
            </a:r>
          </a:p>
        </p:txBody>
      </p:sp>
    </p:spTree>
  </p:cSld>
  <p:clrMapOvr>
    <a:masterClrMapping/>
  </p:clrMapOvr>
  <p:transition spd="slow">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ACTION PLAN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Next 30 Days</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Week 1</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Confirm entity facts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List regulators and licences</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Identify overdue obligations</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Weeks 2-3</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Assign RACI</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Build central calendar</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Fix priority controls</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Week 4</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Run one tabletop</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Report residual risks</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Agree the next 90 days</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97</a:t>
            </a:r>
          </a:p>
        </p:txBody>
      </p:sp>
    </p:spTree>
  </p:cSld>
  <p:clrMapOvr>
    <a:masterClrMapping/>
  </p:clrMapOvr>
  <p:transition spd="slow">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RESEARCH</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Source Discipline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Primary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ACRA, IRAS, MOM, CPF Board, PDPC and sector regulators.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Secondary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expert sources to frame questions and programme design.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Current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Record access date and re-check time-sensitive facts.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Advice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Escalate material ambiguity to qualified legal, tax or sector advisers.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98</a:t>
            </a:r>
          </a:p>
        </p:txBody>
      </p:sp>
    </p:spTree>
  </p:cSld>
  <p:clrMapOvr>
    <a:masterClrMapping/>
  </p:clrMapOvr>
  <p:transition spd="slow">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LMS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Courseware and Assessment on the LMS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01</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Download the current slides and Learner Guide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02</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Open the activity folder for detailed procedures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03</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digital attendance before assessment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04</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the WA and Case Study on the LMS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99</a:t>
            </a:r>
          </a:p>
        </p:txBody>
      </p:sp>
    </p:spTree>
  </p:cSld>
  <p:clrMapOvr>
    <a:masterClrMapping/>
  </p:clrMapOvr>
  <p:transition spd="slow">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5:00 PM-6:00 PM</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Reminder</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WA | 30 min</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4 questions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K1 + K2</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Open book</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CS | 30 min</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2 tasks</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A1 + A2 + A3</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One coherent scenario</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Finish</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Submit on LMS</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Sign summary record</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Raise appeal if required</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100</a:t>
            </a:r>
          </a:p>
        </p:txBody>
      </p:sp>
    </p:spTree>
  </p:cSld>
  <p:clrMapOvr>
    <a:masterClrMapping/>
  </p:clrMapOvr>
  <p:transition spd="slow">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FINAL CHECK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Flow</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TRAQOM</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 digital attendance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WA-SAQ</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Case Study</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Submit and sign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101</a:t>
            </a:r>
          </a:p>
        </p:txBody>
      </p:sp>
    </p:spTree>
  </p:cSld>
  <p:clrMapOvr>
    <a:masterClrMapping/>
  </p:clrMapOvr>
  <p:transition spd="slow">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TRAQOM | SSG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Digital Attendance (Mandatory)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AM</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Completed at the start of class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PM</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Completed after lunch</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Assessment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assessment digital attendance now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Evidence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SSG attendance record is authoritative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102</a:t>
            </a:r>
          </a:p>
        </p:txBody>
      </p:sp>
    </p:spTree>
  </p:cSld>
  <p:clrMapOvr>
    <a:masterClrMapping/>
  </p:clrMapOvr>
  <p:transition spd="slow">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CORPORATE LAW COMPLIANCE</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Thank You</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Apply the frameworks with current regulator guidance and qualified advice where the facts require it.</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103</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