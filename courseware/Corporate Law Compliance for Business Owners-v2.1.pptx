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359" r:id="rId11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 Id="rId3" Type="http://schemas.openxmlformats.org/officeDocument/2006/relationships/hyperlink" Target="https://github.com/tertiarycourses/TGS-2025053923-Corporate-Law-Compliance-for-Business-Owners"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 Id="rId3" Type="http://schemas.openxmlformats.org/officeDocument/2006/relationships/hyperlink" Target="https://github.com/tertiarycourses/TGS-2025053923-Corporate-Law-Compliance-for-Business-Owners" TargetMode="External"/><Relationship Id="rId4"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2551" cy="182880"/>
          </a:xfrm>
          <a:prstGeom prst="rect">
            <a:avLst/>
          </a:prstGeom>
          <a:solidFill>
            <a:srgbClr val="17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75120"/>
            <a:ext cx="12182551" cy="1737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685800" y="502920"/>
            <a:ext cx="804672" cy="804672"/>
          </a:xfrm>
          <a:prstGeom prst="rect">
            <a:avLst/>
          </a:prstGeom>
        </p:spPr>
      </p:pic>
      <p:sp>
        <p:nvSpPr>
          <p:cNvPr id="6" name="TextBox 5"/>
          <p:cNvSpPr txBox="1"/>
          <p:nvPr/>
        </p:nvSpPr>
        <p:spPr>
          <a:xfrm>
            <a:off x="731520" y="1572768"/>
            <a:ext cx="10789920" cy="320040"/>
          </a:xfrm>
          <a:prstGeom prst="rect">
            <a:avLst/>
          </a:prstGeom>
          <a:noFill/>
        </p:spPr>
        <p:txBody>
          <a:bodyPr wrap="square" anchor="t" lIns="45720" rIns="45720">
            <a:spAutoFit/>
          </a:bodyPr>
          <a:lstStyle/>
          <a:p>
            <a:pPr algn="l">
              <a:spcAft>
                <a:spcPts val="300"/>
              </a:spcAft>
            </a:pPr>
            <a:r>
              <a:rPr sz="1500" b="1">
                <a:solidFill>
                  <a:srgbClr val="1F6FEB"/>
                </a:solidFill>
                <a:latin typeface="Arial"/>
              </a:rPr>
              <a:t>WSQ COURSE SLIDES</a:t>
            </a:r>
          </a:p>
        </p:txBody>
      </p:sp>
      <p:sp>
        <p:nvSpPr>
          <p:cNvPr id="7" name="TextBox 6"/>
          <p:cNvSpPr txBox="1"/>
          <p:nvPr/>
        </p:nvSpPr>
        <p:spPr>
          <a:xfrm>
            <a:off x="731520" y="1993392"/>
            <a:ext cx="10789920" cy="1325880"/>
          </a:xfrm>
          <a:prstGeom prst="rect">
            <a:avLst/>
          </a:prstGeom>
          <a:noFill/>
        </p:spPr>
        <p:txBody>
          <a:bodyPr wrap="square" anchor="t" lIns="45720" rIns="45720">
            <a:spAutoFit/>
          </a:bodyPr>
          <a:lstStyle/>
          <a:p>
            <a:pPr algn="l">
              <a:spcAft>
                <a:spcPts val="300"/>
              </a:spcAft>
            </a:pPr>
            <a:r>
              <a:rPr sz="3800" b="1">
                <a:solidFill>
                  <a:srgbClr val="172B4D"/>
                </a:solidFill>
                <a:latin typeface="Arial"/>
              </a:rPr>
              <a:t>Corporate Law Compliance for Business Owners</a:t>
            </a:r>
          </a:p>
        </p:txBody>
      </p:sp>
      <p:sp>
        <p:nvSpPr>
          <p:cNvPr id="8" name="Rectangle 7"/>
          <p:cNvSpPr/>
          <p:nvPr/>
        </p:nvSpPr>
        <p:spPr>
          <a:xfrm>
            <a:off x="749808" y="3493008"/>
            <a:ext cx="2240280" cy="640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822191"/>
            <a:ext cx="10789920" cy="1371600"/>
          </a:xfrm>
          <a:prstGeom prst="rect">
            <a:avLst/>
          </a:prstGeom>
          <a:noFill/>
        </p:spPr>
        <p:txBody>
          <a:bodyPr wrap="square" anchor="t" lIns="45720" rIns="45720">
            <a:spAutoFit/>
          </a:bodyPr>
          <a:lstStyle/>
          <a:p>
            <a:pPr algn="l">
              <a:spcAft>
                <a:spcPts val="300"/>
              </a:spcAft>
            </a:pPr>
            <a:r>
              <a:rPr sz="1600" b="1">
                <a:solidFill>
                  <a:srgbClr val="161B26"/>
                </a:solidFill>
                <a:latin typeface="Arial"/>
              </a:rPr>
              <a:t>Course Code: TGS-2025053923</a:t>
            </a:r>
          </a:p>
          <a:p>
            <a:pPr algn="l">
              <a:spcAft>
                <a:spcPts val="300"/>
              </a:spcAft>
            </a:pPr>
            <a:r>
              <a:rPr sz="1400" b="0">
                <a:solidFill>
                  <a:srgbClr val="5B6372"/>
                </a:solidFill>
                <a:latin typeface="Arial"/>
              </a:rPr>
              <a:t>TSC: ACC-BLR-5001-1.1 | Corporate and Business Law</a:t>
            </a:r>
          </a:p>
          <a:p>
            <a:pPr algn="l">
              <a:spcAft>
                <a:spcPts val="300"/>
              </a:spcAft>
            </a:pPr>
            <a:r>
              <a:rPr sz="1400" b="0">
                <a:solidFill>
                  <a:srgbClr val="5B6372"/>
                </a:solidFill>
                <a:latin typeface="Arial"/>
              </a:rPr>
              <a:t>Conducted by Tertiary Infotech Academy Pte Ltd | UEN 201200696W</a:t>
            </a:r>
          </a:p>
          <a:p>
            <a:pPr algn="l">
              <a:spcAft>
                <a:spcPts val="300"/>
              </a:spcAft>
            </a:pPr>
            <a:r>
              <a:rPr sz="1400" b="0">
                <a:solidFill>
                  <a:srgbClr val="5B6372"/>
                </a:solidFill>
                <a:latin typeface="Arial"/>
              </a:rPr>
              <a:t>Trainer: Dr Alfred Ang</a:t>
            </a:r>
          </a:p>
        </p:txBody>
      </p:sp>
      <p:sp>
        <p:nvSpPr>
          <p:cNvPr id="10" name="TextBox 9"/>
          <p:cNvSpPr txBox="1"/>
          <p:nvPr/>
        </p:nvSpPr>
        <p:spPr>
          <a:xfrm>
            <a:off x="731520" y="5833872"/>
            <a:ext cx="10789920" cy="365760"/>
          </a:xfrm>
          <a:prstGeom prst="rect">
            <a:avLst/>
          </a:prstGeom>
          <a:noFill/>
        </p:spPr>
        <p:txBody>
          <a:bodyPr wrap="square" anchor="t" lIns="45720" rIns="45720">
            <a:spAutoFit/>
          </a:bodyPr>
          <a:lstStyle/>
          <a:p>
            <a:pPr algn="l">
              <a:spcAft>
                <a:spcPts val="300"/>
              </a:spcAft>
            </a:pPr>
            <a:r>
              <a:rPr sz="1200" b="0">
                <a:solidFill>
                  <a:srgbClr val="5B6372"/>
                </a:solidFill>
                <a:latin typeface="Arial"/>
              </a:rPr>
              <a:t>Version v2.1 | 12 August 2026</a:t>
            </a:r>
          </a:p>
        </p:txBody>
      </p:sp>
      <p:sp>
        <p:nvSpPr>
          <p:cNvPr id="11" name="TextBox 10"/>
          <p:cNvSpPr txBox="1"/>
          <p:nvPr/>
        </p:nvSpPr>
        <p:spPr>
          <a:xfrm>
            <a:off x="731520" y="6236208"/>
            <a:ext cx="10789920" cy="228600"/>
          </a:xfrm>
          <a:prstGeom prst="rect">
            <a:avLst/>
          </a:prstGeom>
          <a:noFill/>
        </p:spPr>
        <p:txBody>
          <a:bodyPr wrap="square" anchor="t" lIns="45720" rIns="45720">
            <a:spAutoFit/>
          </a:bodyPr>
          <a:lstStyle/>
          <a:p>
            <a:pPr algn="l">
              <a:spcAft>
                <a:spcPts val="300"/>
              </a:spcAft>
            </a:pPr>
            <a:r>
              <a:rPr sz="900" b="0">
                <a:solidFill>
                  <a:srgbClr val="5B6372"/>
                </a:solidFill>
                <a:latin typeface="Arial"/>
              </a:rPr>
              <a:t>© 2026 Tertiary Infotech Academy Pte Ltd. All rights reserved.</a:t>
            </a:r>
          </a:p>
        </p:txBody>
      </p:sp>
    </p:spTree>
  </p:cSld>
  <p:clrMapOvr>
    <a:masterClrMapping/>
  </p:clrMapOvr>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TRAQOM | SSG DIGITAL ATTENDANCE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Digital Attendance (Mandatory)</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AM</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Scan and submit the SSG digital attendance at the start of class.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PM</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Complete the PM attendance after lunch.</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Assessment</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Complete the separate assessment attendance before the assessment.</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Eligibility</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At least 75% attendance is required for funding/assessment eligibility.</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a:t>
            </a:r>
          </a:p>
        </p:txBody>
      </p:sp>
    </p:spTree>
  </p:cSld>
  <p:clrMapOvr>
    <a:masterClrMapping/>
  </p:clrMapOvr>
  <p:transition spd="slow">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5B6372"/>
                </a:solidFill>
                <a:latin typeface="Arial"/>
              </a:rPr>
              <a:t>FACILITATOR CAPABILITY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Trainer Standards</a:t>
            </a:r>
          </a:p>
        </p:txBody>
      </p:sp>
      <p:sp>
        <p:nvSpPr>
          <p:cNvPr id="6" name="Rounded Rectangle 5"/>
          <p:cNvSpPr/>
          <p:nvPr/>
        </p:nvSpPr>
        <p:spPr>
          <a:xfrm>
            <a:off x="658368" y="1700784"/>
            <a:ext cx="324612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64208" y="2084831"/>
            <a:ext cx="1234440" cy="123444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64208" y="2084831"/>
            <a:ext cx="1234440" cy="1234440"/>
          </a:xfrm>
          <a:prstGeom prst="rect">
            <a:avLst/>
          </a:prstGeom>
          <a:noFill/>
        </p:spPr>
        <p:txBody>
          <a:bodyPr wrap="square" anchor="ctr" lIns="45720" rIns="45720">
            <a:spAutoFit/>
          </a:bodyPr>
          <a:lstStyle/>
          <a:p>
            <a:pPr algn="ctr">
              <a:spcAft>
                <a:spcPts val="300"/>
              </a:spcAft>
            </a:pPr>
            <a:r>
              <a:rPr sz="3800" b="1">
                <a:solidFill>
                  <a:srgbClr val="FFFFFF"/>
                </a:solidFill>
                <a:latin typeface="Arial"/>
              </a:rPr>
              <a:t>✓</a:t>
            </a:r>
          </a:p>
        </p:txBody>
      </p:sp>
      <p:sp>
        <p:nvSpPr>
          <p:cNvPr id="9" name="TextBox 8"/>
          <p:cNvSpPr txBox="1"/>
          <p:nvPr/>
        </p:nvSpPr>
        <p:spPr>
          <a:xfrm>
            <a:off x="868680" y="3611880"/>
            <a:ext cx="2816352" cy="502920"/>
          </a:xfrm>
          <a:prstGeom prst="rect">
            <a:avLst/>
          </a:prstGeom>
          <a:noFill/>
        </p:spPr>
        <p:txBody>
          <a:bodyPr wrap="square" anchor="t" lIns="45720" rIns="45720">
            <a:spAutoFit/>
          </a:bodyPr>
          <a:lstStyle/>
          <a:p>
            <a:pPr algn="ctr">
              <a:spcAft>
                <a:spcPts val="300"/>
              </a:spcAft>
            </a:pPr>
            <a:r>
              <a:rPr sz="2000" b="1">
                <a:solidFill>
                  <a:srgbClr val="161B26"/>
                </a:solidFill>
                <a:latin typeface="Arial"/>
              </a:rPr>
              <a:t>Qualified Facilitator</a:t>
            </a:r>
          </a:p>
        </p:txBody>
      </p:sp>
      <p:sp>
        <p:nvSpPr>
          <p:cNvPr id="10" name="TextBox 9"/>
          <p:cNvSpPr txBox="1"/>
          <p:nvPr/>
        </p:nvSpPr>
        <p:spPr>
          <a:xfrm>
            <a:off x="868680" y="4187952"/>
            <a:ext cx="2816352" cy="640080"/>
          </a:xfrm>
          <a:prstGeom prst="rect">
            <a:avLst/>
          </a:prstGeom>
          <a:noFill/>
        </p:spPr>
        <p:txBody>
          <a:bodyPr wrap="square" anchor="t" lIns="45720" rIns="45720">
            <a:spAutoFit/>
          </a:bodyPr>
          <a:lstStyle/>
          <a:p>
            <a:pPr algn="ctr">
              <a:spcAft>
                <a:spcPts val="300"/>
              </a:spcAft>
            </a:pPr>
            <a:r>
              <a:rPr sz="1250" b="0">
                <a:solidFill>
                  <a:srgbClr val="5B6372"/>
                </a:solidFill>
                <a:latin typeface="Arial"/>
              </a:rPr>
              <a:t>Course delivery standard</a:t>
            </a:r>
          </a:p>
        </p:txBody>
      </p:sp>
      <p:sp>
        <p:nvSpPr>
          <p:cNvPr id="11" name="Rounded Rectangle 10"/>
          <p:cNvSpPr/>
          <p:nvPr/>
        </p:nvSpPr>
        <p:spPr>
          <a:xfrm>
            <a:off x="4224528" y="17007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764792"/>
            <a:ext cx="2011680" cy="210312"/>
          </a:xfrm>
          <a:prstGeom prst="rect">
            <a:avLst/>
          </a:prstGeom>
          <a:noFill/>
        </p:spPr>
        <p:txBody>
          <a:bodyPr wrap="square" anchor="t" lIns="45720" rIns="45720">
            <a:spAutoFit/>
          </a:bodyPr>
          <a:lstStyle/>
          <a:p>
            <a:pPr algn="l">
              <a:spcAft>
                <a:spcPts val="300"/>
              </a:spcAft>
            </a:pPr>
            <a:r>
              <a:rPr sz="950" b="1">
                <a:solidFill>
                  <a:srgbClr val="1F6FEB"/>
                </a:solidFill>
                <a:latin typeface="Arial"/>
              </a:rPr>
              <a:t>ADULT EDUCATION</a:t>
            </a:r>
          </a:p>
        </p:txBody>
      </p:sp>
      <p:sp>
        <p:nvSpPr>
          <p:cNvPr id="13" name="TextBox 12"/>
          <p:cNvSpPr txBox="1"/>
          <p:nvPr/>
        </p:nvSpPr>
        <p:spPr>
          <a:xfrm>
            <a:off x="6446520" y="17647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WSQ-certified adult educator</a:t>
            </a:r>
          </a:p>
        </p:txBody>
      </p:sp>
      <p:sp>
        <p:nvSpPr>
          <p:cNvPr id="14" name="Rounded Rectangle 13"/>
          <p:cNvSpPr/>
          <p:nvPr/>
        </p:nvSpPr>
        <p:spPr>
          <a:xfrm>
            <a:off x="4224528" y="23865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2450592"/>
            <a:ext cx="2011680" cy="210312"/>
          </a:xfrm>
          <a:prstGeom prst="rect">
            <a:avLst/>
          </a:prstGeom>
          <a:noFill/>
        </p:spPr>
        <p:txBody>
          <a:bodyPr wrap="square" anchor="t" lIns="45720" rIns="45720">
            <a:spAutoFit/>
          </a:bodyPr>
          <a:lstStyle/>
          <a:p>
            <a:pPr algn="l">
              <a:spcAft>
                <a:spcPts val="300"/>
              </a:spcAft>
            </a:pPr>
            <a:r>
              <a:rPr sz="950" b="1">
                <a:solidFill>
                  <a:srgbClr val="10B981"/>
                </a:solidFill>
                <a:latin typeface="Arial"/>
              </a:rPr>
              <a:t>LEGAL BOUNDARIES</a:t>
            </a:r>
          </a:p>
        </p:txBody>
      </p:sp>
      <p:sp>
        <p:nvSpPr>
          <p:cNvPr id="16" name="TextBox 15"/>
          <p:cNvSpPr txBox="1"/>
          <p:nvPr/>
        </p:nvSpPr>
        <p:spPr>
          <a:xfrm>
            <a:off x="6446520" y="24505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Distinguishes education from legal advice</a:t>
            </a:r>
          </a:p>
        </p:txBody>
      </p:sp>
      <p:sp>
        <p:nvSpPr>
          <p:cNvPr id="17" name="Rounded Rectangle 16"/>
          <p:cNvSpPr/>
          <p:nvPr/>
        </p:nvSpPr>
        <p:spPr>
          <a:xfrm>
            <a:off x="4224528" y="30723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3136392"/>
            <a:ext cx="2011680" cy="210312"/>
          </a:xfrm>
          <a:prstGeom prst="rect">
            <a:avLst/>
          </a:prstGeom>
          <a:noFill/>
        </p:spPr>
        <p:txBody>
          <a:bodyPr wrap="square" anchor="t" lIns="45720" rIns="45720">
            <a:spAutoFit/>
          </a:bodyPr>
          <a:lstStyle/>
          <a:p>
            <a:pPr algn="l">
              <a:spcAft>
                <a:spcPts val="300"/>
              </a:spcAft>
            </a:pPr>
            <a:r>
              <a:rPr sz="950" b="1">
                <a:solidFill>
                  <a:srgbClr val="7C3AED"/>
                </a:solidFill>
                <a:latin typeface="Arial"/>
              </a:rPr>
              <a:t>SOURCE DISCIPLINE</a:t>
            </a:r>
          </a:p>
        </p:txBody>
      </p:sp>
      <p:sp>
        <p:nvSpPr>
          <p:cNvPr id="19" name="TextBox 18"/>
          <p:cNvSpPr txBox="1"/>
          <p:nvPr/>
        </p:nvSpPr>
        <p:spPr>
          <a:xfrm>
            <a:off x="6446520" y="31363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Uses current Singapore regulator sources</a:t>
            </a:r>
          </a:p>
        </p:txBody>
      </p:sp>
      <p:sp>
        <p:nvSpPr>
          <p:cNvPr id="20" name="Rounded Rectangle 19"/>
          <p:cNvSpPr/>
          <p:nvPr/>
        </p:nvSpPr>
        <p:spPr>
          <a:xfrm>
            <a:off x="4224528" y="37581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3822192"/>
            <a:ext cx="2011680" cy="210312"/>
          </a:xfrm>
          <a:prstGeom prst="rect">
            <a:avLst/>
          </a:prstGeom>
          <a:noFill/>
        </p:spPr>
        <p:txBody>
          <a:bodyPr wrap="square" anchor="t" lIns="45720" rIns="45720">
            <a:spAutoFit/>
          </a:bodyPr>
          <a:lstStyle/>
          <a:p>
            <a:pPr algn="l">
              <a:spcAft>
                <a:spcPts val="300"/>
              </a:spcAft>
            </a:pPr>
            <a:r>
              <a:rPr sz="950" b="1">
                <a:solidFill>
                  <a:srgbClr val="F59E0B"/>
                </a:solidFill>
                <a:latin typeface="Arial"/>
              </a:rPr>
              <a:t>FACILITATION</a:t>
            </a:r>
          </a:p>
        </p:txBody>
      </p:sp>
      <p:sp>
        <p:nvSpPr>
          <p:cNvPr id="22" name="TextBox 21"/>
          <p:cNvSpPr txBox="1"/>
          <p:nvPr/>
        </p:nvSpPr>
        <p:spPr>
          <a:xfrm>
            <a:off x="6446520" y="38221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Supports evidence-based business decisions</a:t>
            </a:r>
          </a:p>
        </p:txBody>
      </p:sp>
      <p:sp>
        <p:nvSpPr>
          <p:cNvPr id="23" name="Rounded Rectangle 22"/>
          <p:cNvSpPr/>
          <p:nvPr/>
        </p:nvSpPr>
        <p:spPr>
          <a:xfrm>
            <a:off x="4224528" y="44439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4507992"/>
            <a:ext cx="2011680" cy="210312"/>
          </a:xfrm>
          <a:prstGeom prst="rect">
            <a:avLst/>
          </a:prstGeom>
          <a:noFill/>
        </p:spPr>
        <p:txBody>
          <a:bodyPr wrap="square" anchor="t" lIns="45720" rIns="45720">
            <a:spAutoFit/>
          </a:bodyPr>
          <a:lstStyle/>
          <a:p>
            <a:pPr algn="l">
              <a:spcAft>
                <a:spcPts val="300"/>
              </a:spcAft>
            </a:pPr>
            <a:r>
              <a:rPr sz="950" b="1">
                <a:solidFill>
                  <a:srgbClr val="1F6FEB"/>
                </a:solidFill>
                <a:latin typeface="Arial"/>
              </a:rPr>
              <a:t>ASSESSMENT</a:t>
            </a:r>
          </a:p>
        </p:txBody>
      </p:sp>
      <p:sp>
        <p:nvSpPr>
          <p:cNvPr id="25" name="TextBox 24"/>
          <p:cNvSpPr txBox="1"/>
          <p:nvPr/>
        </p:nvSpPr>
        <p:spPr>
          <a:xfrm>
            <a:off x="6446520" y="45079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Applies approved instruments consistently</a:t>
            </a:r>
          </a:p>
        </p:txBody>
      </p:sp>
      <p:sp>
        <p:nvSpPr>
          <p:cNvPr id="26" name="Rounded Rectangle 25"/>
          <p:cNvSpPr/>
          <p:nvPr/>
        </p:nvSpPr>
        <p:spPr>
          <a:xfrm>
            <a:off x="4224528" y="51297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0" y="5193792"/>
            <a:ext cx="2011680" cy="210312"/>
          </a:xfrm>
          <a:prstGeom prst="rect">
            <a:avLst/>
          </a:prstGeom>
          <a:noFill/>
        </p:spPr>
        <p:txBody>
          <a:bodyPr wrap="square" anchor="t" lIns="45720" rIns="45720">
            <a:spAutoFit/>
          </a:bodyPr>
          <a:lstStyle/>
          <a:p>
            <a:pPr algn="l">
              <a:spcAft>
                <a:spcPts val="300"/>
              </a:spcAft>
            </a:pPr>
            <a:r>
              <a:rPr sz="950" b="1">
                <a:solidFill>
                  <a:srgbClr val="10B981"/>
                </a:solidFill>
                <a:latin typeface="Arial"/>
              </a:rPr>
              <a:t>SUPPORT</a:t>
            </a:r>
          </a:p>
        </p:txBody>
      </p:sp>
      <p:sp>
        <p:nvSpPr>
          <p:cNvPr id="28" name="TextBox 27"/>
          <p:cNvSpPr txBox="1"/>
          <p:nvPr/>
        </p:nvSpPr>
        <p:spPr>
          <a:xfrm>
            <a:off x="6446520" y="51937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Escalates material uncertainty appropriately</a:t>
            </a:r>
          </a:p>
        </p:txBody>
      </p:sp>
      <p:sp>
        <p:nvSpPr>
          <p:cNvPr id="29" name="TextBox 28"/>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0" name="Rectangle 29"/>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2" name="TextBox 31"/>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3" name="TextBox 32"/>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a:t>
            </a:r>
          </a:p>
        </p:txBody>
      </p:sp>
    </p:spTree>
  </p:cSld>
  <p:clrMapOvr>
    <a:masterClrMapping/>
  </p:clrMapOvr>
  <p:transition spd="slow">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YOUR TRAINER</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About the Trainer</a:t>
            </a:r>
          </a:p>
        </p:txBody>
      </p:sp>
      <p:sp>
        <p:nvSpPr>
          <p:cNvPr id="6" name="Rounded Rectangle 5"/>
          <p:cNvSpPr/>
          <p:nvPr/>
        </p:nvSpPr>
        <p:spPr>
          <a:xfrm>
            <a:off x="658368" y="1700784"/>
            <a:ext cx="324612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64208" y="2084831"/>
            <a:ext cx="1234440" cy="12344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64208" y="2084831"/>
            <a:ext cx="1234440" cy="1234440"/>
          </a:xfrm>
          <a:prstGeom prst="rect">
            <a:avLst/>
          </a:prstGeom>
          <a:noFill/>
        </p:spPr>
        <p:txBody>
          <a:bodyPr wrap="square" anchor="ctr" lIns="45720" rIns="45720">
            <a:spAutoFit/>
          </a:bodyPr>
          <a:lstStyle/>
          <a:p>
            <a:pPr algn="ctr">
              <a:spcAft>
                <a:spcPts val="300"/>
              </a:spcAft>
            </a:pPr>
            <a:r>
              <a:rPr sz="3800" b="1">
                <a:solidFill>
                  <a:srgbClr val="FFFFFF"/>
                </a:solidFill>
                <a:latin typeface="Arial"/>
              </a:rPr>
              <a:t>AA</a:t>
            </a:r>
          </a:p>
        </p:txBody>
      </p:sp>
      <p:sp>
        <p:nvSpPr>
          <p:cNvPr id="9" name="TextBox 8"/>
          <p:cNvSpPr txBox="1"/>
          <p:nvPr/>
        </p:nvSpPr>
        <p:spPr>
          <a:xfrm>
            <a:off x="868680" y="3611880"/>
            <a:ext cx="2816352" cy="502920"/>
          </a:xfrm>
          <a:prstGeom prst="rect">
            <a:avLst/>
          </a:prstGeom>
          <a:noFill/>
        </p:spPr>
        <p:txBody>
          <a:bodyPr wrap="square" anchor="t" lIns="45720" rIns="45720">
            <a:spAutoFit/>
          </a:bodyPr>
          <a:lstStyle/>
          <a:p>
            <a:pPr algn="ctr">
              <a:spcAft>
                <a:spcPts val="300"/>
              </a:spcAft>
            </a:pPr>
            <a:r>
              <a:rPr sz="2000" b="1">
                <a:solidFill>
                  <a:srgbClr val="161B26"/>
                </a:solidFill>
                <a:latin typeface="Arial"/>
              </a:rPr>
              <a:t>Dr Alfred Ang</a:t>
            </a:r>
          </a:p>
        </p:txBody>
      </p:sp>
      <p:sp>
        <p:nvSpPr>
          <p:cNvPr id="10" name="TextBox 9"/>
          <p:cNvSpPr txBox="1"/>
          <p:nvPr/>
        </p:nvSpPr>
        <p:spPr>
          <a:xfrm>
            <a:off x="868680" y="4187952"/>
            <a:ext cx="2816352" cy="640080"/>
          </a:xfrm>
          <a:prstGeom prst="rect">
            <a:avLst/>
          </a:prstGeom>
          <a:noFill/>
        </p:spPr>
        <p:txBody>
          <a:bodyPr wrap="square" anchor="t" lIns="45720" rIns="45720">
            <a:spAutoFit/>
          </a:bodyPr>
          <a:lstStyle/>
          <a:p>
            <a:pPr algn="ctr">
              <a:spcAft>
                <a:spcPts val="300"/>
              </a:spcAft>
            </a:pPr>
            <a:r>
              <a:rPr sz="1250" b="0">
                <a:solidFill>
                  <a:srgbClr val="5B6372"/>
                </a:solidFill>
                <a:latin typeface="Arial"/>
              </a:rPr>
              <a:t>Principal Trainer | Tertiary Infotech Academy</a:t>
            </a:r>
          </a:p>
        </p:txBody>
      </p:sp>
      <p:sp>
        <p:nvSpPr>
          <p:cNvPr id="11" name="Rounded Rectangle 10"/>
          <p:cNvSpPr/>
          <p:nvPr/>
        </p:nvSpPr>
        <p:spPr>
          <a:xfrm>
            <a:off x="4224528" y="17007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764792"/>
            <a:ext cx="2011680" cy="210312"/>
          </a:xfrm>
          <a:prstGeom prst="rect">
            <a:avLst/>
          </a:prstGeom>
          <a:noFill/>
        </p:spPr>
        <p:txBody>
          <a:bodyPr wrap="square" anchor="t" lIns="45720" rIns="45720">
            <a:spAutoFit/>
          </a:bodyPr>
          <a:lstStyle/>
          <a:p>
            <a:pPr algn="l">
              <a:spcAft>
                <a:spcPts val="300"/>
              </a:spcAft>
            </a:pPr>
            <a:r>
              <a:rPr sz="950" b="1">
                <a:solidFill>
                  <a:srgbClr val="1F6FEB"/>
                </a:solidFill>
                <a:latin typeface="Arial"/>
              </a:rPr>
              <a:t>ADULT EDUCATION</a:t>
            </a:r>
          </a:p>
        </p:txBody>
      </p:sp>
      <p:sp>
        <p:nvSpPr>
          <p:cNvPr id="13" name="TextBox 12"/>
          <p:cNvSpPr txBox="1"/>
          <p:nvPr/>
        </p:nvSpPr>
        <p:spPr>
          <a:xfrm>
            <a:off x="6446520" y="17647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Dr Alfred Ang</a:t>
            </a:r>
          </a:p>
        </p:txBody>
      </p:sp>
      <p:sp>
        <p:nvSpPr>
          <p:cNvPr id="14" name="Rounded Rectangle 13"/>
          <p:cNvSpPr/>
          <p:nvPr/>
        </p:nvSpPr>
        <p:spPr>
          <a:xfrm>
            <a:off x="4224528" y="23865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2450592"/>
            <a:ext cx="2011680" cy="210312"/>
          </a:xfrm>
          <a:prstGeom prst="rect">
            <a:avLst/>
          </a:prstGeom>
          <a:noFill/>
        </p:spPr>
        <p:txBody>
          <a:bodyPr wrap="square" anchor="t" lIns="45720" rIns="45720">
            <a:spAutoFit/>
          </a:bodyPr>
          <a:lstStyle/>
          <a:p>
            <a:pPr algn="l">
              <a:spcAft>
                <a:spcPts val="300"/>
              </a:spcAft>
            </a:pPr>
            <a:r>
              <a:rPr sz="950" b="1">
                <a:solidFill>
                  <a:srgbClr val="10B981"/>
                </a:solidFill>
                <a:latin typeface="Arial"/>
              </a:rPr>
              <a:t>LEGAL BOUNDARIES</a:t>
            </a:r>
          </a:p>
        </p:txBody>
      </p:sp>
      <p:sp>
        <p:nvSpPr>
          <p:cNvPr id="16" name="TextBox 15"/>
          <p:cNvSpPr txBox="1"/>
          <p:nvPr/>
        </p:nvSpPr>
        <p:spPr>
          <a:xfrm>
            <a:off x="6446520" y="24505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Founder and Principal Trainer</a:t>
            </a:r>
          </a:p>
        </p:txBody>
      </p:sp>
      <p:sp>
        <p:nvSpPr>
          <p:cNvPr id="17" name="Rounded Rectangle 16"/>
          <p:cNvSpPr/>
          <p:nvPr/>
        </p:nvSpPr>
        <p:spPr>
          <a:xfrm>
            <a:off x="4224528" y="30723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3136392"/>
            <a:ext cx="2011680" cy="210312"/>
          </a:xfrm>
          <a:prstGeom prst="rect">
            <a:avLst/>
          </a:prstGeom>
          <a:noFill/>
        </p:spPr>
        <p:txBody>
          <a:bodyPr wrap="square" anchor="t" lIns="45720" rIns="45720">
            <a:spAutoFit/>
          </a:bodyPr>
          <a:lstStyle/>
          <a:p>
            <a:pPr algn="l">
              <a:spcAft>
                <a:spcPts val="300"/>
              </a:spcAft>
            </a:pPr>
            <a:r>
              <a:rPr sz="950" b="1">
                <a:solidFill>
                  <a:srgbClr val="7C3AED"/>
                </a:solidFill>
                <a:latin typeface="Arial"/>
              </a:rPr>
              <a:t>SOURCE DISCIPLINE</a:t>
            </a:r>
          </a:p>
        </p:txBody>
      </p:sp>
      <p:sp>
        <p:nvSpPr>
          <p:cNvPr id="19" name="TextBox 18"/>
          <p:cNvSpPr txBox="1"/>
          <p:nvPr/>
        </p:nvSpPr>
        <p:spPr>
          <a:xfrm>
            <a:off x="6446520" y="31363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Doctorate-level educator and adult-learning practitioner</a:t>
            </a:r>
          </a:p>
        </p:txBody>
      </p:sp>
      <p:sp>
        <p:nvSpPr>
          <p:cNvPr id="20" name="Rounded Rectangle 19"/>
          <p:cNvSpPr/>
          <p:nvPr/>
        </p:nvSpPr>
        <p:spPr>
          <a:xfrm>
            <a:off x="4224528" y="37581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3822192"/>
            <a:ext cx="2011680" cy="210312"/>
          </a:xfrm>
          <a:prstGeom prst="rect">
            <a:avLst/>
          </a:prstGeom>
          <a:noFill/>
        </p:spPr>
        <p:txBody>
          <a:bodyPr wrap="square" anchor="t" lIns="45720" rIns="45720">
            <a:spAutoFit/>
          </a:bodyPr>
          <a:lstStyle/>
          <a:p>
            <a:pPr algn="l">
              <a:spcAft>
                <a:spcPts val="300"/>
              </a:spcAft>
            </a:pPr>
            <a:r>
              <a:rPr sz="950" b="1">
                <a:solidFill>
                  <a:srgbClr val="F59E0B"/>
                </a:solidFill>
                <a:latin typeface="Arial"/>
              </a:rPr>
              <a:t>FACILITATION</a:t>
            </a:r>
          </a:p>
        </p:txBody>
      </p:sp>
      <p:sp>
        <p:nvSpPr>
          <p:cNvPr id="22" name="TextBox 21"/>
          <p:cNvSpPr txBox="1"/>
          <p:nvPr/>
        </p:nvSpPr>
        <p:spPr>
          <a:xfrm>
            <a:off x="6446520" y="38221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Business, AI, digital transformation and governance</a:t>
            </a:r>
          </a:p>
        </p:txBody>
      </p:sp>
      <p:sp>
        <p:nvSpPr>
          <p:cNvPr id="23" name="Rounded Rectangle 22"/>
          <p:cNvSpPr/>
          <p:nvPr/>
        </p:nvSpPr>
        <p:spPr>
          <a:xfrm>
            <a:off x="4224528" y="44439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4507992"/>
            <a:ext cx="2011680" cy="210312"/>
          </a:xfrm>
          <a:prstGeom prst="rect">
            <a:avLst/>
          </a:prstGeom>
          <a:noFill/>
        </p:spPr>
        <p:txBody>
          <a:bodyPr wrap="square" anchor="t" lIns="45720" rIns="45720">
            <a:spAutoFit/>
          </a:bodyPr>
          <a:lstStyle/>
          <a:p>
            <a:pPr algn="l">
              <a:spcAft>
                <a:spcPts val="300"/>
              </a:spcAft>
            </a:pPr>
            <a:r>
              <a:rPr sz="950" b="1">
                <a:solidFill>
                  <a:srgbClr val="1F6FEB"/>
                </a:solidFill>
                <a:latin typeface="Arial"/>
              </a:rPr>
              <a:t>ASSESSMENT</a:t>
            </a:r>
          </a:p>
        </p:txBody>
      </p:sp>
      <p:sp>
        <p:nvSpPr>
          <p:cNvPr id="25" name="TextBox 24"/>
          <p:cNvSpPr txBox="1"/>
          <p:nvPr/>
        </p:nvSpPr>
        <p:spPr>
          <a:xfrm>
            <a:off x="6446520" y="45079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WSQ course development and enterprise training</a:t>
            </a:r>
          </a:p>
        </p:txBody>
      </p:sp>
      <p:sp>
        <p:nvSpPr>
          <p:cNvPr id="26" name="Rounded Rectangle 25"/>
          <p:cNvSpPr/>
          <p:nvPr/>
        </p:nvSpPr>
        <p:spPr>
          <a:xfrm>
            <a:off x="4224528" y="5129784"/>
            <a:ext cx="7114032" cy="56692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0" y="5193792"/>
            <a:ext cx="2011680" cy="210312"/>
          </a:xfrm>
          <a:prstGeom prst="rect">
            <a:avLst/>
          </a:prstGeom>
          <a:noFill/>
        </p:spPr>
        <p:txBody>
          <a:bodyPr wrap="square" anchor="t" lIns="45720" rIns="45720">
            <a:spAutoFit/>
          </a:bodyPr>
          <a:lstStyle/>
          <a:p>
            <a:pPr algn="l">
              <a:spcAft>
                <a:spcPts val="300"/>
              </a:spcAft>
            </a:pPr>
            <a:r>
              <a:rPr sz="950" b="1">
                <a:solidFill>
                  <a:srgbClr val="10B981"/>
                </a:solidFill>
                <a:latin typeface="Arial"/>
              </a:rPr>
              <a:t>SUPPORT</a:t>
            </a:r>
          </a:p>
        </p:txBody>
      </p:sp>
      <p:sp>
        <p:nvSpPr>
          <p:cNvPr id="28" name="TextBox 27"/>
          <p:cNvSpPr txBox="1"/>
          <p:nvPr/>
        </p:nvSpPr>
        <p:spPr>
          <a:xfrm>
            <a:off x="6446520" y="5193792"/>
            <a:ext cx="4617720" cy="384048"/>
          </a:xfrm>
          <a:prstGeom prst="rect">
            <a:avLst/>
          </a:prstGeom>
          <a:noFill/>
        </p:spPr>
        <p:txBody>
          <a:bodyPr wrap="square" anchor="t" lIns="45720" rIns="45720">
            <a:spAutoFit/>
          </a:bodyPr>
          <a:lstStyle/>
          <a:p>
            <a:pPr algn="l">
              <a:spcAft>
                <a:spcPts val="300"/>
              </a:spcAft>
            </a:pPr>
            <a:r>
              <a:rPr sz="1200" b="0">
                <a:solidFill>
                  <a:srgbClr val="161B26"/>
                </a:solidFill>
                <a:latin typeface="Arial"/>
              </a:rPr>
              <a:t>enquiry@tertiaryinfotech.com | +65 6100 0613</a:t>
            </a:r>
          </a:p>
        </p:txBody>
      </p:sp>
      <p:sp>
        <p:nvSpPr>
          <p:cNvPr id="29" name="TextBox 28"/>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0" name="Rectangle 29"/>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2" name="TextBox 31"/>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3" name="TextBox 32"/>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a:t>
            </a:r>
          </a:p>
        </p:txBody>
      </p:sp>
    </p:spTree>
  </p:cSld>
  <p:clrMapOvr>
    <a:masterClrMapping/>
  </p:clrMapOvr>
  <p:transition spd="slow">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LEARNER INTRODUCTION</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Let's Know Each Other</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01</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Name and business/role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02</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One regulated activity in your organisation</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03</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 compliance problem you want to prevent</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04</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One outcome you want from today</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a:t>
            </a:r>
          </a:p>
        </p:txBody>
      </p:sp>
    </p:spTree>
  </p:cSld>
  <p:clrMapOvr>
    <a:masterClrMapping/>
  </p:clrMapOvr>
  <p:transition spd="slow">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HOUSEKEEPING</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Ground Rules</a:t>
            </a:r>
          </a:p>
        </p:txBody>
      </p:sp>
      <p:sp>
        <p:nvSpPr>
          <p:cNvPr id="6" name="Rounded Rectangle 5"/>
          <p:cNvSpPr/>
          <p:nvPr/>
        </p:nvSpPr>
        <p:spPr>
          <a:xfrm>
            <a:off x="658368"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Respect</a:t>
            </a:r>
          </a:p>
        </p:txBody>
      </p:sp>
      <p:sp>
        <p:nvSpPr>
          <p:cNvPr id="11" name="TextBox 10"/>
          <p:cNvSpPr txBox="1"/>
          <p:nvPr/>
        </p:nvSpPr>
        <p:spPr>
          <a:xfrm>
            <a:off x="1444752"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Challenge ideas, not people.</a:t>
            </a:r>
          </a:p>
        </p:txBody>
      </p:sp>
      <p:sp>
        <p:nvSpPr>
          <p:cNvPr id="12" name="Rounded Rectangle 11"/>
          <p:cNvSpPr/>
          <p:nvPr/>
        </p:nvSpPr>
        <p:spPr>
          <a:xfrm>
            <a:off x="4358640"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8640"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9808"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5145024" y="1837944"/>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Participation</a:t>
            </a:r>
          </a:p>
        </p:txBody>
      </p:sp>
      <p:sp>
        <p:nvSpPr>
          <p:cNvPr id="17" name="TextBox 16"/>
          <p:cNvSpPr txBox="1"/>
          <p:nvPr/>
        </p:nvSpPr>
        <p:spPr>
          <a:xfrm>
            <a:off x="5145024"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examples without exposing confidential information.</a:t>
            </a:r>
          </a:p>
        </p:txBody>
      </p:sp>
      <p:sp>
        <p:nvSpPr>
          <p:cNvPr id="18" name="Rounded Rectangle 17"/>
          <p:cNvSpPr/>
          <p:nvPr/>
        </p:nvSpPr>
        <p:spPr>
          <a:xfrm>
            <a:off x="8058912"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8912" y="1673352"/>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0080" y="1883664"/>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0080"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8845296" y="1837944"/>
            <a:ext cx="2493264"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Questions</a:t>
            </a:r>
          </a:p>
        </p:txBody>
      </p:sp>
      <p:sp>
        <p:nvSpPr>
          <p:cNvPr id="23" name="TextBox 22"/>
          <p:cNvSpPr txBox="1"/>
          <p:nvPr/>
        </p:nvSpPr>
        <p:spPr>
          <a:xfrm>
            <a:off x="8845296"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Ask early; legal ambiguity is part of the learning.</a:t>
            </a:r>
          </a:p>
        </p:txBody>
      </p:sp>
      <p:sp>
        <p:nvSpPr>
          <p:cNvPr id="24" name="Rounded Rectangle 23"/>
          <p:cNvSpPr/>
          <p:nvPr/>
        </p:nvSpPr>
        <p:spPr>
          <a:xfrm>
            <a:off x="658368"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9536"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1444752" y="4069080"/>
            <a:ext cx="2493264"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Phones</a:t>
            </a:r>
          </a:p>
        </p:txBody>
      </p:sp>
      <p:sp>
        <p:nvSpPr>
          <p:cNvPr id="29" name="TextBox 28"/>
          <p:cNvSpPr txBox="1"/>
          <p:nvPr/>
        </p:nvSpPr>
        <p:spPr>
          <a:xfrm>
            <a:off x="1444752"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Silent unless used for attendance or learning.</a:t>
            </a:r>
          </a:p>
        </p:txBody>
      </p:sp>
      <p:sp>
        <p:nvSpPr>
          <p:cNvPr id="30" name="Rounded Rectangle 29"/>
          <p:cNvSpPr/>
          <p:nvPr/>
        </p:nvSpPr>
        <p:spPr>
          <a:xfrm>
            <a:off x="4358640"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58640" y="3904488"/>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59808" y="41148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9808"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5</a:t>
            </a:r>
          </a:p>
        </p:txBody>
      </p:sp>
      <p:sp>
        <p:nvSpPr>
          <p:cNvPr id="34" name="TextBox 33"/>
          <p:cNvSpPr txBox="1"/>
          <p:nvPr/>
        </p:nvSpPr>
        <p:spPr>
          <a:xfrm>
            <a:off x="5145024" y="4069080"/>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Timing</a:t>
            </a:r>
          </a:p>
        </p:txBody>
      </p:sp>
      <p:sp>
        <p:nvSpPr>
          <p:cNvPr id="35" name="TextBox 34"/>
          <p:cNvSpPr txBox="1"/>
          <p:nvPr/>
        </p:nvSpPr>
        <p:spPr>
          <a:xfrm>
            <a:off x="5145024"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Return from breaks promptly.</a:t>
            </a:r>
          </a:p>
        </p:txBody>
      </p:sp>
      <p:sp>
        <p:nvSpPr>
          <p:cNvPr id="36" name="Rounded Rectangle 35"/>
          <p:cNvSpPr/>
          <p:nvPr/>
        </p:nvSpPr>
        <p:spPr>
          <a:xfrm>
            <a:off x="8058912"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58912" y="3904488"/>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0080" y="41148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60080"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6</a:t>
            </a:r>
          </a:p>
        </p:txBody>
      </p:sp>
      <p:sp>
        <p:nvSpPr>
          <p:cNvPr id="40" name="TextBox 39"/>
          <p:cNvSpPr txBox="1"/>
          <p:nvPr/>
        </p:nvSpPr>
        <p:spPr>
          <a:xfrm>
            <a:off x="8845296" y="4069080"/>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Attendance</a:t>
            </a:r>
          </a:p>
        </p:txBody>
      </p:sp>
      <p:sp>
        <p:nvSpPr>
          <p:cNvPr id="41" name="TextBox 40"/>
          <p:cNvSpPr txBox="1"/>
          <p:nvPr/>
        </p:nvSpPr>
        <p:spPr>
          <a:xfrm>
            <a:off x="8845296"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75% minimum is required.</a:t>
            </a:r>
          </a:p>
        </p:txBody>
      </p:sp>
      <p:sp>
        <p:nvSpPr>
          <p:cNvPr id="42" name="TextBox 4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43" name="Rectangle 4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45" name="TextBox 4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6" name="TextBox 4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a:t>
            </a:r>
          </a:p>
        </p:txBody>
      </p:sp>
    </p:spTree>
  </p:cSld>
  <p:clrMapOvr>
    <a:masterClrMapping/>
  </p:clrMapOvr>
  <p:transition spd="slow">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7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241280" cy="365760"/>
          </a:xfrm>
          <a:prstGeom prst="rect">
            <a:avLst/>
          </a:prstGeom>
          <a:noFill/>
        </p:spPr>
        <p:txBody>
          <a:bodyPr wrap="square" anchor="t" lIns="45720" rIns="45720">
            <a:spAutoFit/>
          </a:bodyPr>
          <a:lstStyle/>
          <a:p>
            <a:pPr algn="l">
              <a:spcAft>
                <a:spcPts val="300"/>
              </a:spcAft>
            </a:pPr>
            <a:r>
              <a:rPr sz="1400" b="1">
                <a:solidFill>
                  <a:srgbClr val="172B4D"/>
                </a:solidFill>
                <a:latin typeface="Arial"/>
              </a:rPr>
              <a:t>WHY THIS COURSE</a:t>
            </a:r>
          </a:p>
        </p:txBody>
      </p:sp>
      <p:sp>
        <p:nvSpPr>
          <p:cNvPr id="5" name="TextBox 4"/>
          <p:cNvSpPr txBox="1"/>
          <p:nvPr/>
        </p:nvSpPr>
        <p:spPr>
          <a:xfrm>
            <a:off x="868680" y="1965960"/>
            <a:ext cx="10241280" cy="2103120"/>
          </a:xfrm>
          <a:prstGeom prst="rect">
            <a:avLst/>
          </a:prstGeom>
          <a:noFill/>
        </p:spPr>
        <p:txBody>
          <a:bodyPr wrap="square" anchor="t" lIns="45720" rIns="45720">
            <a:spAutoFit/>
          </a:bodyPr>
          <a:lstStyle/>
          <a:p>
            <a:pPr algn="l">
              <a:spcAft>
                <a:spcPts val="300"/>
              </a:spcAft>
            </a:pPr>
            <a:r>
              <a:rPr sz="3400" b="1">
                <a:solidFill>
                  <a:srgbClr val="172B4D"/>
                </a:solidFill>
                <a:latin typeface="Arial"/>
              </a:rPr>
              <a:t>Compliance protects the licence to operate.</a:t>
            </a:r>
          </a:p>
        </p:txBody>
      </p:sp>
      <p:sp>
        <p:nvSpPr>
          <p:cNvPr id="6" name="TextBox 5"/>
          <p:cNvSpPr txBox="1"/>
          <p:nvPr/>
        </p:nvSpPr>
        <p:spPr>
          <a:xfrm>
            <a:off x="896112" y="4315968"/>
            <a:ext cx="9875520" cy="1097280"/>
          </a:xfrm>
          <a:prstGeom prst="rect">
            <a:avLst/>
          </a:prstGeom>
          <a:noFill/>
        </p:spPr>
        <p:txBody>
          <a:bodyPr wrap="square" anchor="t" lIns="45720" rIns="45720">
            <a:spAutoFit/>
          </a:bodyPr>
          <a:lstStyle/>
          <a:p>
            <a:pPr algn="l">
              <a:spcAft>
                <a:spcPts val="300"/>
              </a:spcAft>
            </a:pPr>
            <a:r>
              <a:rPr sz="1800" b="0">
                <a:solidFill>
                  <a:srgbClr val="5B6372"/>
                </a:solidFill>
                <a:latin typeface="Arial"/>
              </a:rPr>
              <a:t>For business owners, it is also a decision discipline that preserves trust, market access and resilience.</a:t>
            </a:r>
          </a:p>
        </p:txBody>
      </p:sp>
      <p:sp>
        <p:nvSpPr>
          <p:cNvPr id="7" name="TextBox 6"/>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Compliance | ES Law: Corporate-law basics</a:t>
            </a:r>
          </a:p>
        </p:txBody>
      </p:sp>
      <p:sp>
        <p:nvSpPr>
          <p:cNvPr id="8" name="Rectangle 7"/>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0" name="TextBox 9"/>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1" name="TextBox 10"/>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a:t>
            </a:r>
          </a:p>
        </p:txBody>
      </p:sp>
    </p:spTree>
  </p:cSld>
  <p:clrMapOvr>
    <a:masterClrMapping/>
  </p:clrMapOvr>
  <p:transition spd="slow">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ONE-DAY LEARNING JOURNEY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Course Map</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Framework and global context</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Industry and functional duties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Decision-making</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Influencing business units</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Assessment</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a:t>
            </a:r>
          </a:p>
        </p:txBody>
      </p:sp>
    </p:spTree>
  </p:cSld>
  <p:clrMapOvr>
    <a:masterClrMapping/>
  </p:clrMapOvr>
  <p:transition spd="slow">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APPROVED COURSE OUTCOMES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Learning Outcomes</a:t>
            </a:r>
          </a:p>
        </p:txBody>
      </p:sp>
      <p:sp>
        <p:nvSpPr>
          <p:cNvPr id="6" name="Rounded Rectangle 5"/>
          <p:cNvSpPr/>
          <p:nvPr/>
        </p:nvSpPr>
        <p:spPr>
          <a:xfrm>
            <a:off x="658368" y="1673352"/>
            <a:ext cx="5330952" cy="4261104"/>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42611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LO1</a:t>
            </a:r>
          </a:p>
        </p:txBody>
      </p:sp>
      <p:sp>
        <p:nvSpPr>
          <p:cNvPr id="11" name="TextBox 10"/>
          <p:cNvSpPr txBox="1"/>
          <p:nvPr/>
        </p:nvSpPr>
        <p:spPr>
          <a:xfrm>
            <a:off x="1444752" y="2313432"/>
            <a:ext cx="4343400" cy="3493008"/>
          </a:xfrm>
          <a:prstGeom prst="rect">
            <a:avLst/>
          </a:prstGeom>
          <a:noFill/>
        </p:spPr>
        <p:txBody>
          <a:bodyPr wrap="square" anchor="t" lIns="45720" rIns="45720">
            <a:spAutoFit/>
          </a:bodyPr>
          <a:lstStyle/>
          <a:p>
            <a:pPr algn="l">
              <a:spcAft>
                <a:spcPts val="300"/>
              </a:spcAft>
            </a:pPr>
            <a:r>
              <a:rPr sz="1400" b="0">
                <a:solidFill>
                  <a:srgbClr val="161B26"/>
                </a:solidFill>
                <a:latin typeface="Arial"/>
              </a:rPr>
              <a:t>Assess the implications of global legal developments and business laws on the organisation's regulatory framework.</a:t>
            </a:r>
          </a:p>
        </p:txBody>
      </p:sp>
      <p:sp>
        <p:nvSpPr>
          <p:cNvPr id="12" name="Rounded Rectangle 11"/>
          <p:cNvSpPr/>
          <p:nvPr/>
        </p:nvSpPr>
        <p:spPr>
          <a:xfrm>
            <a:off x="6208776" y="1673352"/>
            <a:ext cx="5330952" cy="4261104"/>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42611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LO2</a:t>
            </a:r>
          </a:p>
        </p:txBody>
      </p:sp>
      <p:sp>
        <p:nvSpPr>
          <p:cNvPr id="17" name="TextBox 16"/>
          <p:cNvSpPr txBox="1"/>
          <p:nvPr/>
        </p:nvSpPr>
        <p:spPr>
          <a:xfrm>
            <a:off x="6995160" y="2313432"/>
            <a:ext cx="4343400" cy="3493008"/>
          </a:xfrm>
          <a:prstGeom prst="rect">
            <a:avLst/>
          </a:prstGeom>
          <a:noFill/>
        </p:spPr>
        <p:txBody>
          <a:bodyPr wrap="square" anchor="t" lIns="45720" rIns="45720">
            <a:spAutoFit/>
          </a:bodyPr>
          <a:lstStyle/>
          <a:p>
            <a:pPr algn="l">
              <a:spcAft>
                <a:spcPts val="300"/>
              </a:spcAft>
            </a:pPr>
            <a:r>
              <a:rPr sz="1400" b="0">
                <a:solidFill>
                  <a:srgbClr val="161B26"/>
                </a:solidFill>
                <a:latin typeface="Arial"/>
              </a:rPr>
              <a:t>Drive decision-making based on regulatory changes and influence business units to adapt to new laws.</a:t>
            </a:r>
          </a:p>
        </p:txBody>
      </p:sp>
      <p:sp>
        <p:nvSpPr>
          <p:cNvPr id="18" name="TextBox 1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19" name="Rectangle 1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1" name="TextBox 2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2" name="TextBox 2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a:t>
            </a:r>
          </a:p>
        </p:txBody>
      </p:sp>
    </p:spTree>
  </p:cSld>
  <p:clrMapOvr>
    <a:masterClrMapping/>
  </p:clrMapOvr>
  <p:transition spd="slow">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ACC-BLR-5001-1.1 | CORPORATE AND BUSINESS LAW</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TSC Knowledge and Abilities</a:t>
            </a:r>
          </a:p>
        </p:txBody>
      </p:sp>
      <p:sp>
        <p:nvSpPr>
          <p:cNvPr id="6" name="Rounded Rectangle 5"/>
          <p:cNvSpPr/>
          <p:nvPr/>
        </p:nvSpPr>
        <p:spPr>
          <a:xfrm>
            <a:off x="658368"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K1</a:t>
            </a:r>
          </a:p>
        </p:txBody>
      </p:sp>
      <p:sp>
        <p:nvSpPr>
          <p:cNvPr id="11" name="TextBox 10"/>
          <p:cNvSpPr txBox="1"/>
          <p:nvPr/>
        </p:nvSpPr>
        <p:spPr>
          <a:xfrm>
            <a:off x="1444752"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Latest global developments, and regulatory and legal framework within which the organisation operates</a:t>
            </a:r>
          </a:p>
        </p:txBody>
      </p:sp>
      <p:sp>
        <p:nvSpPr>
          <p:cNvPr id="12" name="Rounded Rectangle 11"/>
          <p:cNvSpPr/>
          <p:nvPr/>
        </p:nvSpPr>
        <p:spPr>
          <a:xfrm>
            <a:off x="4358640"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8640"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9808"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5145024" y="1837944"/>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K2</a:t>
            </a:r>
          </a:p>
        </p:txBody>
      </p:sp>
      <p:sp>
        <p:nvSpPr>
          <p:cNvPr id="17" name="TextBox 16"/>
          <p:cNvSpPr txBox="1"/>
          <p:nvPr/>
        </p:nvSpPr>
        <p:spPr>
          <a:xfrm>
            <a:off x="5145024"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Organisation's business, environment and industry in which it operates</a:t>
            </a:r>
          </a:p>
        </p:txBody>
      </p:sp>
      <p:sp>
        <p:nvSpPr>
          <p:cNvPr id="18" name="Rounded Rectangle 17"/>
          <p:cNvSpPr/>
          <p:nvPr/>
        </p:nvSpPr>
        <p:spPr>
          <a:xfrm>
            <a:off x="8058912"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8912" y="1673352"/>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0080" y="1883664"/>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0080"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8845296" y="1837944"/>
            <a:ext cx="2493264"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A1</a:t>
            </a:r>
          </a:p>
        </p:txBody>
      </p:sp>
      <p:sp>
        <p:nvSpPr>
          <p:cNvPr id="23" name="TextBox 22"/>
          <p:cNvSpPr txBox="1"/>
          <p:nvPr/>
        </p:nvSpPr>
        <p:spPr>
          <a:xfrm>
            <a:off x="8845296"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Assess impact of changes in global developments and relevant business laws and regulations to organisation</a:t>
            </a:r>
          </a:p>
        </p:txBody>
      </p:sp>
      <p:sp>
        <p:nvSpPr>
          <p:cNvPr id="24" name="Rounded Rectangle 23"/>
          <p:cNvSpPr/>
          <p:nvPr/>
        </p:nvSpPr>
        <p:spPr>
          <a:xfrm>
            <a:off x="658368"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9536"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1444752" y="4069080"/>
            <a:ext cx="2493264"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A2</a:t>
            </a:r>
          </a:p>
        </p:txBody>
      </p:sp>
      <p:sp>
        <p:nvSpPr>
          <p:cNvPr id="29" name="TextBox 28"/>
          <p:cNvSpPr txBox="1"/>
          <p:nvPr/>
        </p:nvSpPr>
        <p:spPr>
          <a:xfrm>
            <a:off x="1444752"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Drive decision making based on changes in laws and regulations</a:t>
            </a:r>
          </a:p>
        </p:txBody>
      </p:sp>
      <p:sp>
        <p:nvSpPr>
          <p:cNvPr id="30" name="Rounded Rectangle 29"/>
          <p:cNvSpPr/>
          <p:nvPr/>
        </p:nvSpPr>
        <p:spPr>
          <a:xfrm>
            <a:off x="4358640"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58640" y="3904488"/>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59808" y="41148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9808"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5</a:t>
            </a:r>
          </a:p>
        </p:txBody>
      </p:sp>
      <p:sp>
        <p:nvSpPr>
          <p:cNvPr id="34" name="TextBox 33"/>
          <p:cNvSpPr txBox="1"/>
          <p:nvPr/>
        </p:nvSpPr>
        <p:spPr>
          <a:xfrm>
            <a:off x="5145024" y="4069080"/>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A3</a:t>
            </a:r>
          </a:p>
        </p:txBody>
      </p:sp>
      <p:sp>
        <p:nvSpPr>
          <p:cNvPr id="35" name="TextBox 34"/>
          <p:cNvSpPr txBox="1"/>
          <p:nvPr/>
        </p:nvSpPr>
        <p:spPr>
          <a:xfrm>
            <a:off x="5145024"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Influence the relevant business units to adapt to new regulations</a:t>
            </a:r>
          </a:p>
        </p:txBody>
      </p:sp>
      <p:sp>
        <p:nvSpPr>
          <p:cNvPr id="36" name="TextBox 3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7" name="Rectangle 3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9" name="TextBox 3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0" name="TextBox 3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10</a:t>
            </a:r>
          </a:p>
        </p:txBody>
      </p:sp>
    </p:spTree>
  </p:cSld>
  <p:clrMapOvr>
    <a:masterClrMapping/>
  </p:clrMapOvr>
  <p:transition spd="slow">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8 HOURS INCLUDING 1-HOUR ASSESSMENT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Lesson Plan | 9:00 AM-6:00 PM</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AM: foundations + Topic 1</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Late AM: Topic 2</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PM: Topic 2 applications</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Late PM: Topics 3-4</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5:00 PM: WA + CS</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11</a:t>
            </a:r>
          </a:p>
        </p:txBody>
      </p:sp>
    </p:spTree>
  </p:cSld>
  <p:clrMapOvr>
    <a:masterClrMapping/>
  </p:clrMapOvr>
  <p:transition spd="slow">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BEFORE THE ASSESSMENT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Briefing for Assessment</a:t>
            </a:r>
          </a:p>
        </p:txBody>
      </p:sp>
      <p:sp>
        <p:nvSpPr>
          <p:cNvPr id="6" name="Rounded Rectangle 5"/>
          <p:cNvSpPr/>
          <p:nvPr/>
        </p:nvSpPr>
        <p:spPr>
          <a:xfrm>
            <a:off x="658368"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Individual</a:t>
            </a:r>
          </a:p>
        </p:txBody>
      </p:sp>
      <p:sp>
        <p:nvSpPr>
          <p:cNvPr id="11" name="TextBox 10"/>
          <p:cNvSpPr txBox="1"/>
          <p:nvPr/>
        </p:nvSpPr>
        <p:spPr>
          <a:xfrm>
            <a:off x="1444752"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No discussion, photos or recording.</a:t>
            </a:r>
          </a:p>
        </p:txBody>
      </p:sp>
      <p:sp>
        <p:nvSpPr>
          <p:cNvPr id="12" name="Rounded Rectangle 11"/>
          <p:cNvSpPr/>
          <p:nvPr/>
        </p:nvSpPr>
        <p:spPr>
          <a:xfrm>
            <a:off x="4358640"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8640"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9808"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5145024" y="1837944"/>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Open book</a:t>
            </a:r>
          </a:p>
        </p:txBody>
      </p:sp>
      <p:sp>
        <p:nvSpPr>
          <p:cNvPr id="17" name="TextBox 16"/>
          <p:cNvSpPr txBox="1"/>
          <p:nvPr/>
        </p:nvSpPr>
        <p:spPr>
          <a:xfrm>
            <a:off x="5145024"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Slides, Learner Guide and approved materials only.</a:t>
            </a:r>
          </a:p>
        </p:txBody>
      </p:sp>
      <p:sp>
        <p:nvSpPr>
          <p:cNvPr id="18" name="Rounded Rectangle 17"/>
          <p:cNvSpPr/>
          <p:nvPr/>
        </p:nvSpPr>
        <p:spPr>
          <a:xfrm>
            <a:off x="8058912"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8912" y="1673352"/>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0080" y="1883664"/>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0080"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8845296" y="1837944"/>
            <a:ext cx="2493264"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Materials</a:t>
            </a:r>
          </a:p>
        </p:txBody>
      </p:sp>
      <p:sp>
        <p:nvSpPr>
          <p:cNvPr id="23" name="TextBox 22"/>
          <p:cNvSpPr txBox="1"/>
          <p:nvPr/>
        </p:nvSpPr>
        <p:spPr>
          <a:xfrm>
            <a:off x="8845296"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Phones and unapproved materials under the table.</a:t>
            </a:r>
          </a:p>
        </p:txBody>
      </p:sp>
      <p:sp>
        <p:nvSpPr>
          <p:cNvPr id="24" name="Rounded Rectangle 23"/>
          <p:cNvSpPr/>
          <p:nvPr/>
        </p:nvSpPr>
        <p:spPr>
          <a:xfrm>
            <a:off x="658368"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9536"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1444752" y="4069080"/>
            <a:ext cx="2493264"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Writing</a:t>
            </a:r>
          </a:p>
        </p:txBody>
      </p:sp>
      <p:sp>
        <p:nvSpPr>
          <p:cNvPr id="29" name="TextBox 28"/>
          <p:cNvSpPr txBox="1"/>
          <p:nvPr/>
        </p:nvSpPr>
        <p:spPr>
          <a:xfrm>
            <a:off x="1444752"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Black/blue pen; no correction fluid/tape for hardcopy.</a:t>
            </a:r>
          </a:p>
        </p:txBody>
      </p:sp>
      <p:sp>
        <p:nvSpPr>
          <p:cNvPr id="30" name="Rounded Rectangle 29"/>
          <p:cNvSpPr/>
          <p:nvPr/>
        </p:nvSpPr>
        <p:spPr>
          <a:xfrm>
            <a:off x="4358640"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58640" y="3904488"/>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59808" y="41148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9808"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5</a:t>
            </a:r>
          </a:p>
        </p:txBody>
      </p:sp>
      <p:sp>
        <p:nvSpPr>
          <p:cNvPr id="34" name="TextBox 33"/>
          <p:cNvSpPr txBox="1"/>
          <p:nvPr/>
        </p:nvSpPr>
        <p:spPr>
          <a:xfrm>
            <a:off x="5145024" y="4069080"/>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Timing</a:t>
            </a:r>
          </a:p>
        </p:txBody>
      </p:sp>
      <p:sp>
        <p:nvSpPr>
          <p:cNvPr id="35" name="TextBox 34"/>
          <p:cNvSpPr txBox="1"/>
          <p:nvPr/>
        </p:nvSpPr>
        <p:spPr>
          <a:xfrm>
            <a:off x="5145024"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30 minutes WA, then 30 minutes Case Study.</a:t>
            </a:r>
          </a:p>
        </p:txBody>
      </p:sp>
      <p:sp>
        <p:nvSpPr>
          <p:cNvPr id="36" name="Rounded Rectangle 35"/>
          <p:cNvSpPr/>
          <p:nvPr/>
        </p:nvSpPr>
        <p:spPr>
          <a:xfrm>
            <a:off x="8058912"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58912" y="3904488"/>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0080" y="41148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60080"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6</a:t>
            </a:r>
          </a:p>
        </p:txBody>
      </p:sp>
      <p:sp>
        <p:nvSpPr>
          <p:cNvPr id="40" name="TextBox 39"/>
          <p:cNvSpPr txBox="1"/>
          <p:nvPr/>
        </p:nvSpPr>
        <p:spPr>
          <a:xfrm>
            <a:off x="8845296" y="4069080"/>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Rights</a:t>
            </a:r>
          </a:p>
        </p:txBody>
      </p:sp>
      <p:sp>
        <p:nvSpPr>
          <p:cNvPr id="41" name="TextBox 40"/>
          <p:cNvSpPr txBox="1"/>
          <p:nvPr/>
        </p:nvSpPr>
        <p:spPr>
          <a:xfrm>
            <a:off x="8845296"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Re-assessment and appeal processes are available.</a:t>
            </a:r>
          </a:p>
        </p:txBody>
      </p:sp>
      <p:sp>
        <p:nvSpPr>
          <p:cNvPr id="42" name="TextBox 4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43" name="Rectangle 4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45" name="TextBox 4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6" name="TextBox 4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12</a:t>
            </a:r>
          </a:p>
        </p:txBody>
      </p:sp>
    </p:spTree>
  </p:cSld>
  <p:clrMapOvr>
    <a:masterClrMapping/>
  </p:clrMapOvr>
  <p:transition spd="slow">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ASSESSMENT AND FUNDING</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Final Assessment</a:t>
            </a:r>
          </a:p>
        </p:txBody>
      </p:sp>
      <p:sp>
        <p:nvSpPr>
          <p:cNvPr id="6" name="Rounded Rectangle 5"/>
          <p:cNvSpPr/>
          <p:nvPr/>
        </p:nvSpPr>
        <p:spPr>
          <a:xfrm>
            <a:off x="658368"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993392"/>
            <a:ext cx="2852928" cy="594360"/>
          </a:xfrm>
          <a:prstGeom prst="rect">
            <a:avLst/>
          </a:prstGeom>
          <a:noFill/>
        </p:spPr>
        <p:txBody>
          <a:bodyPr wrap="square" anchor="t" lIns="45720" rIns="45720">
            <a:spAutoFit/>
          </a:bodyPr>
          <a:lstStyle/>
          <a:p>
            <a:pPr algn="l">
              <a:spcAft>
                <a:spcPts val="300"/>
              </a:spcAft>
            </a:pPr>
            <a:r>
              <a:rPr sz="1900" b="1">
                <a:solidFill>
                  <a:srgbClr val="1F6FEB"/>
                </a:solidFill>
                <a:latin typeface="Arial"/>
              </a:rPr>
              <a:t>WA-SAQ | 30 min</a:t>
            </a:r>
          </a:p>
        </p:txBody>
      </p:sp>
      <p:sp>
        <p:nvSpPr>
          <p:cNvPr id="9" name="Oval 8"/>
          <p:cNvSpPr/>
          <p:nvPr/>
        </p:nvSpPr>
        <p:spPr>
          <a:xfrm>
            <a:off x="905256" y="2715768"/>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11" name="TextBox 10"/>
          <p:cNvSpPr txBox="1"/>
          <p:nvPr/>
        </p:nvSpPr>
        <p:spPr>
          <a:xfrm>
            <a:off x="1298448"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4 open-ended questions</a:t>
            </a:r>
          </a:p>
        </p:txBody>
      </p:sp>
      <p:sp>
        <p:nvSpPr>
          <p:cNvPr id="12" name="Oval 11"/>
          <p:cNvSpPr/>
          <p:nvPr/>
        </p:nvSpPr>
        <p:spPr>
          <a:xfrm>
            <a:off x="905256" y="3465576"/>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14" name="TextBox 13"/>
          <p:cNvSpPr txBox="1"/>
          <p:nvPr/>
        </p:nvSpPr>
        <p:spPr>
          <a:xfrm>
            <a:off x="1298448"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K1 and K2</a:t>
            </a:r>
          </a:p>
        </p:txBody>
      </p:sp>
      <p:sp>
        <p:nvSpPr>
          <p:cNvPr id="15" name="Oval 14"/>
          <p:cNvSpPr/>
          <p:nvPr/>
        </p:nvSpPr>
        <p:spPr>
          <a:xfrm>
            <a:off x="905256" y="4215383"/>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17" name="TextBox 16"/>
          <p:cNvSpPr txBox="1"/>
          <p:nvPr/>
        </p:nvSpPr>
        <p:spPr>
          <a:xfrm>
            <a:off x="1298448"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Answer in your own words</a:t>
            </a:r>
          </a:p>
        </p:txBody>
      </p:sp>
      <p:sp>
        <p:nvSpPr>
          <p:cNvPr id="18" name="Rounded Rectangle 17"/>
          <p:cNvSpPr/>
          <p:nvPr/>
        </p:nvSpPr>
        <p:spPr>
          <a:xfrm>
            <a:off x="4370832"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0832" y="1719072"/>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1993392"/>
            <a:ext cx="2852928" cy="594360"/>
          </a:xfrm>
          <a:prstGeom prst="rect">
            <a:avLst/>
          </a:prstGeom>
          <a:noFill/>
        </p:spPr>
        <p:txBody>
          <a:bodyPr wrap="square" anchor="t" lIns="45720" rIns="45720">
            <a:spAutoFit/>
          </a:bodyPr>
          <a:lstStyle/>
          <a:p>
            <a:pPr algn="l">
              <a:spcAft>
                <a:spcPts val="300"/>
              </a:spcAft>
            </a:pPr>
            <a:r>
              <a:rPr sz="1900" b="1">
                <a:solidFill>
                  <a:srgbClr val="10B981"/>
                </a:solidFill>
                <a:latin typeface="Arial"/>
              </a:rPr>
              <a:t>Case Study | 30 min</a:t>
            </a:r>
          </a:p>
        </p:txBody>
      </p:sp>
      <p:sp>
        <p:nvSpPr>
          <p:cNvPr id="21" name="Oval 20"/>
          <p:cNvSpPr/>
          <p:nvPr/>
        </p:nvSpPr>
        <p:spPr>
          <a:xfrm>
            <a:off x="4617720" y="2715768"/>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23" name="TextBox 22"/>
          <p:cNvSpPr txBox="1"/>
          <p:nvPr/>
        </p:nvSpPr>
        <p:spPr>
          <a:xfrm>
            <a:off x="5010912"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2 scenario tasks</a:t>
            </a:r>
          </a:p>
        </p:txBody>
      </p:sp>
      <p:sp>
        <p:nvSpPr>
          <p:cNvPr id="24" name="Oval 23"/>
          <p:cNvSpPr/>
          <p:nvPr/>
        </p:nvSpPr>
        <p:spPr>
          <a:xfrm>
            <a:off x="4617720" y="3465576"/>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26" name="TextBox 25"/>
          <p:cNvSpPr txBox="1"/>
          <p:nvPr/>
        </p:nvSpPr>
        <p:spPr>
          <a:xfrm>
            <a:off x="5010912"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A1, A2 and A3</a:t>
            </a:r>
          </a:p>
        </p:txBody>
      </p:sp>
      <p:sp>
        <p:nvSpPr>
          <p:cNvPr id="27" name="Oval 26"/>
          <p:cNvSpPr/>
          <p:nvPr/>
        </p:nvSpPr>
        <p:spPr>
          <a:xfrm>
            <a:off x="4617720" y="4215383"/>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29" name="TextBox 28"/>
          <p:cNvSpPr txBox="1"/>
          <p:nvPr/>
        </p:nvSpPr>
        <p:spPr>
          <a:xfrm>
            <a:off x="5010912"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Apply course activities</a:t>
            </a:r>
          </a:p>
        </p:txBody>
      </p:sp>
      <p:sp>
        <p:nvSpPr>
          <p:cNvPr id="30" name="Rounded Rectangle 29"/>
          <p:cNvSpPr/>
          <p:nvPr/>
        </p:nvSpPr>
        <p:spPr>
          <a:xfrm>
            <a:off x="8083296"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3296" y="1719072"/>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11896" y="1993392"/>
            <a:ext cx="2852928" cy="594360"/>
          </a:xfrm>
          <a:prstGeom prst="rect">
            <a:avLst/>
          </a:prstGeom>
          <a:noFill/>
        </p:spPr>
        <p:txBody>
          <a:bodyPr wrap="square" anchor="t" lIns="45720" rIns="45720">
            <a:spAutoFit/>
          </a:bodyPr>
          <a:lstStyle/>
          <a:p>
            <a:pPr algn="l">
              <a:spcAft>
                <a:spcPts val="300"/>
              </a:spcAft>
            </a:pPr>
            <a:r>
              <a:rPr sz="1900" b="1">
                <a:solidFill>
                  <a:srgbClr val="7C3AED"/>
                </a:solidFill>
                <a:latin typeface="Arial"/>
              </a:rPr>
              <a:t>Competency</a:t>
            </a:r>
          </a:p>
        </p:txBody>
      </p:sp>
      <p:sp>
        <p:nvSpPr>
          <p:cNvPr id="33" name="Oval 32"/>
          <p:cNvSpPr/>
          <p:nvPr/>
        </p:nvSpPr>
        <p:spPr>
          <a:xfrm>
            <a:off x="8330184" y="2715768"/>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4"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35" name="TextBox 34"/>
          <p:cNvSpPr txBox="1"/>
          <p:nvPr/>
        </p:nvSpPr>
        <p:spPr>
          <a:xfrm>
            <a:off x="8723376"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Open book</a:t>
            </a:r>
          </a:p>
        </p:txBody>
      </p:sp>
      <p:sp>
        <p:nvSpPr>
          <p:cNvPr id="36" name="Oval 35"/>
          <p:cNvSpPr/>
          <p:nvPr/>
        </p:nvSpPr>
        <p:spPr>
          <a:xfrm>
            <a:off x="8330184" y="3465576"/>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0184"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38" name="TextBox 37"/>
          <p:cNvSpPr txBox="1"/>
          <p:nvPr/>
        </p:nvSpPr>
        <p:spPr>
          <a:xfrm>
            <a:off x="8723376"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Complete all evidence</a:t>
            </a:r>
          </a:p>
        </p:txBody>
      </p:sp>
      <p:sp>
        <p:nvSpPr>
          <p:cNvPr id="39" name="Oval 38"/>
          <p:cNvSpPr/>
          <p:nvPr/>
        </p:nvSpPr>
        <p:spPr>
          <a:xfrm>
            <a:off x="8330184" y="4215383"/>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4"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41" name="TextBox 40"/>
          <p:cNvSpPr txBox="1"/>
          <p:nvPr/>
        </p:nvSpPr>
        <p:spPr>
          <a:xfrm>
            <a:off x="8723376"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Competent / Not Yet Competent</a:t>
            </a:r>
          </a:p>
        </p:txBody>
      </p:sp>
      <p:sp>
        <p:nvSpPr>
          <p:cNvPr id="42" name="TextBox 4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43" name="Rectangle 4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45" name="TextBox 4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6" name="TextBox 4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13</a:t>
            </a:r>
          </a:p>
        </p:txBody>
      </p:sp>
    </p:spTree>
  </p:cSld>
  <p:clrMapOvr>
    <a:masterClrMapping/>
  </p:clrMapOvr>
  <p:transition spd="slow">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ON ASSESSMENT DAY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Assessment Flow</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TRAQOM</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Assessment digital attendance</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WA-SAQ</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Case Study</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Submit on LMS and sign record</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14</a:t>
            </a:r>
          </a:p>
        </p:txBody>
      </p:sp>
    </p:spTree>
  </p:cSld>
  <p:clrMapOvr>
    <a:masterClrMapping/>
  </p:clrMapOvr>
  <p:transition spd="slow">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ACCESS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Courseware and Activities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hlinkClick r:id="rId2"/>
              </a:rPr>
              <a:t>LMS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Download the slides and Learner Guide; complete assessment submissions.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hlinkClick r:id="rId3"/>
              </a:rPr>
              <a:t>GitHub</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Access the eight detailed activity Markdown files and source register.</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Clone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git clone the course repository, or use Code &gt; Download ZIP.</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Support</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enquiry@tertiaryinfotech.com | +65 6100 0613</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16</a:t>
            </a:r>
          </a:p>
        </p:txBody>
      </p:sp>
    </p:spTree>
  </p:cSld>
  <p:clrMapOvr>
    <a:masterClrMapping/>
  </p:clrMapOvr>
  <p:transition spd="slow">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IMPORTANT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Legal and Source Boundaries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Education</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This course builds compliance capability; it is not legal or tax advice.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Verify currency</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Deadlines, rates, forms and guidance can change; check the regulator before acting.</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Singapore first</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Official ACRA, IRAS, MOM and PDPC sources control Singapore propositions.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Comparative sources</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Overseas articles contribute frameworks only; foreign rules are not imported as Singapore law.</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17</a:t>
            </a:r>
          </a:p>
        </p:txBody>
      </p:sp>
    </p:spTree>
  </p:cSld>
  <p:clrMapOvr>
    <a:masterClrMapping/>
  </p:clrMapOvr>
  <p:transition spd="slow">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FOUNDATION</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Corporate compliance is a management system</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Law</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Mandatory statutes, regulations and enforceable duties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Governance</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Who may decide, approve, oversee and challenge</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Operations</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Policies, controls and evidence embedded in work</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Assurance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Monitoring, testing, reporting and remediation</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Compliance | Wolters Kluwer: Governance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18</a:t>
            </a:r>
          </a:p>
        </p:txBody>
      </p:sp>
    </p:spTree>
  </p:cSld>
  <p:clrMapOvr>
    <a:masterClrMapping/>
  </p:clrMapOvr>
  <p:transition spd="slow">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FOUNDATION</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Legal compliance and regulatory compliance</a:t>
            </a:r>
          </a:p>
        </p:txBody>
      </p:sp>
      <p:sp>
        <p:nvSpPr>
          <p:cNvPr id="6" name="Rounded Rectangle 5"/>
          <p:cNvSpPr/>
          <p:nvPr/>
        </p:nvSpPr>
        <p:spPr>
          <a:xfrm>
            <a:off x="658368"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518464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93392"/>
            <a:ext cx="4617720" cy="475488"/>
          </a:xfrm>
          <a:prstGeom prst="rect">
            <a:avLst/>
          </a:prstGeom>
          <a:noFill/>
        </p:spPr>
        <p:txBody>
          <a:bodyPr wrap="square" anchor="t" lIns="45720" rIns="45720">
            <a:spAutoFit/>
          </a:bodyPr>
          <a:lstStyle/>
          <a:p>
            <a:pPr algn="l">
              <a:spcAft>
                <a:spcPts val="300"/>
              </a:spcAft>
            </a:pPr>
            <a:r>
              <a:rPr sz="1900" b="1">
                <a:solidFill>
                  <a:srgbClr val="1F6FEB"/>
                </a:solidFill>
                <a:latin typeface="Arial"/>
              </a:rPr>
              <a:t>Legal compliance</a:t>
            </a:r>
          </a:p>
        </p:txBody>
      </p:sp>
      <p:sp>
        <p:nvSpPr>
          <p:cNvPr id="9" name="Oval 8"/>
          <p:cNvSpPr/>
          <p:nvPr/>
        </p:nvSpPr>
        <p:spPr>
          <a:xfrm>
            <a:off x="932688" y="26334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1" name="TextBox 10"/>
          <p:cNvSpPr txBox="1"/>
          <p:nvPr/>
        </p:nvSpPr>
        <p:spPr>
          <a:xfrm>
            <a:off x="1408176"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Broad duties that apply across business activities</a:t>
            </a:r>
          </a:p>
        </p:txBody>
      </p:sp>
      <p:sp>
        <p:nvSpPr>
          <p:cNvPr id="12" name="Oval 11"/>
          <p:cNvSpPr/>
          <p:nvPr/>
        </p:nvSpPr>
        <p:spPr>
          <a:xfrm>
            <a:off x="932688" y="343814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4" name="TextBox 13"/>
          <p:cNvSpPr txBox="1"/>
          <p:nvPr/>
        </p:nvSpPr>
        <p:spPr>
          <a:xfrm>
            <a:off x="1408176"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Company, employment, tax, contract and privacy law</a:t>
            </a:r>
          </a:p>
        </p:txBody>
      </p:sp>
      <p:sp>
        <p:nvSpPr>
          <p:cNvPr id="15" name="Oval 14"/>
          <p:cNvSpPr/>
          <p:nvPr/>
        </p:nvSpPr>
        <p:spPr>
          <a:xfrm>
            <a:off x="932688" y="424281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7" name="TextBox 16"/>
          <p:cNvSpPr txBox="1"/>
          <p:nvPr/>
        </p:nvSpPr>
        <p:spPr>
          <a:xfrm>
            <a:off x="1408176"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Courts and regulators may enforce consequences</a:t>
            </a:r>
          </a:p>
        </p:txBody>
      </p:sp>
      <p:sp>
        <p:nvSpPr>
          <p:cNvPr id="18" name="Rounded Rectangle 17"/>
          <p:cNvSpPr/>
          <p:nvPr/>
        </p:nvSpPr>
        <p:spPr>
          <a:xfrm>
            <a:off x="6153912"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3912" y="1700784"/>
            <a:ext cx="518464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2" y="1993392"/>
            <a:ext cx="4617720" cy="475488"/>
          </a:xfrm>
          <a:prstGeom prst="rect">
            <a:avLst/>
          </a:prstGeom>
          <a:noFill/>
        </p:spPr>
        <p:txBody>
          <a:bodyPr wrap="square" anchor="t" lIns="45720" rIns="45720">
            <a:spAutoFit/>
          </a:bodyPr>
          <a:lstStyle/>
          <a:p>
            <a:pPr algn="l">
              <a:spcAft>
                <a:spcPts val="300"/>
              </a:spcAft>
            </a:pPr>
            <a:r>
              <a:rPr sz="1900" b="1">
                <a:solidFill>
                  <a:srgbClr val="10B981"/>
                </a:solidFill>
                <a:latin typeface="Arial"/>
              </a:rPr>
              <a:t>Regulatory compliance</a:t>
            </a:r>
          </a:p>
        </p:txBody>
      </p:sp>
      <p:sp>
        <p:nvSpPr>
          <p:cNvPr id="21" name="Oval 20"/>
          <p:cNvSpPr/>
          <p:nvPr/>
        </p:nvSpPr>
        <p:spPr>
          <a:xfrm>
            <a:off x="6428232" y="263347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23" name="TextBox 22"/>
          <p:cNvSpPr txBox="1"/>
          <p:nvPr/>
        </p:nvSpPr>
        <p:spPr>
          <a:xfrm>
            <a:off x="6903720"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Rules linked to a regulator, licence, sector or activity</a:t>
            </a:r>
          </a:p>
        </p:txBody>
      </p:sp>
      <p:sp>
        <p:nvSpPr>
          <p:cNvPr id="24" name="Oval 23"/>
          <p:cNvSpPr/>
          <p:nvPr/>
        </p:nvSpPr>
        <p:spPr>
          <a:xfrm>
            <a:off x="6428232" y="343814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26" name="TextBox 25"/>
          <p:cNvSpPr txBox="1"/>
          <p:nvPr/>
        </p:nvSpPr>
        <p:spPr>
          <a:xfrm>
            <a:off x="6903720"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Finance, healthcare, food, technology and safety overlays</a:t>
            </a:r>
          </a:p>
        </p:txBody>
      </p:sp>
      <p:sp>
        <p:nvSpPr>
          <p:cNvPr id="27" name="Oval 26"/>
          <p:cNvSpPr/>
          <p:nvPr/>
        </p:nvSpPr>
        <p:spPr>
          <a:xfrm>
            <a:off x="6428232" y="424281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29" name="TextBox 28"/>
          <p:cNvSpPr txBox="1"/>
          <p:nvPr/>
        </p:nvSpPr>
        <p:spPr>
          <a:xfrm>
            <a:off x="6903720"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Often includes reporting, inspection and licence conditions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Bizbot: Company compliance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19</a:t>
            </a:r>
          </a:p>
        </p:txBody>
      </p:sp>
    </p:spTree>
  </p:cSld>
  <p:clrMapOvr>
    <a:masterClrMapping/>
  </p:clrMapOvr>
  <p:transition spd="slow">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OPERATING MODEL</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The continuous compliance cycle</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Identify applicable duties</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Assign owners and controls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Operate and retain evidence</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Monitor change and test</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Escalate, remediate and improve</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Bizbot: Company compliance | Wolters Kluwer: Compliance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20</a:t>
            </a:r>
          </a:p>
        </p:txBody>
      </p:sp>
    </p:spTree>
  </p:cSld>
  <p:clrMapOvr>
    <a:masterClrMapping/>
  </p:clrMapOvr>
  <p:transition spd="slow">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GOVERNANCE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Three accountability layers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Board / directors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Set direction, challenge assumptions and remain accountable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Management / owners</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Translate obligations into resources, decisions and controls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Business functions</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Perform controls, keep evidence and raise issues early</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Independent assurance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Review design and effectiveness without owning the control</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Directors' duties | Wolters Kluwer: Governance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21</a:t>
            </a:r>
          </a:p>
        </p:txBody>
      </p:sp>
    </p:spTree>
  </p:cSld>
  <p:clrMapOvr>
    <a:masterClrMapping/>
  </p:clrMapOvr>
  <p:transition spd="slow">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241280" cy="365760"/>
          </a:xfrm>
          <a:prstGeom prst="rect">
            <a:avLst/>
          </a:prstGeom>
          <a:noFill/>
        </p:spPr>
        <p:txBody>
          <a:bodyPr wrap="square" anchor="t" lIns="45720" rIns="45720">
            <a:spAutoFit/>
          </a:bodyPr>
          <a:lstStyle/>
          <a:p>
            <a:pPr algn="l">
              <a:spcAft>
                <a:spcPts val="300"/>
              </a:spcAft>
            </a:pPr>
            <a:r>
              <a:rPr sz="1400" b="1">
                <a:solidFill>
                  <a:srgbClr val="10B981"/>
                </a:solidFill>
                <a:latin typeface="Arial"/>
              </a:rPr>
              <a:t>DIRECTOR MINDSET</a:t>
            </a:r>
          </a:p>
        </p:txBody>
      </p:sp>
      <p:sp>
        <p:nvSpPr>
          <p:cNvPr id="5" name="TextBox 4"/>
          <p:cNvSpPr txBox="1"/>
          <p:nvPr/>
        </p:nvSpPr>
        <p:spPr>
          <a:xfrm>
            <a:off x="868680" y="1965960"/>
            <a:ext cx="10241280" cy="2103120"/>
          </a:xfrm>
          <a:prstGeom prst="rect">
            <a:avLst/>
          </a:prstGeom>
          <a:noFill/>
        </p:spPr>
        <p:txBody>
          <a:bodyPr wrap="square" anchor="t" lIns="45720" rIns="45720">
            <a:spAutoFit/>
          </a:bodyPr>
          <a:lstStyle/>
          <a:p>
            <a:pPr algn="l">
              <a:spcAft>
                <a:spcPts val="300"/>
              </a:spcAft>
            </a:pPr>
            <a:r>
              <a:rPr sz="3400" b="1">
                <a:solidFill>
                  <a:srgbClr val="172B4D"/>
                </a:solidFill>
                <a:latin typeface="Arial"/>
              </a:rPr>
              <a:t>Outsourcing a task does not outsource accountability.</a:t>
            </a:r>
          </a:p>
        </p:txBody>
      </p:sp>
      <p:sp>
        <p:nvSpPr>
          <p:cNvPr id="6" name="TextBox 5"/>
          <p:cNvSpPr txBox="1"/>
          <p:nvPr/>
        </p:nvSpPr>
        <p:spPr>
          <a:xfrm>
            <a:off x="896112" y="4315968"/>
            <a:ext cx="9875520" cy="1097280"/>
          </a:xfrm>
          <a:prstGeom prst="rect">
            <a:avLst/>
          </a:prstGeom>
          <a:noFill/>
        </p:spPr>
        <p:txBody>
          <a:bodyPr wrap="square" anchor="t" lIns="45720" rIns="45720">
            <a:spAutoFit/>
          </a:bodyPr>
          <a:lstStyle/>
          <a:p>
            <a:pPr algn="l">
              <a:spcAft>
                <a:spcPts val="300"/>
              </a:spcAft>
            </a:pPr>
            <a:r>
              <a:rPr sz="1800" b="0">
                <a:solidFill>
                  <a:srgbClr val="5B6372"/>
                </a:solidFill>
                <a:latin typeface="Arial"/>
              </a:rPr>
              <a:t>Directors must understand, challenge and authorise - even when advisers prepare the work.</a:t>
            </a:r>
          </a:p>
        </p:txBody>
      </p:sp>
      <p:sp>
        <p:nvSpPr>
          <p:cNvPr id="7" name="TextBox 6"/>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Financial reporting duties</a:t>
            </a:r>
          </a:p>
        </p:txBody>
      </p:sp>
      <p:sp>
        <p:nvSpPr>
          <p:cNvPr id="8" name="Rectangle 7"/>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0" name="TextBox 9"/>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1" name="TextBox 10"/>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22</a:t>
            </a:r>
          </a:p>
        </p:txBody>
      </p:sp>
    </p:spTree>
  </p:cSld>
  <p:clrMapOvr>
    <a:masterClrMapping/>
  </p:clrMapOvr>
  <p:transition spd="slow">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EVIDENCE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 useful compliance evidence chain</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Requirement</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The law, filing, licence or regulator expectation</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Control</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The preventive or detective action that addresses it</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Owner</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 named role with authority, capacity and deadline</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Evidence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Dated proof that the control operated and exceptions were resolved</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Compliance | Financial Poise: Corporate compliance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23</a:t>
            </a:r>
          </a:p>
        </p:txBody>
      </p:sp>
    </p:spTree>
  </p:cSld>
  <p:clrMapOvr>
    <a:masterClrMapping/>
  </p:clrMapOvr>
  <p:transition spd="slow">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7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874519"/>
            <a:ext cx="9784080" cy="365760"/>
          </a:xfrm>
          <a:prstGeom prst="rect">
            <a:avLst/>
          </a:prstGeom>
          <a:noFill/>
        </p:spPr>
        <p:txBody>
          <a:bodyPr wrap="square" anchor="t" lIns="45720" rIns="45720">
            <a:spAutoFit/>
          </a:bodyPr>
          <a:lstStyle/>
          <a:p>
            <a:pPr algn="l">
              <a:spcAft>
                <a:spcPts val="300"/>
              </a:spcAft>
            </a:pPr>
            <a:r>
              <a:rPr sz="1500" b="1">
                <a:solidFill>
                  <a:srgbClr val="1F6FEB"/>
                </a:solidFill>
                <a:latin typeface="Arial"/>
              </a:rPr>
              <a:t>TOPIC 1 | K1, A1 / LO1</a:t>
            </a:r>
          </a:p>
        </p:txBody>
      </p:sp>
      <p:sp>
        <p:nvSpPr>
          <p:cNvPr id="5" name="TextBox 4"/>
          <p:cNvSpPr txBox="1"/>
          <p:nvPr/>
        </p:nvSpPr>
        <p:spPr>
          <a:xfrm>
            <a:off x="777240" y="2304288"/>
            <a:ext cx="9966960" cy="1508760"/>
          </a:xfrm>
          <a:prstGeom prst="rect">
            <a:avLst/>
          </a:prstGeom>
          <a:noFill/>
        </p:spPr>
        <p:txBody>
          <a:bodyPr wrap="square" anchor="t" lIns="45720" rIns="45720">
            <a:spAutoFit/>
          </a:bodyPr>
          <a:lstStyle/>
          <a:p>
            <a:pPr algn="l">
              <a:spcAft>
                <a:spcPts val="300"/>
              </a:spcAft>
            </a:pPr>
            <a:r>
              <a:rPr sz="3700" b="1">
                <a:solidFill>
                  <a:srgbClr val="172B4D"/>
                </a:solidFill>
                <a:latin typeface="Arial"/>
              </a:rPr>
              <a:t>Singapore's Legal and Regulatory Framework in a Global Context</a:t>
            </a:r>
          </a:p>
        </p:txBody>
      </p:sp>
      <p:sp>
        <p:nvSpPr>
          <p:cNvPr id="6" name="TextBox 5"/>
          <p:cNvSpPr txBox="1"/>
          <p:nvPr/>
        </p:nvSpPr>
        <p:spPr>
          <a:xfrm>
            <a:off x="804672" y="3968496"/>
            <a:ext cx="9692640" cy="914400"/>
          </a:xfrm>
          <a:prstGeom prst="rect">
            <a:avLst/>
          </a:prstGeom>
          <a:noFill/>
        </p:spPr>
        <p:txBody>
          <a:bodyPr wrap="square" anchor="t" lIns="45720" rIns="45720">
            <a:spAutoFit/>
          </a:bodyPr>
          <a:lstStyle/>
          <a:p>
            <a:pPr algn="l">
              <a:spcAft>
                <a:spcPts val="300"/>
              </a:spcAft>
            </a:pPr>
            <a:r>
              <a:rPr sz="1600" b="0">
                <a:solidFill>
                  <a:srgbClr val="5B6372"/>
                </a:solidFill>
                <a:latin typeface="Arial"/>
              </a:rPr>
              <a:t>Corporate duties, governance, registers, financial reporting and cross-border legal triggers</a:t>
            </a:r>
          </a:p>
        </p:txBody>
      </p:sp>
      <p:sp>
        <p:nvSpPr>
          <p:cNvPr id="7" name="TextBox 6"/>
          <p:cNvSpPr txBox="1"/>
          <p:nvPr/>
        </p:nvSpPr>
        <p:spPr>
          <a:xfrm>
            <a:off x="9646920" y="502920"/>
            <a:ext cx="1828800" cy="1325880"/>
          </a:xfrm>
          <a:prstGeom prst="rect">
            <a:avLst/>
          </a:prstGeom>
          <a:noFill/>
        </p:spPr>
        <p:txBody>
          <a:bodyPr wrap="square" anchor="t" lIns="45720" rIns="45720">
            <a:spAutoFit/>
          </a:bodyPr>
          <a:lstStyle/>
          <a:p>
            <a:pPr algn="r">
              <a:spcAft>
                <a:spcPts val="300"/>
              </a:spcAft>
            </a:pPr>
            <a:r>
              <a:rPr sz="6800" b="1">
                <a:solidFill>
                  <a:srgbClr val="E2E8F0"/>
                </a:solidFill>
                <a:latin typeface="Arial"/>
              </a:rPr>
              <a:t>01</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24</a:t>
            </a:r>
          </a:p>
        </p:txBody>
      </p:sp>
    </p:spTree>
  </p:cSld>
  <p:clrMapOvr>
    <a:masterClrMapping/>
  </p:clrMapOvr>
  <p:transition spd="slow">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REGULATOR MAP</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Singapore's business-law ecosystem</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ACRA</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Entity records, directors, annual returns and financial reporting</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IRAS</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Corporate tax, GST, employer reporting and record keeping</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MOM / CPFB</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Employment standards, CPF and workplace safety</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PDPC + sector regulators</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Personal data plus finance, health, food and technology overlays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Legal requirements | IRAS: Corporate income tax | MOM: Employment practices | PDPC: Breach notification</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25</a:t>
            </a:r>
          </a:p>
        </p:txBody>
      </p:sp>
    </p:spTree>
  </p:cSld>
  <p:clrMapOvr>
    <a:masterClrMapping/>
  </p:clrMapOvr>
  <p:transition spd="slow">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LEGAL HIERARCHY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How legal requirements reach the business</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Acts passed by Parliament</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Subsidiary legislation and regulations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Regulator guidance and filing systems</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Court decisions and contractual duties</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Company policies and controls</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Directors' duties | Wolters Kluwer: Governance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26</a:t>
            </a:r>
          </a:p>
        </p:txBody>
      </p:sp>
    </p:spTree>
  </p:cSld>
  <p:clrMapOvr>
    <a:masterClrMapping/>
  </p:clrMapOvr>
  <p:transition spd="slow">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DIRECTORS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Five non-delegable director touchpoints</a:t>
            </a:r>
          </a:p>
        </p:txBody>
      </p:sp>
      <p:sp>
        <p:nvSpPr>
          <p:cNvPr id="6" name="Rounded Rectangle 5"/>
          <p:cNvSpPr/>
          <p:nvPr/>
        </p:nvSpPr>
        <p:spPr>
          <a:xfrm>
            <a:off x="658368"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Records</a:t>
            </a:r>
          </a:p>
        </p:txBody>
      </p:sp>
      <p:sp>
        <p:nvSpPr>
          <p:cNvPr id="11" name="TextBox 10"/>
          <p:cNvSpPr txBox="1"/>
          <p:nvPr/>
        </p:nvSpPr>
        <p:spPr>
          <a:xfrm>
            <a:off x="1444752"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Keep proper accounting records and preserve them</a:t>
            </a:r>
          </a:p>
        </p:txBody>
      </p:sp>
      <p:sp>
        <p:nvSpPr>
          <p:cNvPr id="12" name="Rounded Rectangle 11"/>
          <p:cNvSpPr/>
          <p:nvPr/>
        </p:nvSpPr>
        <p:spPr>
          <a:xfrm>
            <a:off x="4358640"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8640"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9808"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5145024" y="1837944"/>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Financial statements</a:t>
            </a:r>
          </a:p>
        </p:txBody>
      </p:sp>
      <p:sp>
        <p:nvSpPr>
          <p:cNvPr id="17" name="TextBox 16"/>
          <p:cNvSpPr txBox="1"/>
          <p:nvPr/>
        </p:nvSpPr>
        <p:spPr>
          <a:xfrm>
            <a:off x="5145024"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Ensure compliance and a true and fair view</a:t>
            </a:r>
          </a:p>
        </p:txBody>
      </p:sp>
      <p:sp>
        <p:nvSpPr>
          <p:cNvPr id="18" name="Rounded Rectangle 17"/>
          <p:cNvSpPr/>
          <p:nvPr/>
        </p:nvSpPr>
        <p:spPr>
          <a:xfrm>
            <a:off x="8058912"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8912" y="1673352"/>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0080" y="1883664"/>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0080"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8845296" y="1837944"/>
            <a:ext cx="2493264"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Meetings</a:t>
            </a:r>
          </a:p>
        </p:txBody>
      </p:sp>
      <p:sp>
        <p:nvSpPr>
          <p:cNvPr id="23" name="TextBox 22"/>
          <p:cNvSpPr txBox="1"/>
          <p:nvPr/>
        </p:nvSpPr>
        <p:spPr>
          <a:xfrm>
            <a:off x="8845296"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Hold an AGM unless exempt or validly dispensed with</a:t>
            </a:r>
          </a:p>
        </p:txBody>
      </p:sp>
      <p:sp>
        <p:nvSpPr>
          <p:cNvPr id="24" name="Rounded Rectangle 23"/>
          <p:cNvSpPr/>
          <p:nvPr/>
        </p:nvSpPr>
        <p:spPr>
          <a:xfrm>
            <a:off x="658368"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9536"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1444752" y="4069080"/>
            <a:ext cx="2493264"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Returns</a:t>
            </a:r>
          </a:p>
        </p:txBody>
      </p:sp>
      <p:sp>
        <p:nvSpPr>
          <p:cNvPr id="29" name="TextBox 28"/>
          <p:cNvSpPr txBox="1"/>
          <p:nvPr/>
        </p:nvSpPr>
        <p:spPr>
          <a:xfrm>
            <a:off x="1444752"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File annual returns, including for dormant companies</a:t>
            </a:r>
          </a:p>
        </p:txBody>
      </p:sp>
      <p:sp>
        <p:nvSpPr>
          <p:cNvPr id="30" name="Rounded Rectangle 29"/>
          <p:cNvSpPr/>
          <p:nvPr/>
        </p:nvSpPr>
        <p:spPr>
          <a:xfrm>
            <a:off x="4358640"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58640" y="3904488"/>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59808" y="41148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9808"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5</a:t>
            </a:r>
          </a:p>
        </p:txBody>
      </p:sp>
      <p:sp>
        <p:nvSpPr>
          <p:cNvPr id="34" name="TextBox 33"/>
          <p:cNvSpPr txBox="1"/>
          <p:nvPr/>
        </p:nvSpPr>
        <p:spPr>
          <a:xfrm>
            <a:off x="5145024" y="4069080"/>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Registers</a:t>
            </a:r>
          </a:p>
        </p:txBody>
      </p:sp>
      <p:sp>
        <p:nvSpPr>
          <p:cNvPr id="35" name="TextBox 34"/>
          <p:cNvSpPr txBox="1"/>
          <p:nvPr/>
        </p:nvSpPr>
        <p:spPr>
          <a:xfrm>
            <a:off x="5145024"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Keep officers, shareholders and controllers current</a:t>
            </a:r>
          </a:p>
        </p:txBody>
      </p:sp>
      <p:sp>
        <p:nvSpPr>
          <p:cNvPr id="36" name="TextBox 3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Directors' duties | ACRA: Financial reporting duties</a:t>
            </a:r>
          </a:p>
        </p:txBody>
      </p:sp>
      <p:sp>
        <p:nvSpPr>
          <p:cNvPr id="37" name="Rectangle 3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9" name="TextBox 3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0" name="TextBox 3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27</a:t>
            </a:r>
          </a:p>
        </p:txBody>
      </p:sp>
    </p:spTree>
  </p:cSld>
  <p:clrMapOvr>
    <a:masterClrMapping/>
  </p:clrMapOvr>
  <p:transition spd="slow">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GOVERNANCE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Director oversight: weak versus defensible</a:t>
            </a:r>
          </a:p>
        </p:txBody>
      </p:sp>
      <p:sp>
        <p:nvSpPr>
          <p:cNvPr id="6" name="Rounded Rectangle 5"/>
          <p:cNvSpPr/>
          <p:nvPr/>
        </p:nvSpPr>
        <p:spPr>
          <a:xfrm>
            <a:off x="658368"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518464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93392"/>
            <a:ext cx="4617720" cy="475488"/>
          </a:xfrm>
          <a:prstGeom prst="rect">
            <a:avLst/>
          </a:prstGeom>
          <a:noFill/>
        </p:spPr>
        <p:txBody>
          <a:bodyPr wrap="square" anchor="t" lIns="45720" rIns="45720">
            <a:spAutoFit/>
          </a:bodyPr>
          <a:lstStyle/>
          <a:p>
            <a:pPr algn="l">
              <a:spcAft>
                <a:spcPts val="300"/>
              </a:spcAft>
            </a:pPr>
            <a:r>
              <a:rPr sz="1900" b="1">
                <a:solidFill>
                  <a:srgbClr val="1F6FEB"/>
                </a:solidFill>
                <a:latin typeface="Arial"/>
              </a:rPr>
              <a:t>Weak oversight</a:t>
            </a:r>
          </a:p>
        </p:txBody>
      </p:sp>
      <p:sp>
        <p:nvSpPr>
          <p:cNvPr id="9" name="Oval 8"/>
          <p:cNvSpPr/>
          <p:nvPr/>
        </p:nvSpPr>
        <p:spPr>
          <a:xfrm>
            <a:off x="932688" y="26334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1" name="TextBox 10"/>
          <p:cNvSpPr txBox="1"/>
          <p:nvPr/>
        </p:nvSpPr>
        <p:spPr>
          <a:xfrm>
            <a:off x="1408176"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Signs without reading or questioning</a:t>
            </a:r>
          </a:p>
        </p:txBody>
      </p:sp>
      <p:sp>
        <p:nvSpPr>
          <p:cNvPr id="12" name="Oval 11"/>
          <p:cNvSpPr/>
          <p:nvPr/>
        </p:nvSpPr>
        <p:spPr>
          <a:xfrm>
            <a:off x="932688" y="343814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4" name="TextBox 13"/>
          <p:cNvSpPr txBox="1"/>
          <p:nvPr/>
        </p:nvSpPr>
        <p:spPr>
          <a:xfrm>
            <a:off x="1408176"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Treats the company secretary or accountant as the legal owner</a:t>
            </a:r>
          </a:p>
        </p:txBody>
      </p:sp>
      <p:sp>
        <p:nvSpPr>
          <p:cNvPr id="15" name="Oval 14"/>
          <p:cNvSpPr/>
          <p:nvPr/>
        </p:nvSpPr>
        <p:spPr>
          <a:xfrm>
            <a:off x="932688" y="424281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7" name="TextBox 16"/>
          <p:cNvSpPr txBox="1"/>
          <p:nvPr/>
        </p:nvSpPr>
        <p:spPr>
          <a:xfrm>
            <a:off x="1408176"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Accepts late or incomplete evidence</a:t>
            </a:r>
          </a:p>
        </p:txBody>
      </p:sp>
      <p:sp>
        <p:nvSpPr>
          <p:cNvPr id="18" name="Oval 17"/>
          <p:cNvSpPr/>
          <p:nvPr/>
        </p:nvSpPr>
        <p:spPr>
          <a:xfrm>
            <a:off x="932688" y="504748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20" name="TextBox 19"/>
          <p:cNvSpPr txBox="1"/>
          <p:nvPr/>
        </p:nvSpPr>
        <p:spPr>
          <a:xfrm>
            <a:off x="1408176"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Cannot explain the basis of the decision</a:t>
            </a:r>
          </a:p>
        </p:txBody>
      </p:sp>
      <p:sp>
        <p:nvSpPr>
          <p:cNvPr id="21" name="Rounded Rectangle 20"/>
          <p:cNvSpPr/>
          <p:nvPr/>
        </p:nvSpPr>
        <p:spPr>
          <a:xfrm>
            <a:off x="6153912"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1700784"/>
            <a:ext cx="518464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1993392"/>
            <a:ext cx="4617720" cy="475488"/>
          </a:xfrm>
          <a:prstGeom prst="rect">
            <a:avLst/>
          </a:prstGeom>
          <a:noFill/>
        </p:spPr>
        <p:txBody>
          <a:bodyPr wrap="square" anchor="t" lIns="45720" rIns="45720">
            <a:spAutoFit/>
          </a:bodyPr>
          <a:lstStyle/>
          <a:p>
            <a:pPr algn="l">
              <a:spcAft>
                <a:spcPts val="300"/>
              </a:spcAft>
            </a:pPr>
            <a:r>
              <a:rPr sz="1900" b="1">
                <a:solidFill>
                  <a:srgbClr val="10B981"/>
                </a:solidFill>
                <a:latin typeface="Arial"/>
              </a:rPr>
              <a:t>Defensible oversight</a:t>
            </a:r>
          </a:p>
        </p:txBody>
      </p:sp>
      <p:sp>
        <p:nvSpPr>
          <p:cNvPr id="24" name="Oval 23"/>
          <p:cNvSpPr/>
          <p:nvPr/>
        </p:nvSpPr>
        <p:spPr>
          <a:xfrm>
            <a:off x="6428232" y="263347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26" name="TextBox 25"/>
          <p:cNvSpPr txBox="1"/>
          <p:nvPr/>
        </p:nvSpPr>
        <p:spPr>
          <a:xfrm>
            <a:off x="6903720"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Understands key figures and legal deadlines</a:t>
            </a:r>
          </a:p>
        </p:txBody>
      </p:sp>
      <p:sp>
        <p:nvSpPr>
          <p:cNvPr id="27" name="Oval 26"/>
          <p:cNvSpPr/>
          <p:nvPr/>
        </p:nvSpPr>
        <p:spPr>
          <a:xfrm>
            <a:off x="6428232" y="343814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29" name="TextBox 28"/>
          <p:cNvSpPr txBox="1"/>
          <p:nvPr/>
        </p:nvSpPr>
        <p:spPr>
          <a:xfrm>
            <a:off x="6903720"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Challenges estimates and unusual transactions</a:t>
            </a:r>
          </a:p>
        </p:txBody>
      </p:sp>
      <p:sp>
        <p:nvSpPr>
          <p:cNvPr id="30" name="Oval 29"/>
          <p:cNvSpPr/>
          <p:nvPr/>
        </p:nvSpPr>
        <p:spPr>
          <a:xfrm>
            <a:off x="6428232" y="424281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28232"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32" name="TextBox 31"/>
          <p:cNvSpPr txBox="1"/>
          <p:nvPr/>
        </p:nvSpPr>
        <p:spPr>
          <a:xfrm>
            <a:off x="6903720"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Uses competent advisers but forms an independent view</a:t>
            </a:r>
          </a:p>
        </p:txBody>
      </p:sp>
      <p:sp>
        <p:nvSpPr>
          <p:cNvPr id="33" name="Oval 32"/>
          <p:cNvSpPr/>
          <p:nvPr/>
        </p:nvSpPr>
        <p:spPr>
          <a:xfrm>
            <a:off x="6428232" y="50474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28232"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35" name="TextBox 34"/>
          <p:cNvSpPr txBox="1"/>
          <p:nvPr/>
        </p:nvSpPr>
        <p:spPr>
          <a:xfrm>
            <a:off x="6903720"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Records questions, advice, decisions and follow-up</a:t>
            </a:r>
          </a:p>
        </p:txBody>
      </p:sp>
      <p:sp>
        <p:nvSpPr>
          <p:cNvPr id="36" name="TextBox 3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Financial reporting duties</a:t>
            </a:r>
          </a:p>
        </p:txBody>
      </p:sp>
      <p:sp>
        <p:nvSpPr>
          <p:cNvPr id="37" name="Rectangle 3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9" name="TextBox 3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0" name="TextBox 3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28</a:t>
            </a:r>
          </a:p>
        </p:txBody>
      </p:sp>
    </p:spTree>
  </p:cSld>
  <p:clrMapOvr>
    <a:masterClrMapping/>
  </p:clrMapOvr>
  <p:transition spd="slow">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ACRA RHYTHM</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Annual corporate housekeeping</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Confirm company particulars</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Reconcile member and officer changes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Verify controllers and nominees</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Review financial reporting status</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Approve and file the annual return</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Company registers | ACRA: Directors' duties</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29</a:t>
            </a:r>
          </a:p>
        </p:txBody>
      </p:sp>
    </p:spTree>
  </p:cSld>
  <p:clrMapOvr>
    <a:masterClrMapping/>
  </p:clrMapOvr>
  <p:transition spd="slow">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COMPANY RECORDS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Registers and key deadlines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Electronic registers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Report officer/shareholder changes through Bizfile within 14 days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Private RORC</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Maintain controller information; update within 7 days after confirmation</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Central RORC</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For applicable companies, lodge updates within 2 business days after the private register</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Annual verification</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Send controllers a notice at least once a year to verify particulars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Company registers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30</a:t>
            </a:r>
          </a:p>
        </p:txBody>
      </p:sp>
    </p:spTree>
  </p:cSld>
  <p:clrMapOvr>
    <a:masterClrMapping/>
  </p:clrMapOvr>
  <p:transition spd="slow">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CURRENT DEVELOPMENT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The 16 June 2025 register change</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At incorporation</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Companies incorporated from this date establish RORC/ROND/RONS from registration</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Private first</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Update the company's own register before the central filing</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Central filing</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Submit relevant changes to ACRA within the prescribed short window</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Control implication</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Incorporation and change-management checklists must be redesigned</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Company registers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31</a:t>
            </a:r>
          </a:p>
        </p:txBody>
      </p:sp>
    </p:spTree>
  </p:cSld>
  <p:clrMapOvr>
    <a:masterClrMapping/>
  </p:clrMapOvr>
  <p:transition spd="slow">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FINANCIAL GOVERNANCE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Financial reporting: what directors must do</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Read</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Understand the statements before authorising issuance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Challenge</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Question treatments that conflict with transaction substance</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Learn</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Maintain enough current financial knowledge for high-level review</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Resource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Appoint competent people, robust controls and external help when needed</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Financial reporting duties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32</a:t>
            </a:r>
          </a:p>
        </p:txBody>
      </p:sp>
    </p:spTree>
  </p:cSld>
  <p:clrMapOvr>
    <a:masterClrMapping/>
  </p:clrMapOvr>
  <p:transition spd="slow">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FILING DISCIPLINE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Annual return and tax return are different</a:t>
            </a:r>
          </a:p>
        </p:txBody>
      </p:sp>
      <p:sp>
        <p:nvSpPr>
          <p:cNvPr id="6" name="Rounded Rectangle 5"/>
          <p:cNvSpPr/>
          <p:nvPr/>
        </p:nvSpPr>
        <p:spPr>
          <a:xfrm>
            <a:off x="658368"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518464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93392"/>
            <a:ext cx="4617720" cy="475488"/>
          </a:xfrm>
          <a:prstGeom prst="rect">
            <a:avLst/>
          </a:prstGeom>
          <a:noFill/>
        </p:spPr>
        <p:txBody>
          <a:bodyPr wrap="square" anchor="t" lIns="45720" rIns="45720">
            <a:spAutoFit/>
          </a:bodyPr>
          <a:lstStyle/>
          <a:p>
            <a:pPr algn="l">
              <a:spcAft>
                <a:spcPts val="300"/>
              </a:spcAft>
            </a:pPr>
            <a:r>
              <a:rPr sz="1900" b="1">
                <a:solidFill>
                  <a:srgbClr val="1F6FEB"/>
                </a:solidFill>
                <a:latin typeface="Arial"/>
              </a:rPr>
              <a:t>ACRA annual return</a:t>
            </a:r>
          </a:p>
        </p:txBody>
      </p:sp>
      <p:sp>
        <p:nvSpPr>
          <p:cNvPr id="9" name="Oval 8"/>
          <p:cNvSpPr/>
          <p:nvPr/>
        </p:nvSpPr>
        <p:spPr>
          <a:xfrm>
            <a:off x="932688" y="26334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1" name="TextBox 10"/>
          <p:cNvSpPr txBox="1"/>
          <p:nvPr/>
        </p:nvSpPr>
        <p:spPr>
          <a:xfrm>
            <a:off x="1408176"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Maintains the public corporate record</a:t>
            </a:r>
          </a:p>
        </p:txBody>
      </p:sp>
      <p:sp>
        <p:nvSpPr>
          <p:cNvPr id="12" name="Oval 11"/>
          <p:cNvSpPr/>
          <p:nvPr/>
        </p:nvSpPr>
        <p:spPr>
          <a:xfrm>
            <a:off x="932688" y="343814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4" name="TextBox 13"/>
          <p:cNvSpPr txBox="1"/>
          <p:nvPr/>
        </p:nvSpPr>
        <p:spPr>
          <a:xfrm>
            <a:off x="1408176"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Covers officers, shareholders and company particulars</a:t>
            </a:r>
          </a:p>
        </p:txBody>
      </p:sp>
      <p:sp>
        <p:nvSpPr>
          <p:cNvPr id="15" name="Oval 14"/>
          <p:cNvSpPr/>
          <p:nvPr/>
        </p:nvSpPr>
        <p:spPr>
          <a:xfrm>
            <a:off x="932688" y="424281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7" name="TextBox 16"/>
          <p:cNvSpPr txBox="1"/>
          <p:nvPr/>
        </p:nvSpPr>
        <p:spPr>
          <a:xfrm>
            <a:off x="1408176"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May include XBRL financial statements where applicable</a:t>
            </a:r>
          </a:p>
        </p:txBody>
      </p:sp>
      <p:sp>
        <p:nvSpPr>
          <p:cNvPr id="18" name="Rounded Rectangle 17"/>
          <p:cNvSpPr/>
          <p:nvPr/>
        </p:nvSpPr>
        <p:spPr>
          <a:xfrm>
            <a:off x="6153912"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3912" y="1700784"/>
            <a:ext cx="518464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2" y="1993392"/>
            <a:ext cx="4617720" cy="475488"/>
          </a:xfrm>
          <a:prstGeom prst="rect">
            <a:avLst/>
          </a:prstGeom>
          <a:noFill/>
        </p:spPr>
        <p:txBody>
          <a:bodyPr wrap="square" anchor="t" lIns="45720" rIns="45720">
            <a:spAutoFit/>
          </a:bodyPr>
          <a:lstStyle/>
          <a:p>
            <a:pPr algn="l">
              <a:spcAft>
                <a:spcPts val="300"/>
              </a:spcAft>
            </a:pPr>
            <a:r>
              <a:rPr sz="1900" b="1">
                <a:solidFill>
                  <a:srgbClr val="10B981"/>
                </a:solidFill>
                <a:latin typeface="Arial"/>
              </a:rPr>
              <a:t>IRAS corporate income tax return</a:t>
            </a:r>
          </a:p>
        </p:txBody>
      </p:sp>
      <p:sp>
        <p:nvSpPr>
          <p:cNvPr id="21" name="Oval 20"/>
          <p:cNvSpPr/>
          <p:nvPr/>
        </p:nvSpPr>
        <p:spPr>
          <a:xfrm>
            <a:off x="6428232" y="263347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23" name="TextBox 22"/>
          <p:cNvSpPr txBox="1"/>
          <p:nvPr/>
        </p:nvSpPr>
        <p:spPr>
          <a:xfrm>
            <a:off x="6903720"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Declares taxable income and supporting tax positions</a:t>
            </a:r>
          </a:p>
        </p:txBody>
      </p:sp>
      <p:sp>
        <p:nvSpPr>
          <p:cNvPr id="24" name="Oval 23"/>
          <p:cNvSpPr/>
          <p:nvPr/>
        </p:nvSpPr>
        <p:spPr>
          <a:xfrm>
            <a:off x="6428232" y="343814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26" name="TextBox 25"/>
          <p:cNvSpPr txBox="1"/>
          <p:nvPr/>
        </p:nvSpPr>
        <p:spPr>
          <a:xfrm>
            <a:off x="6903720"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Includes ECI and Form C-S/C-S (Lite)/C obligations</a:t>
            </a:r>
          </a:p>
        </p:txBody>
      </p:sp>
      <p:sp>
        <p:nvSpPr>
          <p:cNvPr id="27" name="Oval 26"/>
          <p:cNvSpPr/>
          <p:nvPr/>
        </p:nvSpPr>
        <p:spPr>
          <a:xfrm>
            <a:off x="6428232" y="424281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29" name="TextBox 28"/>
          <p:cNvSpPr txBox="1"/>
          <p:nvPr/>
        </p:nvSpPr>
        <p:spPr>
          <a:xfrm>
            <a:off x="6903720"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Uses the Year of Assessment framework</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Directors' duties | IRAS: Corporate income tax</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33</a:t>
            </a:r>
          </a:p>
        </p:txBody>
      </p:sp>
    </p:spTree>
  </p:cSld>
  <p:clrMapOvr>
    <a:masterClrMapping/>
  </p:clrMapOvr>
  <p:transition spd="slow">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CROSS-BORDER TRIGGERS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Global developments become local business issues when...</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Customers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The business serves or targets persons in another jurisdiction</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Data</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Personal or operational data is transferred or accessed overseas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Supply chain</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Contracts import foreign standards, sanctions or reporting duties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Capital and people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Investors, staff, directors or assets cross borders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Pitt Law: Compliance legislation | ES Law: Corporate-law basics | Wolters Kluwer: Compliance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34</a:t>
            </a:r>
          </a:p>
        </p:txBody>
      </p:sp>
    </p:spTree>
  </p:cSld>
  <p:clrMapOvr>
    <a:masterClrMapping/>
  </p:clrMapOvr>
  <p:transition spd="slow">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1 | K1, A1 / LO1</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Board Duties and Governance Gap Scan</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25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Identify director, record, reporting and register gaps; distinguish tasks that may be outsourced from accountability that remains with directors.</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One-page governance gap scan and two-minute board briefing.</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Individual fined $108,000 for a | ACRA: Directors' duties | ACRA: Financial reporting duties | ACRA: Company registers</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35</a:t>
            </a:r>
          </a:p>
        </p:txBody>
      </p:sp>
    </p:spTree>
  </p:cSld>
  <p:clrMapOvr>
    <a:masterClrMapping/>
  </p:clrMapOvr>
  <p:transition spd="slow">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1 | 18 MAY 2026 | CONVICTED AND SENTENCED IN THE STATE COURTS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Board Duties and Governance Gap Scan</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ROBERT SINPRASEUTH - FALSE DIRECTOR-APPOINTMENT FILINGS</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ACRA reported that Robert Sinpraseuth authorised a corporate service provider to lodge forms across 12 companies falsely declaring that an individual had consented to be appointed as director. He was convicted on 12 charges and fined a total of $108,000; 12 similar charges were considered for sentencing.</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Use only the published ACRA facts as case evidence. The control redesign and board response are learner recommendations, not facts found by the court.</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Individual fined $108,000 for a | ACRA: Directors' duties | ACRA: Financial reporting duties | ACRA: Company registers</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36</a:t>
            </a:r>
          </a:p>
        </p:txBody>
      </p:sp>
    </p:spTree>
  </p:cSld>
  <p:clrMapOvr>
    <a:masterClrMapping/>
  </p:clrMapOvr>
  <p:transition spd="slow">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1: Board Duties and Governance Gap Scan</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should an authorising person have verified before the 12 filings?</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consent, review and approval evidence should have existed?</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immediate review should the affected companies undertake?</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maker-checker and director-oversight controls would prevent recurrence?</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All material facts mapped</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Director accountability stated correctly</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Owners/deadlines named</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Evidence requirements explicit</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Individual fined $108,000 for a | ACRA: Directors' duties | ACRA: Financial reporting duties | ACRA: Company registers</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37</a:t>
            </a:r>
          </a:p>
        </p:txBody>
      </p:sp>
    </p:spTree>
  </p:cSld>
  <p:clrMapOvr>
    <a:masterClrMapping/>
  </p:clrMapOvr>
  <p:transition spd="slow">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2 | K1, A1 / LO1</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Global Trigger and Regulatory Perimeter Map</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20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Show how customers, data flows, contracts, staff and suppliers can make global legal developments relevant to a Singapore business.</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Regulatory perimeter map with owners and escalation rules.</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- 12 persons charged with Compani | ACRA: Directors' duties | Wolters Kluwer: Compliance | Pitt Law: Compliance legislation | ES Law: Corporate-law basics</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38</a:t>
            </a:r>
          </a:p>
        </p:txBody>
      </p:sp>
    </p:spTree>
  </p:cSld>
  <p:clrMapOvr>
    <a:masterClrMapping/>
  </p:clrMapOvr>
  <p:transition spd="slow">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2 | 1 JUNE 2023 | CHARGES REPORTED; DO NOT TREAT ALLEGATIONS AS CONVICTIONS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Global Trigger and Regulatory Perimeter Map</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ACRA/CAD INVESTIGATION INVOLVING 35 SINGAPORE COMPANIES AND FOREIGN AGENTS</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ACRA reported that foreign agents used overseas corporate service providers to engage Singapore providers to incorporate local companies and open bank accounts. Investigations found that nominee directors of 35 Singapore-registered companies allowed foreign agents to operate the accounts, which received and laundered about US$36 million from local and overseas scam victims. Twelve persons were charged with Companies Act offences.</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Treat the enforcement status accurately: the source reports charges and investigation findings. The perimeter map is a preventive analysis, not a finding about the guilt of every person charged.</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- 12 persons charged with Compani | ACRA: Directors' duties | Wolters Kluwer: Compliance | Pitt Law: Compliance legislation | ES Law: Corporate-law basics</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39</a:t>
            </a:r>
          </a:p>
        </p:txBody>
      </p:sp>
    </p:spTree>
  </p:cSld>
  <p:clrMapOvr>
    <a:masterClrMapping/>
  </p:clrMapOvr>
  <p:transition spd="slow">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2: Global Trigger and Regulatory Perimeter Map</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cross-border actors, services, accounts and victims expanded the risk perimeter?</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Singapore director/CSP duties remain local even when instructions originate overseas?</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customer, agent and transaction information should trigger enhanced review?</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red flags require refusal, escalation or a suspicious-transaction decision?</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Five trigger categories covered</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Singapore/foreign distinction clear</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No foreign rule treated as Singapore law</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Escalation rule is decision-ready</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- 12 persons charged with Compani | ACRA: Directors' duties | Wolters Kluwer: Compliance | Pitt Law: Compliance legislation | ES Law: Corporate-law basics</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40</a:t>
            </a:r>
          </a:p>
        </p:txBody>
      </p:sp>
    </p:spTree>
  </p:cSld>
  <p:clrMapOvr>
    <a:masterClrMapping/>
  </p:clrMapOvr>
  <p:transition spd="slow">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2551" cy="1645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82551" cy="155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240280"/>
            <a:ext cx="10698480" cy="822960"/>
          </a:xfrm>
          <a:prstGeom prst="rect">
            <a:avLst/>
          </a:prstGeom>
          <a:noFill/>
        </p:spPr>
        <p:txBody>
          <a:bodyPr wrap="square" anchor="t" lIns="45720" rIns="45720">
            <a:spAutoFit/>
          </a:bodyPr>
          <a:lstStyle/>
          <a:p>
            <a:pPr algn="ctr">
              <a:spcAft>
                <a:spcPts val="300"/>
              </a:spcAft>
            </a:pPr>
            <a:r>
              <a:rPr sz="4200" b="1">
                <a:solidFill>
                  <a:srgbClr val="172B4D"/>
                </a:solidFill>
                <a:latin typeface="Arial"/>
              </a:rPr>
              <a:t>Morning Break</a:t>
            </a:r>
          </a:p>
        </p:txBody>
      </p:sp>
      <p:sp>
        <p:nvSpPr>
          <p:cNvPr id="6" name="TextBox 5"/>
          <p:cNvSpPr txBox="1"/>
          <p:nvPr/>
        </p:nvSpPr>
        <p:spPr>
          <a:xfrm>
            <a:off x="731520" y="3337560"/>
            <a:ext cx="10698480" cy="502920"/>
          </a:xfrm>
          <a:prstGeom prst="rect">
            <a:avLst/>
          </a:prstGeom>
          <a:noFill/>
        </p:spPr>
        <p:txBody>
          <a:bodyPr wrap="square" anchor="t" lIns="45720" rIns="45720">
            <a:spAutoFit/>
          </a:bodyPr>
          <a:lstStyle/>
          <a:p>
            <a:pPr algn="ctr">
              <a:spcAft>
                <a:spcPts val="300"/>
              </a:spcAft>
            </a:pPr>
            <a:r>
              <a:rPr sz="2000" b="1">
                <a:solidFill>
                  <a:srgbClr val="F59E0B"/>
                </a:solidFill>
                <a:latin typeface="Arial"/>
              </a:rPr>
              <a:t>10 minutes</a:t>
            </a:r>
          </a:p>
        </p:txBody>
      </p:sp>
      <p:sp>
        <p:nvSpPr>
          <p:cNvPr id="7" name="TextBox 6"/>
          <p:cNvSpPr txBox="1"/>
          <p:nvPr/>
        </p:nvSpPr>
        <p:spPr>
          <a:xfrm>
            <a:off x="1371600" y="4251960"/>
            <a:ext cx="9418320" cy="548640"/>
          </a:xfrm>
          <a:prstGeom prst="rect">
            <a:avLst/>
          </a:prstGeom>
          <a:noFill/>
        </p:spPr>
        <p:txBody>
          <a:bodyPr wrap="square" anchor="t" lIns="45720" rIns="45720">
            <a:spAutoFit/>
          </a:bodyPr>
          <a:lstStyle/>
          <a:p>
            <a:pPr algn="ctr">
              <a:spcAft>
                <a:spcPts val="300"/>
              </a:spcAft>
            </a:pPr>
            <a:r>
              <a:rPr sz="1400" b="0">
                <a:solidFill>
                  <a:srgbClr val="5B6372"/>
                </a:solidFill>
                <a:latin typeface="Arial"/>
              </a:rPr>
              <a:t>Return on time so the case-study sequence remains aligned with the assessment.</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41</a:t>
            </a:r>
          </a:p>
        </p:txBody>
      </p:sp>
    </p:spTree>
  </p:cSld>
  <p:clrMapOvr>
    <a:masterClrMapping/>
  </p:clrMapOvr>
  <p:transition spd="slow">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7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874519"/>
            <a:ext cx="9784080" cy="365760"/>
          </a:xfrm>
          <a:prstGeom prst="rect">
            <a:avLst/>
          </a:prstGeom>
          <a:noFill/>
        </p:spPr>
        <p:txBody>
          <a:bodyPr wrap="square" anchor="t" lIns="45720" rIns="45720">
            <a:spAutoFit/>
          </a:bodyPr>
          <a:lstStyle/>
          <a:p>
            <a:pPr algn="l">
              <a:spcAft>
                <a:spcPts val="300"/>
              </a:spcAft>
            </a:pPr>
            <a:r>
              <a:rPr sz="1500" b="1">
                <a:solidFill>
                  <a:srgbClr val="1F6FEB"/>
                </a:solidFill>
                <a:latin typeface="Arial"/>
              </a:rPr>
              <a:t>TOPIC 2 | K1, A1 / LO1</a:t>
            </a:r>
          </a:p>
        </p:txBody>
      </p:sp>
      <p:sp>
        <p:nvSpPr>
          <p:cNvPr id="5" name="TextBox 4"/>
          <p:cNvSpPr txBox="1"/>
          <p:nvPr/>
        </p:nvSpPr>
        <p:spPr>
          <a:xfrm>
            <a:off x="777240" y="2304288"/>
            <a:ext cx="9966960" cy="1508760"/>
          </a:xfrm>
          <a:prstGeom prst="rect">
            <a:avLst/>
          </a:prstGeom>
          <a:noFill/>
        </p:spPr>
        <p:txBody>
          <a:bodyPr wrap="square" anchor="t" lIns="45720" rIns="45720">
            <a:spAutoFit/>
          </a:bodyPr>
          <a:lstStyle/>
          <a:p>
            <a:pPr algn="l">
              <a:spcAft>
                <a:spcPts val="300"/>
              </a:spcAft>
            </a:pPr>
            <a:r>
              <a:rPr sz="3700" b="1">
                <a:solidFill>
                  <a:srgbClr val="172B4D"/>
                </a:solidFill>
                <a:latin typeface="Arial"/>
              </a:rPr>
              <a:t>Industry-Specific Business Laws and Compliance</a:t>
            </a:r>
          </a:p>
        </p:txBody>
      </p:sp>
      <p:sp>
        <p:nvSpPr>
          <p:cNvPr id="6" name="TextBox 5"/>
          <p:cNvSpPr txBox="1"/>
          <p:nvPr/>
        </p:nvSpPr>
        <p:spPr>
          <a:xfrm>
            <a:off x="804672" y="3968496"/>
            <a:ext cx="9692640" cy="914400"/>
          </a:xfrm>
          <a:prstGeom prst="rect">
            <a:avLst/>
          </a:prstGeom>
          <a:noFill/>
        </p:spPr>
        <p:txBody>
          <a:bodyPr wrap="square" anchor="t" lIns="45720" rIns="45720">
            <a:spAutoFit/>
          </a:bodyPr>
          <a:lstStyle/>
          <a:p>
            <a:pPr algn="l">
              <a:spcAft>
                <a:spcPts val="300"/>
              </a:spcAft>
            </a:pPr>
            <a:r>
              <a:rPr sz="1600" b="0">
                <a:solidFill>
                  <a:srgbClr val="5B6372"/>
                </a:solidFill>
                <a:latin typeface="Arial"/>
              </a:rPr>
              <a:t>Tax, GST, employment, CPF, workplace safety, data protection and sector overlays</a:t>
            </a:r>
          </a:p>
        </p:txBody>
      </p:sp>
      <p:sp>
        <p:nvSpPr>
          <p:cNvPr id="7" name="TextBox 6"/>
          <p:cNvSpPr txBox="1"/>
          <p:nvPr/>
        </p:nvSpPr>
        <p:spPr>
          <a:xfrm>
            <a:off x="9646920" y="502920"/>
            <a:ext cx="1828800" cy="1325880"/>
          </a:xfrm>
          <a:prstGeom prst="rect">
            <a:avLst/>
          </a:prstGeom>
          <a:noFill/>
        </p:spPr>
        <p:txBody>
          <a:bodyPr wrap="square" anchor="t" lIns="45720" rIns="45720">
            <a:spAutoFit/>
          </a:bodyPr>
          <a:lstStyle/>
          <a:p>
            <a:pPr algn="r">
              <a:spcAft>
                <a:spcPts val="300"/>
              </a:spcAft>
            </a:pPr>
            <a:r>
              <a:rPr sz="6800" b="1">
                <a:solidFill>
                  <a:srgbClr val="E2E8F0"/>
                </a:solidFill>
                <a:latin typeface="Arial"/>
              </a:rPr>
              <a:t>02</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42</a:t>
            </a:r>
          </a:p>
        </p:txBody>
      </p:sp>
    </p:spTree>
  </p:cSld>
  <p:clrMapOvr>
    <a:masterClrMapping/>
  </p:clrMapOvr>
  <p:transition spd="slow">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APPLICABILITY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Build the compliance universe from business facts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Entity</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Company type, ownership, officers and lifecycle stage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Activity</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What is sold, promised, processed, imported or exported</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People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Employees, contractors, migrant workers and workplace risks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Data and sector</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Personal data, regulated products, licences and jurisdictions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Compliance | Nakat: Compliance checklist | Bizbot: Company compliance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43</a:t>
            </a:r>
          </a:p>
        </p:txBody>
      </p:sp>
    </p:spTree>
  </p:cSld>
  <p:clrMapOvr>
    <a:masterClrMapping/>
  </p:clrMapOvr>
  <p:transition spd="slow">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IRAS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Corporate income tax filing rhythm</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Close the financial year</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File ECI within 3 months unless a waiver applies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Prepare tax computation</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File Form C-S / C-S (Lite) / C by the annual due date</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Pay and retain evidence</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Corporate income tax | IRAS: CIT filing guide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44</a:t>
            </a:r>
          </a:p>
        </p:txBody>
      </p:sp>
    </p:spTree>
  </p:cSld>
  <p:clrMapOvr>
    <a:masterClrMapping/>
  </p:clrMapOvr>
  <p:transition spd="slow">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RECORD KEEPING</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Tax records must tell the transaction story</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Source documents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Invoices, receipts, contracts and supporting evidence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Accounting trail</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Ledgers, schedules and systematic transaction records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Cash evidence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Bank statements and payment records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Retention</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Keep relevant records for at least 5 years from the relevant YA</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Record keeping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45</a:t>
            </a:r>
          </a:p>
        </p:txBody>
      </p:sp>
    </p:spTree>
  </p:cSld>
  <p:clrMapOvr>
    <a:masterClrMapping/>
  </p:clrMapOvr>
  <p:transition spd="slow">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GST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GST-registered business responsibilities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Charge and account</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Apply GST correctly to standard-rated supplies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File and pay</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Submit returns and tax due on time</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Invoice and display</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Use compliant tax invoices and GST-inclusive price displays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Records and changes</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Keep support, notify IRAS and account at deregistration</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GST responsibilities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46</a:t>
            </a:r>
          </a:p>
        </p:txBody>
      </p:sp>
    </p:spTree>
  </p:cSld>
  <p:clrMapOvr>
    <a:masterClrMapping/>
  </p:clrMapOvr>
  <p:transition spd="slow">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DIGITAL COMPLIANCE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Manual filing and seamless filing</a:t>
            </a:r>
          </a:p>
        </p:txBody>
      </p:sp>
      <p:sp>
        <p:nvSpPr>
          <p:cNvPr id="6" name="Rounded Rectangle 5"/>
          <p:cNvSpPr/>
          <p:nvPr/>
        </p:nvSpPr>
        <p:spPr>
          <a:xfrm>
            <a:off x="658368"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518464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93392"/>
            <a:ext cx="4617720" cy="475488"/>
          </a:xfrm>
          <a:prstGeom prst="rect">
            <a:avLst/>
          </a:prstGeom>
          <a:noFill/>
        </p:spPr>
        <p:txBody>
          <a:bodyPr wrap="square" anchor="t" lIns="45720" rIns="45720">
            <a:spAutoFit/>
          </a:bodyPr>
          <a:lstStyle/>
          <a:p>
            <a:pPr algn="l">
              <a:spcAft>
                <a:spcPts val="300"/>
              </a:spcAft>
            </a:pPr>
            <a:r>
              <a:rPr sz="1900" b="1">
                <a:solidFill>
                  <a:srgbClr val="1F6FEB"/>
                </a:solidFill>
                <a:latin typeface="Arial"/>
              </a:rPr>
              <a:t>Manual hand-offs</a:t>
            </a:r>
          </a:p>
        </p:txBody>
      </p:sp>
      <p:sp>
        <p:nvSpPr>
          <p:cNvPr id="9" name="Oval 8"/>
          <p:cNvSpPr/>
          <p:nvPr/>
        </p:nvSpPr>
        <p:spPr>
          <a:xfrm>
            <a:off x="932688" y="26334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1" name="TextBox 10"/>
          <p:cNvSpPr txBox="1"/>
          <p:nvPr/>
        </p:nvSpPr>
        <p:spPr>
          <a:xfrm>
            <a:off x="1408176"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Repeated re-keying between source systems and portals</a:t>
            </a:r>
          </a:p>
        </p:txBody>
      </p:sp>
      <p:sp>
        <p:nvSpPr>
          <p:cNvPr id="12" name="Oval 11"/>
          <p:cNvSpPr/>
          <p:nvPr/>
        </p:nvSpPr>
        <p:spPr>
          <a:xfrm>
            <a:off x="932688" y="343814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4" name="TextBox 13"/>
          <p:cNvSpPr txBox="1"/>
          <p:nvPr/>
        </p:nvSpPr>
        <p:spPr>
          <a:xfrm>
            <a:off x="1408176"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Higher transposition and version-control risk</a:t>
            </a:r>
          </a:p>
        </p:txBody>
      </p:sp>
      <p:sp>
        <p:nvSpPr>
          <p:cNvPr id="15" name="Oval 14"/>
          <p:cNvSpPr/>
          <p:nvPr/>
        </p:nvSpPr>
        <p:spPr>
          <a:xfrm>
            <a:off x="932688" y="424281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7" name="TextBox 16"/>
          <p:cNvSpPr txBox="1"/>
          <p:nvPr/>
        </p:nvSpPr>
        <p:spPr>
          <a:xfrm>
            <a:off x="1408176"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Evidence spread across email and local files</a:t>
            </a:r>
          </a:p>
        </p:txBody>
      </p:sp>
      <p:sp>
        <p:nvSpPr>
          <p:cNvPr id="18" name="Rounded Rectangle 17"/>
          <p:cNvSpPr/>
          <p:nvPr/>
        </p:nvSpPr>
        <p:spPr>
          <a:xfrm>
            <a:off x="6153912"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53912" y="1700784"/>
            <a:ext cx="518464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2" y="1993392"/>
            <a:ext cx="4617720" cy="475488"/>
          </a:xfrm>
          <a:prstGeom prst="rect">
            <a:avLst/>
          </a:prstGeom>
          <a:noFill/>
        </p:spPr>
        <p:txBody>
          <a:bodyPr wrap="square" anchor="t" lIns="45720" rIns="45720">
            <a:spAutoFit/>
          </a:bodyPr>
          <a:lstStyle/>
          <a:p>
            <a:pPr algn="l">
              <a:spcAft>
                <a:spcPts val="300"/>
              </a:spcAft>
            </a:pPr>
            <a:r>
              <a:rPr sz="1900" b="1">
                <a:solidFill>
                  <a:srgbClr val="10B981"/>
                </a:solidFill>
                <a:latin typeface="Arial"/>
              </a:rPr>
              <a:t>#SFFS-enabled workflow</a:t>
            </a:r>
          </a:p>
        </p:txBody>
      </p:sp>
      <p:sp>
        <p:nvSpPr>
          <p:cNvPr id="21" name="Oval 20"/>
          <p:cNvSpPr/>
          <p:nvPr/>
        </p:nvSpPr>
        <p:spPr>
          <a:xfrm>
            <a:off x="6428232" y="263347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23" name="TextBox 22"/>
          <p:cNvSpPr txBox="1"/>
          <p:nvPr/>
        </p:nvSpPr>
        <p:spPr>
          <a:xfrm>
            <a:off x="6903720"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Accounting/payroll data flows to tax forms with review</a:t>
            </a:r>
          </a:p>
        </p:txBody>
      </p:sp>
      <p:sp>
        <p:nvSpPr>
          <p:cNvPr id="24" name="Oval 23"/>
          <p:cNvSpPr/>
          <p:nvPr/>
        </p:nvSpPr>
        <p:spPr>
          <a:xfrm>
            <a:off x="6428232" y="343814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26" name="TextBox 25"/>
          <p:cNvSpPr txBox="1"/>
          <p:nvPr/>
        </p:nvSpPr>
        <p:spPr>
          <a:xfrm>
            <a:off x="6903720"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Corppass authorisation and acknowledgement remain visible</a:t>
            </a:r>
          </a:p>
        </p:txBody>
      </p:sp>
      <p:sp>
        <p:nvSpPr>
          <p:cNvPr id="27" name="Oval 26"/>
          <p:cNvSpPr/>
          <p:nvPr/>
        </p:nvSpPr>
        <p:spPr>
          <a:xfrm>
            <a:off x="6428232" y="424281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29" name="TextBox 28"/>
          <p:cNvSpPr txBox="1"/>
          <p:nvPr/>
        </p:nvSpPr>
        <p:spPr>
          <a:xfrm>
            <a:off x="6903720"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Digital records can support adjacent ACRA/CPF/MOM duties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Seamless filing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47</a:t>
            </a:r>
          </a:p>
        </p:txBody>
      </p:sp>
    </p:spTree>
  </p:cSld>
  <p:clrMapOvr>
    <a:masterClrMapping/>
  </p:clrMapOvr>
  <p:transition spd="slow">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EMPLOYER DUTY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Who requires CPF contributions?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Singapore citizens / PRs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Employees working in Singapore under a contract of service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Directors</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Company directors receiving wages may be covered</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Flexible workers</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Part-time and casual employees are included</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Connected persons</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Paid family members and concurrently employed staff may also qualify</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MOM: CPF contributions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48</a:t>
            </a:r>
          </a:p>
        </p:txBody>
      </p:sp>
    </p:spTree>
  </p:cSld>
  <p:clrMapOvr>
    <a:masterClrMapping/>
  </p:clrMapOvr>
  <p:transition spd="slow">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PAYROLL</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Monthly CPF control</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Validate employee status and wages</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Calculate employer and employee shares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Approve payroll</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Pay contributions by the required date</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Reconcile acknowledgement and exceptions</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MOM: CPF contributions</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49</a:t>
            </a:r>
          </a:p>
        </p:txBody>
      </p:sp>
    </p:spTree>
  </p:cSld>
  <p:clrMapOvr>
    <a:masterClrMapping/>
  </p:clrMapOvr>
  <p:transition spd="slow">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WORKPLACE SAFETY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Employer responsibilities under the WSH Act</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Assess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Identify hazards and implement effective risk controls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Provide</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Maintain a safe environment, machinery, equipment and processes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Prepare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Establish systems for emergencies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Enable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Give sufficient instruction, training and supervision</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MOM: WSH responsibilities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50</a:t>
            </a:r>
          </a:p>
        </p:txBody>
      </p:sp>
    </p:spTree>
  </p:cSld>
  <p:clrMapOvr>
    <a:masterClrMapping/>
  </p:clrMapOvr>
  <p:transition spd="slow">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PERSONAL DATA</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PDPA obligations as an operating system</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Accountability</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Appoint a DPO and make policies/practices available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Purpose and consent</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Notify purposes and manage valid consent/withdrawal</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Protection and retention</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Secure data and stop retaining it when no longer needed</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Transfer and rights</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Manage overseas protection, access and correction</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Breach notification</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51</a:t>
            </a:r>
          </a:p>
        </p:txBody>
      </p:sp>
    </p:spTree>
  </p:cSld>
  <p:clrMapOvr>
    <a:masterClrMapping/>
  </p:clrMapOvr>
  <p:transition spd="slow">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INCIDENT RESPONSE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Notifiable data breach timeline</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Contain and investigate</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Assess significant harm and significant scale</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Determine whether notifiable</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Notify PDPC as soon as practicable and within 3 calendar days</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Notify affected individuals and document response</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Breach notification</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52</a:t>
            </a:r>
          </a:p>
        </p:txBody>
      </p:sp>
    </p:spTree>
  </p:cSld>
  <p:clrMapOvr>
    <a:masterClrMapping/>
  </p:clrMapOvr>
  <p:transition spd="slow">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3 | K1, A1 / LO1</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Five-Agency Compliance Calendar</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25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Convert company facts into a calendar of ACRA, IRAS, MOM/CPF, WSH and PDPA responsibilities with evidence owners.</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12-month compliance calendar and evidence register.</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 Husband and wife convicted for  | ACRA: Directors' duties | IRAS: Corporate income tax | IRAS: GST responsibilities | MOM: CPF contributions | MOM: WSH responsibilities | PDPC: Breach notification</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53</a:t>
            </a:r>
          </a:p>
        </p:txBody>
      </p:sp>
    </p:spTree>
  </p:cSld>
  <p:clrMapOvr>
    <a:masterClrMapping/>
  </p:clrMapOvr>
  <p:transition spd="slow">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3 | 12 DECEMBER 2022 | CONVICTIONS AND SENTENCES REPORTED BY IRAS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Five-Agency Compliance Calendar</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WAN LIN HEALTHCARE CENTRE - INCOME TAX AND GST EVASIONS</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IRAS reported that Lim Meng Fatt and Gan Bee Bee were convicted for income tax and GST evasions involving Wan Lin Healthcare Centre Pte Ltd. The case included omitted output tax, fraudulent GST deregistration while the company remained liable to be registered, and a false Productivity and Innovation Credit claim. The court imposed imprisonment terms and substantial financial penalties.</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Build the calendar from the published tax failures, then add ACRA, employment/CPF, WSH and PDPA rows as a clearly labelled prospective control extension. Do not imply that IRAS found Wan Lin in breach of those other regimes.</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 Husband and wife convicted for  | ACRA: Directors' duties | IRAS: Corporate income tax | IRAS: GST responsibilities | MOM: CPF contributions | MOM: WSH responsibilities | PDPC: Breach notification</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54</a:t>
            </a:r>
          </a:p>
        </p:txBody>
      </p:sp>
    </p:spTree>
  </p:cSld>
  <p:clrMapOvr>
    <a:masterClrMapping/>
  </p:clrMapOvr>
  <p:transition spd="slow">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3: Five-Agency Compliance Calendar</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tax events and records should have appeared in Wan Lin's compliance calendar?</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evidence should reconcile sales, output tax, GST status and corporate tax?</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independent review could have detected the published failures earlier?</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non-tax calendar rows are prospective extensions rather than case findings?</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Five regulator categories present</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Trigger/frequency accurate</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Owner and reviewer separated</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Evidence and escalation captured</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 Husband and wife convicted for  | ACRA: Directors' duties | IRAS: Corporate income tax | IRAS: GST responsibilities | MOM: CPF contributions | MOM: WSH responsibilities | PDPC: Breach notification</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55</a:t>
            </a:r>
          </a:p>
        </p:txBody>
      </p:sp>
    </p:spTree>
  </p:cSld>
  <p:clrMapOvr>
    <a:masterClrMapping/>
  </p:clrMapOvr>
  <p:transition spd="slow">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4 | K1, A1 / LO1</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Data Breach Notification Tabletop</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20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Practise containment, assessment, decision ownership, notification timing and evidence capture under the PDPA breach-notification framework.</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Incident decision log, notification outline and remediation list.</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 Decision and undertakings annou | PDPC: Breach notification</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56</a:t>
            </a:r>
          </a:p>
        </p:txBody>
      </p:sp>
    </p:spTree>
  </p:cSld>
  <p:clrMapOvr>
    <a:masterClrMapping/>
  </p:clrMapOvr>
  <p:transition spd="slow">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4 | 26 FEBRUARY 2026 | PDPC DECISION; ORGANISATION NOT NAMED IN THE ANNOUNCEMENT SUMMARY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Data Breach Notification Tabletop</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PDPC FEBRUARY 2026 RANSOMWARE DECISION - SHARED B2B E-COMMERCE NETWORK</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PDPC announced a decision concerning a ransomware incident on a shared network managed by a B2B e-commerce service provider. About 39,000 individuals were affected and bank and credit-card details were among the data rendered inaccessible. PDPC identified unpatched systems, weak access controls and failure to enforce multi-factor authentication, found a breach of the Protection Obligation, and issued directions to strengthen security.</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The official summary does not publish every incident-response timestamp. Learners must identify missing facts and build a notification decision log without inventing what the organisation actually knew or notified.</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 Decision and undertakings annou | PDPC: Breach notification</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57</a:t>
            </a:r>
          </a:p>
        </p:txBody>
      </p:sp>
    </p:spTree>
  </p:cSld>
  <p:clrMapOvr>
    <a:masterClrMapping/>
  </p:clrMapOvr>
  <p:transition spd="slow">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4: Data Breach Notification Tabletop</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containment and evidence-preservation actions should begin first?</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published facts affect significant-harm or significant-scale assessment?</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missing timestamps are needed to apply the three-calendar-day rule?</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should the decision log show even when the public summary is silent?</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Containment precedes notification drafting</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Clock described accurately</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Known/unknown facts separated</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Decision and evidence documented</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 Decision and undertakings annou | PDPC: Breach notification</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58</a:t>
            </a:r>
          </a:p>
        </p:txBody>
      </p:sp>
    </p:spTree>
  </p:cSld>
  <p:clrMapOvr>
    <a:masterClrMapping/>
  </p:clrMapOvr>
  <p:transition spd="slow">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2551" cy="1645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82551" cy="155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240280"/>
            <a:ext cx="10698480" cy="822960"/>
          </a:xfrm>
          <a:prstGeom prst="rect">
            <a:avLst/>
          </a:prstGeom>
          <a:noFill/>
        </p:spPr>
        <p:txBody>
          <a:bodyPr wrap="square" anchor="t" lIns="45720" rIns="45720">
            <a:spAutoFit/>
          </a:bodyPr>
          <a:lstStyle/>
          <a:p>
            <a:pPr algn="ctr">
              <a:spcAft>
                <a:spcPts val="300"/>
              </a:spcAft>
            </a:pPr>
            <a:r>
              <a:rPr sz="4200" b="1">
                <a:solidFill>
                  <a:srgbClr val="172B4D"/>
                </a:solidFill>
                <a:latin typeface="Arial"/>
              </a:rPr>
              <a:t>Lunch Break</a:t>
            </a:r>
          </a:p>
        </p:txBody>
      </p:sp>
      <p:sp>
        <p:nvSpPr>
          <p:cNvPr id="6" name="TextBox 5"/>
          <p:cNvSpPr txBox="1"/>
          <p:nvPr/>
        </p:nvSpPr>
        <p:spPr>
          <a:xfrm>
            <a:off x="731520" y="3337560"/>
            <a:ext cx="10698480" cy="502920"/>
          </a:xfrm>
          <a:prstGeom prst="rect">
            <a:avLst/>
          </a:prstGeom>
          <a:noFill/>
        </p:spPr>
        <p:txBody>
          <a:bodyPr wrap="square" anchor="t" lIns="45720" rIns="45720">
            <a:spAutoFit/>
          </a:bodyPr>
          <a:lstStyle/>
          <a:p>
            <a:pPr algn="ctr">
              <a:spcAft>
                <a:spcPts val="300"/>
              </a:spcAft>
            </a:pPr>
            <a:r>
              <a:rPr sz="2000" b="1">
                <a:solidFill>
                  <a:srgbClr val="F59E0B"/>
                </a:solidFill>
                <a:latin typeface="Arial"/>
              </a:rPr>
              <a:t>40 minutes</a:t>
            </a:r>
          </a:p>
        </p:txBody>
      </p:sp>
      <p:sp>
        <p:nvSpPr>
          <p:cNvPr id="7" name="TextBox 6"/>
          <p:cNvSpPr txBox="1"/>
          <p:nvPr/>
        </p:nvSpPr>
        <p:spPr>
          <a:xfrm>
            <a:off x="1371600" y="4251960"/>
            <a:ext cx="9418320" cy="548640"/>
          </a:xfrm>
          <a:prstGeom prst="rect">
            <a:avLst/>
          </a:prstGeom>
          <a:noFill/>
        </p:spPr>
        <p:txBody>
          <a:bodyPr wrap="square" anchor="t" lIns="45720" rIns="45720">
            <a:spAutoFit/>
          </a:bodyPr>
          <a:lstStyle/>
          <a:p>
            <a:pPr algn="ctr">
              <a:spcAft>
                <a:spcPts val="300"/>
              </a:spcAft>
            </a:pPr>
            <a:r>
              <a:rPr sz="1400" b="0">
                <a:solidFill>
                  <a:srgbClr val="5B6372"/>
                </a:solidFill>
                <a:latin typeface="Arial"/>
              </a:rPr>
              <a:t>Return on time so the case-study sequence remains aligned with the assessment.</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59</a:t>
            </a:r>
          </a:p>
        </p:txBody>
      </p:sp>
    </p:spTree>
  </p:cSld>
  <p:clrMapOvr>
    <a:masterClrMapping/>
  </p:clrMapOvr>
  <p:transition spd="slow">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7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874519"/>
            <a:ext cx="9784080" cy="365760"/>
          </a:xfrm>
          <a:prstGeom prst="rect">
            <a:avLst/>
          </a:prstGeom>
          <a:noFill/>
        </p:spPr>
        <p:txBody>
          <a:bodyPr wrap="square" anchor="t" lIns="45720" rIns="45720">
            <a:spAutoFit/>
          </a:bodyPr>
          <a:lstStyle/>
          <a:p>
            <a:pPr algn="l">
              <a:spcAft>
                <a:spcPts val="300"/>
              </a:spcAft>
            </a:pPr>
            <a:r>
              <a:rPr sz="1500" b="1">
                <a:solidFill>
                  <a:srgbClr val="1F6FEB"/>
                </a:solidFill>
                <a:latin typeface="Arial"/>
              </a:rPr>
              <a:t>TOPIC 3 | K2, A2 / LO2</a:t>
            </a:r>
          </a:p>
        </p:txBody>
      </p:sp>
      <p:sp>
        <p:nvSpPr>
          <p:cNvPr id="5" name="TextBox 4"/>
          <p:cNvSpPr txBox="1"/>
          <p:nvPr/>
        </p:nvSpPr>
        <p:spPr>
          <a:xfrm>
            <a:off x="777240" y="2304288"/>
            <a:ext cx="9966960" cy="1508760"/>
          </a:xfrm>
          <a:prstGeom prst="rect">
            <a:avLst/>
          </a:prstGeom>
          <a:noFill/>
        </p:spPr>
        <p:txBody>
          <a:bodyPr wrap="square" anchor="t" lIns="45720" rIns="45720">
            <a:spAutoFit/>
          </a:bodyPr>
          <a:lstStyle/>
          <a:p>
            <a:pPr algn="l">
              <a:spcAft>
                <a:spcPts val="300"/>
              </a:spcAft>
            </a:pPr>
            <a:r>
              <a:rPr sz="3700" b="1">
                <a:solidFill>
                  <a:srgbClr val="172B4D"/>
                </a:solidFill>
                <a:latin typeface="Arial"/>
              </a:rPr>
              <a:t>Business Decision-Making in Response to Regulatory Changes</a:t>
            </a:r>
          </a:p>
        </p:txBody>
      </p:sp>
      <p:sp>
        <p:nvSpPr>
          <p:cNvPr id="6" name="TextBox 5"/>
          <p:cNvSpPr txBox="1"/>
          <p:nvPr/>
        </p:nvSpPr>
        <p:spPr>
          <a:xfrm>
            <a:off x="804672" y="3968496"/>
            <a:ext cx="9692640" cy="914400"/>
          </a:xfrm>
          <a:prstGeom prst="rect">
            <a:avLst/>
          </a:prstGeom>
          <a:noFill/>
        </p:spPr>
        <p:txBody>
          <a:bodyPr wrap="square" anchor="t" lIns="45720" rIns="45720">
            <a:spAutoFit/>
          </a:bodyPr>
          <a:lstStyle/>
          <a:p>
            <a:pPr algn="l">
              <a:spcAft>
                <a:spcPts val="300"/>
              </a:spcAft>
            </a:pPr>
            <a:r>
              <a:rPr sz="1600" b="0">
                <a:solidFill>
                  <a:srgbClr val="5B6372"/>
                </a:solidFill>
                <a:latin typeface="Arial"/>
              </a:rPr>
              <a:t>From regulatory signal to proportionate, documented and evidence-backed action</a:t>
            </a:r>
          </a:p>
        </p:txBody>
      </p:sp>
      <p:sp>
        <p:nvSpPr>
          <p:cNvPr id="7" name="TextBox 6"/>
          <p:cNvSpPr txBox="1"/>
          <p:nvPr/>
        </p:nvSpPr>
        <p:spPr>
          <a:xfrm>
            <a:off x="9646920" y="502920"/>
            <a:ext cx="1828800" cy="1325880"/>
          </a:xfrm>
          <a:prstGeom prst="rect">
            <a:avLst/>
          </a:prstGeom>
          <a:noFill/>
        </p:spPr>
        <p:txBody>
          <a:bodyPr wrap="square" anchor="t" lIns="45720" rIns="45720">
            <a:spAutoFit/>
          </a:bodyPr>
          <a:lstStyle/>
          <a:p>
            <a:pPr algn="r">
              <a:spcAft>
                <a:spcPts val="300"/>
              </a:spcAft>
            </a:pPr>
            <a:r>
              <a:rPr sz="6800" b="1">
                <a:solidFill>
                  <a:srgbClr val="E2E8F0"/>
                </a:solidFill>
                <a:latin typeface="Arial"/>
              </a:rPr>
              <a:t>03</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60</a:t>
            </a:r>
          </a:p>
        </p:txBody>
      </p:sp>
    </p:spTree>
  </p:cSld>
  <p:clrMapOvr>
    <a:masterClrMapping/>
  </p:clrMapOvr>
  <p:transition spd="slow">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DECISION FRAMEWORK</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The SCAN decision model</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Spot the legal change</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Clarify applicability</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Assess business impact</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Navigate a decision</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Verify implementation</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Bizbot: Company compliance | Financial Poise: Corporate compliance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61</a:t>
            </a:r>
          </a:p>
        </p:txBody>
      </p:sp>
    </p:spTree>
  </p:cSld>
  <p:clrMapOvr>
    <a:masterClrMapping/>
  </p:clrMapOvr>
  <p:transition spd="slow">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K2</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Start with business facts, not a generic checklist</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Business model</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Revenue streams, promises, channels and critical assets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Operating footprint</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Locations, customers, vendors, people and systems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Risk appetite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What can be accepted, reduced, transferred or avoided</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Decision rights</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Who recommends, approves, implements and challenges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Governance | ES Law: Corporate-law basics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62</a:t>
            </a:r>
          </a:p>
        </p:txBody>
      </p:sp>
    </p:spTree>
  </p:cSld>
  <p:clrMapOvr>
    <a:masterClrMapping/>
  </p:clrMapOvr>
  <p:transition spd="slow">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IMPACT ASSESSMENT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Six impact lenses</a:t>
            </a:r>
          </a:p>
        </p:txBody>
      </p:sp>
      <p:sp>
        <p:nvSpPr>
          <p:cNvPr id="6" name="Rounded Rectangle 5"/>
          <p:cNvSpPr/>
          <p:nvPr/>
        </p:nvSpPr>
        <p:spPr>
          <a:xfrm>
            <a:off x="658368"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People</a:t>
            </a:r>
          </a:p>
        </p:txBody>
      </p:sp>
      <p:sp>
        <p:nvSpPr>
          <p:cNvPr id="11" name="TextBox 10"/>
          <p:cNvSpPr txBox="1"/>
          <p:nvPr/>
        </p:nvSpPr>
        <p:spPr>
          <a:xfrm>
            <a:off x="1444752"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Roles, capability, workload and accountability</a:t>
            </a:r>
          </a:p>
        </p:txBody>
      </p:sp>
      <p:sp>
        <p:nvSpPr>
          <p:cNvPr id="12" name="Rounded Rectangle 11"/>
          <p:cNvSpPr/>
          <p:nvPr/>
        </p:nvSpPr>
        <p:spPr>
          <a:xfrm>
            <a:off x="4358640"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8640"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9808"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5145024" y="1837944"/>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Process</a:t>
            </a:r>
          </a:p>
        </p:txBody>
      </p:sp>
      <p:sp>
        <p:nvSpPr>
          <p:cNvPr id="17" name="TextBox 16"/>
          <p:cNvSpPr txBox="1"/>
          <p:nvPr/>
        </p:nvSpPr>
        <p:spPr>
          <a:xfrm>
            <a:off x="5145024"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Workflow, approvals, exceptions and deadlines</a:t>
            </a:r>
          </a:p>
        </p:txBody>
      </p:sp>
      <p:sp>
        <p:nvSpPr>
          <p:cNvPr id="18" name="Rounded Rectangle 17"/>
          <p:cNvSpPr/>
          <p:nvPr/>
        </p:nvSpPr>
        <p:spPr>
          <a:xfrm>
            <a:off x="8058912"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8912" y="1673352"/>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0080" y="1883664"/>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0080"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8845296" y="1837944"/>
            <a:ext cx="2493264"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Technology and data</a:t>
            </a:r>
          </a:p>
        </p:txBody>
      </p:sp>
      <p:sp>
        <p:nvSpPr>
          <p:cNvPr id="23" name="TextBox 22"/>
          <p:cNvSpPr txBox="1"/>
          <p:nvPr/>
        </p:nvSpPr>
        <p:spPr>
          <a:xfrm>
            <a:off x="8845296"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Systems, access, interfaces, records and security</a:t>
            </a:r>
          </a:p>
        </p:txBody>
      </p:sp>
      <p:sp>
        <p:nvSpPr>
          <p:cNvPr id="24" name="Rounded Rectangle 23"/>
          <p:cNvSpPr/>
          <p:nvPr/>
        </p:nvSpPr>
        <p:spPr>
          <a:xfrm>
            <a:off x="658368"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9536"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1444752" y="4069080"/>
            <a:ext cx="2493264"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Contracts</a:t>
            </a:r>
          </a:p>
        </p:txBody>
      </p:sp>
      <p:sp>
        <p:nvSpPr>
          <p:cNvPr id="29" name="TextBox 28"/>
          <p:cNvSpPr txBox="1"/>
          <p:nvPr/>
        </p:nvSpPr>
        <p:spPr>
          <a:xfrm>
            <a:off x="1444752"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Customer, supplier, employment and data clauses</a:t>
            </a:r>
          </a:p>
        </p:txBody>
      </p:sp>
      <p:sp>
        <p:nvSpPr>
          <p:cNvPr id="30" name="Rounded Rectangle 29"/>
          <p:cNvSpPr/>
          <p:nvPr/>
        </p:nvSpPr>
        <p:spPr>
          <a:xfrm>
            <a:off x="4358640"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58640" y="3904488"/>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59808" y="41148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9808"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5</a:t>
            </a:r>
          </a:p>
        </p:txBody>
      </p:sp>
      <p:sp>
        <p:nvSpPr>
          <p:cNvPr id="34" name="TextBox 33"/>
          <p:cNvSpPr txBox="1"/>
          <p:nvPr/>
        </p:nvSpPr>
        <p:spPr>
          <a:xfrm>
            <a:off x="5145024" y="4069080"/>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Finance</a:t>
            </a:r>
          </a:p>
        </p:txBody>
      </p:sp>
      <p:sp>
        <p:nvSpPr>
          <p:cNvPr id="35" name="TextBox 34"/>
          <p:cNvSpPr txBox="1"/>
          <p:nvPr/>
        </p:nvSpPr>
        <p:spPr>
          <a:xfrm>
            <a:off x="5145024"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Cost, revenue, tax, provisions and insurance</a:t>
            </a:r>
          </a:p>
        </p:txBody>
      </p:sp>
      <p:sp>
        <p:nvSpPr>
          <p:cNvPr id="36" name="Rounded Rectangle 35"/>
          <p:cNvSpPr/>
          <p:nvPr/>
        </p:nvSpPr>
        <p:spPr>
          <a:xfrm>
            <a:off x="8058912"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58912" y="3904488"/>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0080" y="4114800"/>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60080"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6</a:t>
            </a:r>
          </a:p>
        </p:txBody>
      </p:sp>
      <p:sp>
        <p:nvSpPr>
          <p:cNvPr id="40" name="TextBox 39"/>
          <p:cNvSpPr txBox="1"/>
          <p:nvPr/>
        </p:nvSpPr>
        <p:spPr>
          <a:xfrm>
            <a:off x="8845296" y="4069080"/>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Reputation</a:t>
            </a:r>
          </a:p>
        </p:txBody>
      </p:sp>
      <p:sp>
        <p:nvSpPr>
          <p:cNvPr id="41" name="TextBox 40"/>
          <p:cNvSpPr txBox="1"/>
          <p:nvPr/>
        </p:nvSpPr>
        <p:spPr>
          <a:xfrm>
            <a:off x="8845296"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Trust, regulator confidence and market access</a:t>
            </a:r>
          </a:p>
        </p:txBody>
      </p:sp>
      <p:sp>
        <p:nvSpPr>
          <p:cNvPr id="42" name="TextBox 4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Bizbot: Company compliance</a:t>
            </a:r>
          </a:p>
        </p:txBody>
      </p:sp>
      <p:sp>
        <p:nvSpPr>
          <p:cNvPr id="43" name="Rectangle 4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45" name="TextBox 4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6" name="TextBox 4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63</a:t>
            </a:r>
          </a:p>
        </p:txBody>
      </p:sp>
    </p:spTree>
  </p:cSld>
  <p:clrMapOvr>
    <a:masterClrMapping/>
  </p:clrMapOvr>
  <p:transition spd="slow">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RISK</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Score compliance risk consistently</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Likelihood</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How probable is failure given exposure and control maturity?</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Impact</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Legal, financial, operational, safety and trust consequences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Velocity</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How quickly could harm occur or a deadline expire?</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Detectability</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Would the organisation discover failure before the regulator/customer?</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Bizbot: Company compliance | LeapXpert: Compliance guide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64</a:t>
            </a:r>
          </a:p>
        </p:txBody>
      </p:sp>
    </p:spTree>
  </p:cSld>
  <p:clrMapOvr>
    <a:masterClrMapping/>
  </p:clrMapOvr>
  <p:transition spd="slow">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CONTROLS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Control design hierarchy</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Avoid or redesign the risky activity</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Prevent failure through workflow and authority</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Detect exceptions quickly</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Correct and recover</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Evidence operation and review effectiveness</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Wolters Kluwer: Compliance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65</a:t>
            </a:r>
          </a:p>
        </p:txBody>
      </p:sp>
    </p:spTree>
  </p:cSld>
  <p:clrMapOvr>
    <a:masterClrMapping/>
  </p:clrMapOvr>
  <p:transition spd="slow">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TRADE-OFFS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Compliance options are business options</a:t>
            </a:r>
          </a:p>
        </p:txBody>
      </p:sp>
      <p:sp>
        <p:nvSpPr>
          <p:cNvPr id="6" name="Rounded Rectangle 5"/>
          <p:cNvSpPr/>
          <p:nvPr/>
        </p:nvSpPr>
        <p:spPr>
          <a:xfrm>
            <a:off x="658368"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518464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93392"/>
            <a:ext cx="4617720" cy="475488"/>
          </a:xfrm>
          <a:prstGeom prst="rect">
            <a:avLst/>
          </a:prstGeom>
          <a:noFill/>
        </p:spPr>
        <p:txBody>
          <a:bodyPr wrap="square" anchor="t" lIns="45720" rIns="45720">
            <a:spAutoFit/>
          </a:bodyPr>
          <a:lstStyle/>
          <a:p>
            <a:pPr algn="l">
              <a:spcAft>
                <a:spcPts val="300"/>
              </a:spcAft>
            </a:pPr>
            <a:r>
              <a:rPr sz="1900" b="1">
                <a:solidFill>
                  <a:srgbClr val="1F6FEB"/>
                </a:solidFill>
                <a:latin typeface="Arial"/>
              </a:rPr>
              <a:t>Poor framing</a:t>
            </a:r>
          </a:p>
        </p:txBody>
      </p:sp>
      <p:sp>
        <p:nvSpPr>
          <p:cNvPr id="9" name="Oval 8"/>
          <p:cNvSpPr/>
          <p:nvPr/>
        </p:nvSpPr>
        <p:spPr>
          <a:xfrm>
            <a:off x="932688" y="26334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1" name="TextBox 10"/>
          <p:cNvSpPr txBox="1"/>
          <p:nvPr/>
        </p:nvSpPr>
        <p:spPr>
          <a:xfrm>
            <a:off x="1408176"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Comply or do nothing</a:t>
            </a:r>
          </a:p>
        </p:txBody>
      </p:sp>
      <p:sp>
        <p:nvSpPr>
          <p:cNvPr id="12" name="Oval 11"/>
          <p:cNvSpPr/>
          <p:nvPr/>
        </p:nvSpPr>
        <p:spPr>
          <a:xfrm>
            <a:off x="932688" y="343814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4" name="TextBox 13"/>
          <p:cNvSpPr txBox="1"/>
          <p:nvPr/>
        </p:nvSpPr>
        <p:spPr>
          <a:xfrm>
            <a:off x="1408176"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Legal says no</a:t>
            </a:r>
          </a:p>
        </p:txBody>
      </p:sp>
      <p:sp>
        <p:nvSpPr>
          <p:cNvPr id="15" name="Oval 14"/>
          <p:cNvSpPr/>
          <p:nvPr/>
        </p:nvSpPr>
        <p:spPr>
          <a:xfrm>
            <a:off x="932688" y="424281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7" name="TextBox 16"/>
          <p:cNvSpPr txBox="1"/>
          <p:nvPr/>
        </p:nvSpPr>
        <p:spPr>
          <a:xfrm>
            <a:off x="1408176"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Controls added after launch</a:t>
            </a:r>
          </a:p>
        </p:txBody>
      </p:sp>
      <p:sp>
        <p:nvSpPr>
          <p:cNvPr id="18" name="Oval 17"/>
          <p:cNvSpPr/>
          <p:nvPr/>
        </p:nvSpPr>
        <p:spPr>
          <a:xfrm>
            <a:off x="932688" y="504748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20" name="TextBox 19"/>
          <p:cNvSpPr txBox="1"/>
          <p:nvPr/>
        </p:nvSpPr>
        <p:spPr>
          <a:xfrm>
            <a:off x="1408176"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Success measured by absence of incidents</a:t>
            </a:r>
          </a:p>
        </p:txBody>
      </p:sp>
      <p:sp>
        <p:nvSpPr>
          <p:cNvPr id="21" name="Rounded Rectangle 20"/>
          <p:cNvSpPr/>
          <p:nvPr/>
        </p:nvSpPr>
        <p:spPr>
          <a:xfrm>
            <a:off x="6153912"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1700784"/>
            <a:ext cx="518464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1993392"/>
            <a:ext cx="4617720" cy="475488"/>
          </a:xfrm>
          <a:prstGeom prst="rect">
            <a:avLst/>
          </a:prstGeom>
          <a:noFill/>
        </p:spPr>
        <p:txBody>
          <a:bodyPr wrap="square" anchor="t" lIns="45720" rIns="45720">
            <a:spAutoFit/>
          </a:bodyPr>
          <a:lstStyle/>
          <a:p>
            <a:pPr algn="l">
              <a:spcAft>
                <a:spcPts val="300"/>
              </a:spcAft>
            </a:pPr>
            <a:r>
              <a:rPr sz="1900" b="1">
                <a:solidFill>
                  <a:srgbClr val="10B981"/>
                </a:solidFill>
                <a:latin typeface="Arial"/>
              </a:rPr>
              <a:t>Decision-grade framing</a:t>
            </a:r>
          </a:p>
        </p:txBody>
      </p:sp>
      <p:sp>
        <p:nvSpPr>
          <p:cNvPr id="24" name="Oval 23"/>
          <p:cNvSpPr/>
          <p:nvPr/>
        </p:nvSpPr>
        <p:spPr>
          <a:xfrm>
            <a:off x="6428232" y="263347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26" name="TextBox 25"/>
          <p:cNvSpPr txBox="1"/>
          <p:nvPr/>
        </p:nvSpPr>
        <p:spPr>
          <a:xfrm>
            <a:off x="6903720"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Compare compliant design alternatives</a:t>
            </a:r>
          </a:p>
        </p:txBody>
      </p:sp>
      <p:sp>
        <p:nvSpPr>
          <p:cNvPr id="27" name="Oval 26"/>
          <p:cNvSpPr/>
          <p:nvPr/>
        </p:nvSpPr>
        <p:spPr>
          <a:xfrm>
            <a:off x="6428232" y="343814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29" name="TextBox 28"/>
          <p:cNvSpPr txBox="1"/>
          <p:nvPr/>
        </p:nvSpPr>
        <p:spPr>
          <a:xfrm>
            <a:off x="6903720"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Quantify cost, delay, residual risk and opportunity</a:t>
            </a:r>
          </a:p>
        </p:txBody>
      </p:sp>
      <p:sp>
        <p:nvSpPr>
          <p:cNvPr id="30" name="Oval 29"/>
          <p:cNvSpPr/>
          <p:nvPr/>
        </p:nvSpPr>
        <p:spPr>
          <a:xfrm>
            <a:off x="6428232" y="424281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28232"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32" name="TextBox 31"/>
          <p:cNvSpPr txBox="1"/>
          <p:nvPr/>
        </p:nvSpPr>
        <p:spPr>
          <a:xfrm>
            <a:off x="6903720"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Embed controls in the operating model</a:t>
            </a:r>
          </a:p>
        </p:txBody>
      </p:sp>
      <p:sp>
        <p:nvSpPr>
          <p:cNvPr id="33" name="Oval 32"/>
          <p:cNvSpPr/>
          <p:nvPr/>
        </p:nvSpPr>
        <p:spPr>
          <a:xfrm>
            <a:off x="6428232" y="50474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28232"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35" name="TextBox 34"/>
          <p:cNvSpPr txBox="1"/>
          <p:nvPr/>
        </p:nvSpPr>
        <p:spPr>
          <a:xfrm>
            <a:off x="6903720"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Define leading indicators and escalation triggers</a:t>
            </a:r>
          </a:p>
        </p:txBody>
      </p:sp>
      <p:sp>
        <p:nvSpPr>
          <p:cNvPr id="36" name="TextBox 3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Pitt Law: Compliance legislation | LeapXpert: Compliance guide</a:t>
            </a:r>
          </a:p>
        </p:txBody>
      </p:sp>
      <p:sp>
        <p:nvSpPr>
          <p:cNvPr id="37" name="Rectangle 3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9" name="TextBox 3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0" name="TextBox 3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66</a:t>
            </a:r>
          </a:p>
        </p:txBody>
      </p:sp>
    </p:spTree>
  </p:cSld>
  <p:clrMapOvr>
    <a:masterClrMapping/>
  </p:clrMapOvr>
  <p:transition spd="slow">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GOVERNANCE RECORD</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 board-ready decision memo</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Decision</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What approval or direction is needed, by when</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Requirement</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The duty, applicability analysis and effective date</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Options</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Feasible choices with cost, risk and operational effects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Recommendation</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Selected path, residual risk, owner and milestones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Financial reporting duties | Wolters Kluwer: Governance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67</a:t>
            </a:r>
          </a:p>
        </p:txBody>
      </p:sp>
    </p:spTree>
  </p:cSld>
  <p:clrMapOvr>
    <a:masterClrMapping/>
  </p:clrMapOvr>
  <p:transition spd="slow">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AUDIT TRAIL</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Evidence that a decision was reasonable</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Inputs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Current law, regulator guidance, data and expert advice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Challenge</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Questions asked, assumptions tested and conflicts disclosed</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Approval</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Minutes, authority, rationale and conditions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Follow-through</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Owner, deadline, resources, verification and exception closure</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Financial reporting duties | ES Law: Corporate-law basics</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68</a:t>
            </a:r>
          </a:p>
        </p:txBody>
      </p:sp>
    </p:spTree>
  </p:cSld>
  <p:clrMapOvr>
    <a:masterClrMapping/>
  </p:clrMapOvr>
  <p:transition spd="slow">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PROGRAMME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Regulatory change implementation</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Read and scope</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Design controls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Approve resources</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Update systems and contracts</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Train, launch and test</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Bizbot: Company compliance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69</a:t>
            </a:r>
          </a:p>
        </p:txBody>
      </p:sp>
    </p:spTree>
  </p:cSld>
  <p:clrMapOvr>
    <a:masterClrMapping/>
  </p:clrMapOvr>
  <p:transition spd="slow">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241280" cy="365760"/>
          </a:xfrm>
          <a:prstGeom prst="rect">
            <a:avLst/>
          </a:prstGeom>
          <a:noFill/>
        </p:spPr>
        <p:txBody>
          <a:bodyPr wrap="square" anchor="t" lIns="45720" rIns="45720">
            <a:spAutoFit/>
          </a:bodyPr>
          <a:lstStyle/>
          <a:p>
            <a:pPr algn="l">
              <a:spcAft>
                <a:spcPts val="300"/>
              </a:spcAft>
            </a:pPr>
            <a:r>
              <a:rPr sz="1400" b="1">
                <a:solidFill>
                  <a:srgbClr val="10B981"/>
                </a:solidFill>
                <a:latin typeface="Arial"/>
              </a:rPr>
              <a:t>JUDGEMENT</a:t>
            </a:r>
          </a:p>
        </p:txBody>
      </p:sp>
      <p:sp>
        <p:nvSpPr>
          <p:cNvPr id="5" name="TextBox 4"/>
          <p:cNvSpPr txBox="1"/>
          <p:nvPr/>
        </p:nvSpPr>
        <p:spPr>
          <a:xfrm>
            <a:off x="868680" y="1965960"/>
            <a:ext cx="10241280" cy="2103120"/>
          </a:xfrm>
          <a:prstGeom prst="rect">
            <a:avLst/>
          </a:prstGeom>
          <a:noFill/>
        </p:spPr>
        <p:txBody>
          <a:bodyPr wrap="square" anchor="t" lIns="45720" rIns="45720">
            <a:spAutoFit/>
          </a:bodyPr>
          <a:lstStyle/>
          <a:p>
            <a:pPr algn="l">
              <a:spcAft>
                <a:spcPts val="300"/>
              </a:spcAft>
            </a:pPr>
            <a:r>
              <a:rPr sz="3400" b="1">
                <a:solidFill>
                  <a:srgbClr val="172B4D"/>
                </a:solidFill>
                <a:latin typeface="Arial"/>
              </a:rPr>
              <a:t>The lowest-cost control is not always the most proportionate control.</a:t>
            </a:r>
          </a:p>
        </p:txBody>
      </p:sp>
      <p:sp>
        <p:nvSpPr>
          <p:cNvPr id="6" name="TextBox 5"/>
          <p:cNvSpPr txBox="1"/>
          <p:nvPr/>
        </p:nvSpPr>
        <p:spPr>
          <a:xfrm>
            <a:off x="896112" y="4315968"/>
            <a:ext cx="9875520" cy="1097280"/>
          </a:xfrm>
          <a:prstGeom prst="rect">
            <a:avLst/>
          </a:prstGeom>
          <a:noFill/>
        </p:spPr>
        <p:txBody>
          <a:bodyPr wrap="square" anchor="t" lIns="45720" rIns="45720">
            <a:spAutoFit/>
          </a:bodyPr>
          <a:lstStyle/>
          <a:p>
            <a:pPr algn="l">
              <a:spcAft>
                <a:spcPts val="300"/>
              </a:spcAft>
            </a:pPr>
            <a:r>
              <a:rPr sz="1800" b="0">
                <a:solidFill>
                  <a:srgbClr val="5B6372"/>
                </a:solidFill>
                <a:latin typeface="Arial"/>
              </a:rPr>
              <a:t>Choose the option that meets the duty and preserves business objectives at an acceptable residual risk.</a:t>
            </a:r>
          </a:p>
        </p:txBody>
      </p:sp>
      <p:sp>
        <p:nvSpPr>
          <p:cNvPr id="7" name="TextBox 6"/>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Compliance</a:t>
            </a:r>
          </a:p>
        </p:txBody>
      </p:sp>
      <p:sp>
        <p:nvSpPr>
          <p:cNvPr id="8" name="Rectangle 7"/>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0" name="TextBox 9"/>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1" name="TextBox 10"/>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70</a:t>
            </a:r>
          </a:p>
        </p:txBody>
      </p:sp>
    </p:spTree>
  </p:cSld>
  <p:clrMapOvr>
    <a:masterClrMapping/>
  </p:clrMapOvr>
  <p:transition spd="slow">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5 | K2, A2 / LO2</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Regulatory Change Impact Assessment</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25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Use the SCAN model to assess the effect of an ACRA register change on processes, systems, roles, evidence and third-party instructions.</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Completed impact assessment and recommendation.</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Three individuals fined for fal | ACRA: Company registers</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71</a:t>
            </a:r>
          </a:p>
        </p:txBody>
      </p:sp>
    </p:spTree>
  </p:cSld>
  <p:clrMapOvr>
    <a:masterClrMapping/>
  </p:clrMapOvr>
  <p:transition spd="slow">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5 | 31 OCTOBER 2025 | CONVICTED, FINED AND DISQUALIFIED</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Regulatory Change Impact Assessment</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YUAN SHUHUA - FALSE RORC EXEMPTION DECLARATIONS IN ANNUAL RETURNS</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ACRA reported that Yuan Shuhua made false declarations in RH Corporate Pte Ltd's annual returns for financial years ended 31 December 2020 and 2021, stating that the company was exempt from keeping a Register of Registrable Controllers when it was not. He was fined $15,000 and disqualified from acting as a director or taking part in company management for five years.</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Use the conviction as the failure event. Apply current ACRA register guidance to design the corrected process; do not assume current deadlines were identical during the offence period.</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Three individuals fined for fal | ACRA: Company registers</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72</a:t>
            </a:r>
          </a:p>
        </p:txBody>
      </p:sp>
    </p:spTree>
  </p:cSld>
  <p:clrMapOvr>
    <a:masterClrMapping/>
  </p:clrMapOvr>
  <p:transition spd="slow">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5: Regulatory Change Impact Assessment</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factual and eligibility checks should precede an exemption declaration?</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Where could annual-return and RORC processes fail independently or together?</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How should current ACRA requirements change the control design?</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evidence proves review, challenge, approval and filing accuracy?</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Applicability stated</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All impact lenses considered</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Options are compliant</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Residual risk and verification included</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 Three individuals fined for fal | ACRA: Company registers</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73</a:t>
            </a:r>
          </a:p>
        </p:txBody>
      </p:sp>
    </p:spTree>
  </p:cSld>
  <p:clrMapOvr>
    <a:masterClrMapping/>
  </p:clrMapOvr>
  <p:transition spd="slow">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6 | K2, A2 / LO2</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Board Decision Memo: Digital Filing Controls</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20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Frame a proportionate board decision that balances legal compliance, control quality, cost, implementation risk and operational benefit.</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One-page board decision memo.</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 Key GST missing-trader-fraud sy | IRAS: Seamless filing | IRAS: Record keeping | ACRA: Financial reporting duties</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74</a:t>
            </a:r>
          </a:p>
        </p:txBody>
      </p:sp>
    </p:spTree>
  </p:cSld>
  <p:clrMapOvr>
    <a:masterClrMapping/>
  </p:clrMapOvr>
  <p:transition spd="slow">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6 | 29 JUNE 2026 | KEY SYNDICATE MEMBER CONVICTED AND SENTENCED</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Board Decision Memo: Digital Filing Controls</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NAGORE TRADING - GST MISSING-TRADER-FRAUD SCHEME</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IRAS reported that Giam Zi Hin, Luke was sentenced to six years' imprisonment for fraudulent trading in a GST missing-trader-fraud scheme involving about S$114 million in fictitious sales. Under his directions, Nagore Trading Pte Ltd used forged invoices from at least 12 local suppliers to create a false appearance of purchases and GST payments. Eight accused persons were charged in the scheme and the proceedings concluded with convictions.</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The case demonstrates that digitisation cannot replace transaction authenticity and due diligence. The board options, system controls and approval conditions are learner recommendations.</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 Key GST missing-trader-fraud sy | IRAS: Seamless filing | IRAS: Record keeping | ACRA: Financial reporting duties</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75</a:t>
            </a:r>
          </a:p>
        </p:txBody>
      </p:sp>
    </p:spTree>
  </p:cSld>
  <p:clrMapOvr>
    <a:masterClrMapping/>
  </p:clrMapOvr>
  <p:transition spd="slow">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6: Board Decision Memo: Digital Filing Controls</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controls could test supplier identity, invoice authenticity and transaction substance?</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should remain a human approval or exception decision?</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due-diligence evidence should be retained before claiming input tax?</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conditions should a board attach to digital filing automation?</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Decision explicit</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Options compared fairly</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Business facts drive recommendation</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Conditions and verification are specific</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IRAS - Key GST missing-trader-fraud sy | IRAS: Seamless filing | IRAS: Record keeping | ACRA: Financial reporting duties</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76</a:t>
            </a:r>
          </a:p>
        </p:txBody>
      </p:sp>
    </p:spTree>
  </p:cSld>
  <p:clrMapOvr>
    <a:masterClrMapping/>
  </p:clrMapOvr>
  <p:transition spd="slow">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2551" cy="1645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93408"/>
            <a:ext cx="12182551" cy="155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240280"/>
            <a:ext cx="10698480" cy="822960"/>
          </a:xfrm>
          <a:prstGeom prst="rect">
            <a:avLst/>
          </a:prstGeom>
          <a:noFill/>
        </p:spPr>
        <p:txBody>
          <a:bodyPr wrap="square" anchor="t" lIns="45720" rIns="45720">
            <a:spAutoFit/>
          </a:bodyPr>
          <a:lstStyle/>
          <a:p>
            <a:pPr algn="ctr">
              <a:spcAft>
                <a:spcPts val="300"/>
              </a:spcAft>
            </a:pPr>
            <a:r>
              <a:rPr sz="4200" b="1">
                <a:solidFill>
                  <a:srgbClr val="172B4D"/>
                </a:solidFill>
                <a:latin typeface="Arial"/>
              </a:rPr>
              <a:t>Afternoon Break</a:t>
            </a:r>
          </a:p>
        </p:txBody>
      </p:sp>
      <p:sp>
        <p:nvSpPr>
          <p:cNvPr id="6" name="TextBox 5"/>
          <p:cNvSpPr txBox="1"/>
          <p:nvPr/>
        </p:nvSpPr>
        <p:spPr>
          <a:xfrm>
            <a:off x="731520" y="3337560"/>
            <a:ext cx="10698480" cy="502920"/>
          </a:xfrm>
          <a:prstGeom prst="rect">
            <a:avLst/>
          </a:prstGeom>
          <a:noFill/>
        </p:spPr>
        <p:txBody>
          <a:bodyPr wrap="square" anchor="t" lIns="45720" rIns="45720">
            <a:spAutoFit/>
          </a:bodyPr>
          <a:lstStyle/>
          <a:p>
            <a:pPr algn="ctr">
              <a:spcAft>
                <a:spcPts val="300"/>
              </a:spcAft>
            </a:pPr>
            <a:r>
              <a:rPr sz="2000" b="1">
                <a:solidFill>
                  <a:srgbClr val="F59E0B"/>
                </a:solidFill>
                <a:latin typeface="Arial"/>
              </a:rPr>
              <a:t>10 minutes</a:t>
            </a:r>
          </a:p>
        </p:txBody>
      </p:sp>
      <p:sp>
        <p:nvSpPr>
          <p:cNvPr id="7" name="TextBox 6"/>
          <p:cNvSpPr txBox="1"/>
          <p:nvPr/>
        </p:nvSpPr>
        <p:spPr>
          <a:xfrm>
            <a:off x="1371600" y="4251960"/>
            <a:ext cx="9418320" cy="548640"/>
          </a:xfrm>
          <a:prstGeom prst="rect">
            <a:avLst/>
          </a:prstGeom>
          <a:noFill/>
        </p:spPr>
        <p:txBody>
          <a:bodyPr wrap="square" anchor="t" lIns="45720" rIns="45720">
            <a:spAutoFit/>
          </a:bodyPr>
          <a:lstStyle/>
          <a:p>
            <a:pPr algn="ctr">
              <a:spcAft>
                <a:spcPts val="300"/>
              </a:spcAft>
            </a:pPr>
            <a:r>
              <a:rPr sz="1400" b="0">
                <a:solidFill>
                  <a:srgbClr val="5B6372"/>
                </a:solidFill>
                <a:latin typeface="Arial"/>
              </a:rPr>
              <a:t>Return on time so the case-study sequence remains aligned with the assessment.</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77</a:t>
            </a:r>
          </a:p>
        </p:txBody>
      </p:sp>
    </p:spTree>
  </p:cSld>
  <p:clrMapOvr>
    <a:masterClrMapping/>
  </p:clrMapOvr>
  <p:transition spd="slow">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7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874519"/>
            <a:ext cx="9784080" cy="365760"/>
          </a:xfrm>
          <a:prstGeom prst="rect">
            <a:avLst/>
          </a:prstGeom>
          <a:noFill/>
        </p:spPr>
        <p:txBody>
          <a:bodyPr wrap="square" anchor="t" lIns="45720" rIns="45720">
            <a:spAutoFit/>
          </a:bodyPr>
          <a:lstStyle/>
          <a:p>
            <a:pPr algn="l">
              <a:spcAft>
                <a:spcPts val="300"/>
              </a:spcAft>
            </a:pPr>
            <a:r>
              <a:rPr sz="1500" b="1">
                <a:solidFill>
                  <a:srgbClr val="1F6FEB"/>
                </a:solidFill>
                <a:latin typeface="Arial"/>
              </a:rPr>
              <a:t>TOPIC 4 | K2, A3 / LO2</a:t>
            </a:r>
          </a:p>
        </p:txBody>
      </p:sp>
      <p:sp>
        <p:nvSpPr>
          <p:cNvPr id="5" name="TextBox 4"/>
          <p:cNvSpPr txBox="1"/>
          <p:nvPr/>
        </p:nvSpPr>
        <p:spPr>
          <a:xfrm>
            <a:off x="777240" y="2304288"/>
            <a:ext cx="9966960" cy="1508760"/>
          </a:xfrm>
          <a:prstGeom prst="rect">
            <a:avLst/>
          </a:prstGeom>
          <a:noFill/>
        </p:spPr>
        <p:txBody>
          <a:bodyPr wrap="square" anchor="t" lIns="45720" rIns="45720">
            <a:spAutoFit/>
          </a:bodyPr>
          <a:lstStyle/>
          <a:p>
            <a:pPr algn="l">
              <a:spcAft>
                <a:spcPts val="300"/>
              </a:spcAft>
            </a:pPr>
            <a:r>
              <a:rPr sz="3700" b="1">
                <a:solidFill>
                  <a:srgbClr val="172B4D"/>
                </a:solidFill>
                <a:latin typeface="Arial"/>
              </a:rPr>
              <a:t>Influencing Business Units to Adapt to New Regulations</a:t>
            </a:r>
          </a:p>
        </p:txBody>
      </p:sp>
      <p:sp>
        <p:nvSpPr>
          <p:cNvPr id="6" name="TextBox 5"/>
          <p:cNvSpPr txBox="1"/>
          <p:nvPr/>
        </p:nvSpPr>
        <p:spPr>
          <a:xfrm>
            <a:off x="804672" y="3968496"/>
            <a:ext cx="9692640" cy="914400"/>
          </a:xfrm>
          <a:prstGeom prst="rect">
            <a:avLst/>
          </a:prstGeom>
          <a:noFill/>
        </p:spPr>
        <p:txBody>
          <a:bodyPr wrap="square" anchor="t" lIns="45720" rIns="45720">
            <a:spAutoFit/>
          </a:bodyPr>
          <a:lstStyle/>
          <a:p>
            <a:pPr algn="l">
              <a:spcAft>
                <a:spcPts val="300"/>
              </a:spcAft>
            </a:pPr>
            <a:r>
              <a:rPr sz="1600" b="0">
                <a:solidFill>
                  <a:srgbClr val="5B6372"/>
                </a:solidFill>
                <a:latin typeface="Arial"/>
              </a:rPr>
              <a:t>Stakeholder alignment, role clarity, communication, training and compliance culture</a:t>
            </a:r>
          </a:p>
        </p:txBody>
      </p:sp>
      <p:sp>
        <p:nvSpPr>
          <p:cNvPr id="7" name="TextBox 6"/>
          <p:cNvSpPr txBox="1"/>
          <p:nvPr/>
        </p:nvSpPr>
        <p:spPr>
          <a:xfrm>
            <a:off x="9646920" y="502920"/>
            <a:ext cx="1828800" cy="1325880"/>
          </a:xfrm>
          <a:prstGeom prst="rect">
            <a:avLst/>
          </a:prstGeom>
          <a:noFill/>
        </p:spPr>
        <p:txBody>
          <a:bodyPr wrap="square" anchor="t" lIns="45720" rIns="45720">
            <a:spAutoFit/>
          </a:bodyPr>
          <a:lstStyle/>
          <a:p>
            <a:pPr algn="r">
              <a:spcAft>
                <a:spcPts val="300"/>
              </a:spcAft>
            </a:pPr>
            <a:r>
              <a:rPr sz="6800" b="1">
                <a:solidFill>
                  <a:srgbClr val="E2E8F0"/>
                </a:solidFill>
                <a:latin typeface="Arial"/>
              </a:rPr>
              <a:t>04</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78</a:t>
            </a:r>
          </a:p>
        </p:txBody>
      </p:sp>
    </p:spTree>
  </p:cSld>
  <p:clrMapOvr>
    <a:masterClrMapping/>
  </p:clrMapOvr>
  <p:transition spd="slow">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CHANGE LEADERSHIP</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Map stakeholders by impact and influence</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High impact / high influence</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Co-design the response and resolve trade-offs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High impact / low influence</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Listen, equip and provide escalation routes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Low impact / high influence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Keep informed with decision-grade evidence</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Low impact / low influence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Use concise updates and monitor for change</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Bizbot: Company compliance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79</a:t>
            </a:r>
          </a:p>
        </p:txBody>
      </p:sp>
    </p:spTree>
  </p:cSld>
  <p:clrMapOvr>
    <a:masterClrMapping/>
  </p:clrMapOvr>
  <p:transition spd="slow">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COMMUNICATION</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Translate legal text into four business questions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What changed?</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 plain-language summary without unnecessary legal jargon</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Why us?</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The business facts that make the requirement applicable</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What must change?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Specific behaviours, systems, approvals and evidence</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What happens next?</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Owner, date, support, exception path and verification</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Pitt Law: Compliance legislation | LeapXpert: Compliance guide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80</a:t>
            </a:r>
          </a:p>
        </p:txBody>
      </p:sp>
    </p:spTree>
  </p:cSld>
  <p:clrMapOvr>
    <a:masterClrMapping/>
  </p:clrMapOvr>
  <p:transition spd="slow">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INFLUENCE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Compliance as friction or enablement</a:t>
            </a:r>
          </a:p>
        </p:txBody>
      </p:sp>
      <p:sp>
        <p:nvSpPr>
          <p:cNvPr id="6" name="Rounded Rectangle 5"/>
          <p:cNvSpPr/>
          <p:nvPr/>
        </p:nvSpPr>
        <p:spPr>
          <a:xfrm>
            <a:off x="658368"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518464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93392"/>
            <a:ext cx="4617720" cy="475488"/>
          </a:xfrm>
          <a:prstGeom prst="rect">
            <a:avLst/>
          </a:prstGeom>
          <a:noFill/>
        </p:spPr>
        <p:txBody>
          <a:bodyPr wrap="square" anchor="t" lIns="45720" rIns="45720">
            <a:spAutoFit/>
          </a:bodyPr>
          <a:lstStyle/>
          <a:p>
            <a:pPr algn="l">
              <a:spcAft>
                <a:spcPts val="300"/>
              </a:spcAft>
            </a:pPr>
            <a:r>
              <a:rPr sz="1900" b="1">
                <a:solidFill>
                  <a:srgbClr val="1F6FEB"/>
                </a:solidFill>
                <a:latin typeface="Arial"/>
              </a:rPr>
              <a:t>Constraint narrative</a:t>
            </a:r>
          </a:p>
        </p:txBody>
      </p:sp>
      <p:sp>
        <p:nvSpPr>
          <p:cNvPr id="9" name="Oval 8"/>
          <p:cNvSpPr/>
          <p:nvPr/>
        </p:nvSpPr>
        <p:spPr>
          <a:xfrm>
            <a:off x="932688" y="26334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1" name="TextBox 10"/>
          <p:cNvSpPr txBox="1"/>
          <p:nvPr/>
        </p:nvSpPr>
        <p:spPr>
          <a:xfrm>
            <a:off x="1408176"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A new legal burden</a:t>
            </a:r>
          </a:p>
        </p:txBody>
      </p:sp>
      <p:sp>
        <p:nvSpPr>
          <p:cNvPr id="12" name="Oval 11"/>
          <p:cNvSpPr/>
          <p:nvPr/>
        </p:nvSpPr>
        <p:spPr>
          <a:xfrm>
            <a:off x="932688" y="343814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4" name="TextBox 13"/>
          <p:cNvSpPr txBox="1"/>
          <p:nvPr/>
        </p:nvSpPr>
        <p:spPr>
          <a:xfrm>
            <a:off x="1408176"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More forms and approvals</a:t>
            </a:r>
          </a:p>
        </p:txBody>
      </p:sp>
      <p:sp>
        <p:nvSpPr>
          <p:cNvPr id="15" name="Oval 14"/>
          <p:cNvSpPr/>
          <p:nvPr/>
        </p:nvSpPr>
        <p:spPr>
          <a:xfrm>
            <a:off x="932688" y="424281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7" name="TextBox 16"/>
          <p:cNvSpPr txBox="1"/>
          <p:nvPr/>
        </p:nvSpPr>
        <p:spPr>
          <a:xfrm>
            <a:off x="1408176"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Compliance owns the problem</a:t>
            </a:r>
          </a:p>
        </p:txBody>
      </p:sp>
      <p:sp>
        <p:nvSpPr>
          <p:cNvPr id="18" name="Oval 17"/>
          <p:cNvSpPr/>
          <p:nvPr/>
        </p:nvSpPr>
        <p:spPr>
          <a:xfrm>
            <a:off x="932688" y="504748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20" name="TextBox 19"/>
          <p:cNvSpPr txBox="1"/>
          <p:nvPr/>
        </p:nvSpPr>
        <p:spPr>
          <a:xfrm>
            <a:off x="1408176"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Launch is delayed until legal is satisfied</a:t>
            </a:r>
          </a:p>
        </p:txBody>
      </p:sp>
      <p:sp>
        <p:nvSpPr>
          <p:cNvPr id="21" name="Rounded Rectangle 20"/>
          <p:cNvSpPr/>
          <p:nvPr/>
        </p:nvSpPr>
        <p:spPr>
          <a:xfrm>
            <a:off x="6153912"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1700784"/>
            <a:ext cx="518464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1993392"/>
            <a:ext cx="4617720" cy="475488"/>
          </a:xfrm>
          <a:prstGeom prst="rect">
            <a:avLst/>
          </a:prstGeom>
          <a:noFill/>
        </p:spPr>
        <p:txBody>
          <a:bodyPr wrap="square" anchor="t" lIns="45720" rIns="45720">
            <a:spAutoFit/>
          </a:bodyPr>
          <a:lstStyle/>
          <a:p>
            <a:pPr algn="l">
              <a:spcAft>
                <a:spcPts val="300"/>
              </a:spcAft>
            </a:pPr>
            <a:r>
              <a:rPr sz="1900" b="1">
                <a:solidFill>
                  <a:srgbClr val="10B981"/>
                </a:solidFill>
                <a:latin typeface="Arial"/>
              </a:rPr>
              <a:t>Value narrative</a:t>
            </a:r>
          </a:p>
        </p:txBody>
      </p:sp>
      <p:sp>
        <p:nvSpPr>
          <p:cNvPr id="24" name="Oval 23"/>
          <p:cNvSpPr/>
          <p:nvPr/>
        </p:nvSpPr>
        <p:spPr>
          <a:xfrm>
            <a:off x="6428232" y="263347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26" name="TextBox 25"/>
          <p:cNvSpPr txBox="1"/>
          <p:nvPr/>
        </p:nvSpPr>
        <p:spPr>
          <a:xfrm>
            <a:off x="6903720"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Protects licences, market access and customer trust</a:t>
            </a:r>
          </a:p>
        </p:txBody>
      </p:sp>
      <p:sp>
        <p:nvSpPr>
          <p:cNvPr id="27" name="Oval 26"/>
          <p:cNvSpPr/>
          <p:nvPr/>
        </p:nvSpPr>
        <p:spPr>
          <a:xfrm>
            <a:off x="6428232" y="343814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29" name="TextBox 28"/>
          <p:cNvSpPr txBox="1"/>
          <p:nvPr/>
        </p:nvSpPr>
        <p:spPr>
          <a:xfrm>
            <a:off x="6903720"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Reduces rework through built-in controls</a:t>
            </a:r>
          </a:p>
        </p:txBody>
      </p:sp>
      <p:sp>
        <p:nvSpPr>
          <p:cNvPr id="30" name="Oval 29"/>
          <p:cNvSpPr/>
          <p:nvPr/>
        </p:nvSpPr>
        <p:spPr>
          <a:xfrm>
            <a:off x="6428232" y="424281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28232"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32" name="TextBox 31"/>
          <p:cNvSpPr txBox="1"/>
          <p:nvPr/>
        </p:nvSpPr>
        <p:spPr>
          <a:xfrm>
            <a:off x="6903720"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Business owns risk with expert support</a:t>
            </a:r>
          </a:p>
        </p:txBody>
      </p:sp>
      <p:sp>
        <p:nvSpPr>
          <p:cNvPr id="33" name="Oval 32"/>
          <p:cNvSpPr/>
          <p:nvPr/>
        </p:nvSpPr>
        <p:spPr>
          <a:xfrm>
            <a:off x="6428232" y="50474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28232"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35" name="TextBox 34"/>
          <p:cNvSpPr txBox="1"/>
          <p:nvPr/>
        </p:nvSpPr>
        <p:spPr>
          <a:xfrm>
            <a:off x="6903720"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Compliant design accelerates repeatable growth</a:t>
            </a:r>
          </a:p>
        </p:txBody>
      </p:sp>
      <p:sp>
        <p:nvSpPr>
          <p:cNvPr id="36" name="TextBox 3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Compliance | ES Law: Corporate-law basics</a:t>
            </a:r>
          </a:p>
        </p:txBody>
      </p:sp>
      <p:sp>
        <p:nvSpPr>
          <p:cNvPr id="37" name="Rectangle 3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9" name="TextBox 3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0" name="TextBox 3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81</a:t>
            </a:r>
          </a:p>
        </p:txBody>
      </p:sp>
    </p:spTree>
  </p:cSld>
  <p:clrMapOvr>
    <a:masterClrMapping/>
  </p:clrMapOvr>
  <p:transition spd="slow">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ROLE CLARITY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RACI prevents accountability gaps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Responsible</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Performs the control or implementation task</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Accountable</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Owns the outcome and approves exceptions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Consulted</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Provides specialist or affected-function input</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Informed</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Receives status, decisions and escalation outcomes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Wolters Kluwer: Governance | Bizbot: Company compliance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82</a:t>
            </a:r>
          </a:p>
        </p:txBody>
      </p:sp>
    </p:spTree>
  </p:cSld>
  <p:clrMapOvr>
    <a:masterClrMapping/>
  </p:clrMapOvr>
  <p:transition spd="slow">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CAPABILITY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Role-based compliance learning</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Identify decisions and behaviours</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Segment roles by exposure</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Use realistic scenarios</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Practise and assess</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Refresh after change or control failure</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Pitt Law: Compliance legislation | LeapXpert: Compliance guide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83</a:t>
            </a:r>
          </a:p>
        </p:txBody>
      </p:sp>
    </p:spTree>
  </p:cSld>
  <p:clrMapOvr>
    <a:masterClrMapping/>
  </p:clrMapOvr>
  <p:transition spd="slow">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SPEAK-UP CULTURE</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Make it safe to surface problems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Channels</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Accessible reporting and advice routes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Protection</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No retaliation for good-faith concerns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Response</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Triage, investigate and communicate outcomes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Learning</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Use root causes to improve controls and training</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Pitt Law: Compliance legislation | Bizbot: Company compliance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84</a:t>
            </a:r>
          </a:p>
        </p:txBody>
      </p:sp>
    </p:spTree>
  </p:cSld>
  <p:clrMapOvr>
    <a:masterClrMapping/>
  </p:clrMapOvr>
  <p:transition spd="slow">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OVERSIGHT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Board reporting that drives action</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Exposure</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New obligations, major changes and high-risk business activity</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Control health</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Design gaps, operating failures and overdue actions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Incidents</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Root cause, harm, notification and remediation</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Decisions</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Residual risks or resources requiring board direction</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ACRA: Directors' duties | Wolters Kluwer: Governance</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85</a:t>
            </a:r>
          </a:p>
        </p:txBody>
      </p:sp>
    </p:spTree>
  </p:cSld>
  <p:clrMapOvr>
    <a:masterClrMapping/>
  </p:clrMapOvr>
  <p:transition spd="slow">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MEASUREMENT</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Leading and lagging indicators</a:t>
            </a:r>
          </a:p>
        </p:txBody>
      </p:sp>
      <p:sp>
        <p:nvSpPr>
          <p:cNvPr id="6" name="Rounded Rectangle 5"/>
          <p:cNvSpPr/>
          <p:nvPr/>
        </p:nvSpPr>
        <p:spPr>
          <a:xfrm>
            <a:off x="658368"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5184648"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93392"/>
            <a:ext cx="4617720" cy="475488"/>
          </a:xfrm>
          <a:prstGeom prst="rect">
            <a:avLst/>
          </a:prstGeom>
          <a:noFill/>
        </p:spPr>
        <p:txBody>
          <a:bodyPr wrap="square" anchor="t" lIns="45720" rIns="45720">
            <a:spAutoFit/>
          </a:bodyPr>
          <a:lstStyle/>
          <a:p>
            <a:pPr algn="l">
              <a:spcAft>
                <a:spcPts val="300"/>
              </a:spcAft>
            </a:pPr>
            <a:r>
              <a:rPr sz="1900" b="1">
                <a:solidFill>
                  <a:srgbClr val="1F6FEB"/>
                </a:solidFill>
                <a:latin typeface="Arial"/>
              </a:rPr>
              <a:t>Leading indicators</a:t>
            </a:r>
          </a:p>
        </p:txBody>
      </p:sp>
      <p:sp>
        <p:nvSpPr>
          <p:cNvPr id="9" name="Oval 8"/>
          <p:cNvSpPr/>
          <p:nvPr/>
        </p:nvSpPr>
        <p:spPr>
          <a:xfrm>
            <a:off x="932688" y="26334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1" name="TextBox 10"/>
          <p:cNvSpPr txBox="1"/>
          <p:nvPr/>
        </p:nvSpPr>
        <p:spPr>
          <a:xfrm>
            <a:off x="1408176"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Obligations without owners</a:t>
            </a:r>
          </a:p>
        </p:txBody>
      </p:sp>
      <p:sp>
        <p:nvSpPr>
          <p:cNvPr id="12" name="Oval 11"/>
          <p:cNvSpPr/>
          <p:nvPr/>
        </p:nvSpPr>
        <p:spPr>
          <a:xfrm>
            <a:off x="932688" y="3438144"/>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4" name="TextBox 13"/>
          <p:cNvSpPr txBox="1"/>
          <p:nvPr/>
        </p:nvSpPr>
        <p:spPr>
          <a:xfrm>
            <a:off x="1408176"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Upcoming deadlines and overdue training</a:t>
            </a:r>
          </a:p>
        </p:txBody>
      </p:sp>
      <p:sp>
        <p:nvSpPr>
          <p:cNvPr id="15" name="Oval 14"/>
          <p:cNvSpPr/>
          <p:nvPr/>
        </p:nvSpPr>
        <p:spPr>
          <a:xfrm>
            <a:off x="932688" y="424281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7" name="TextBox 16"/>
          <p:cNvSpPr txBox="1"/>
          <p:nvPr/>
        </p:nvSpPr>
        <p:spPr>
          <a:xfrm>
            <a:off x="1408176"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Control-test failures and unresolved exceptions</a:t>
            </a:r>
          </a:p>
        </p:txBody>
      </p:sp>
      <p:sp>
        <p:nvSpPr>
          <p:cNvPr id="18" name="Oval 17"/>
          <p:cNvSpPr/>
          <p:nvPr/>
        </p:nvSpPr>
        <p:spPr>
          <a:xfrm>
            <a:off x="932688" y="5047488"/>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20" name="TextBox 19"/>
          <p:cNvSpPr txBox="1"/>
          <p:nvPr/>
        </p:nvSpPr>
        <p:spPr>
          <a:xfrm>
            <a:off x="1408176"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Third parties without current due diligence</a:t>
            </a:r>
          </a:p>
        </p:txBody>
      </p:sp>
      <p:sp>
        <p:nvSpPr>
          <p:cNvPr id="21" name="Rounded Rectangle 20"/>
          <p:cNvSpPr/>
          <p:nvPr/>
        </p:nvSpPr>
        <p:spPr>
          <a:xfrm>
            <a:off x="6153912" y="1700784"/>
            <a:ext cx="5184648" cy="4187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1700784"/>
            <a:ext cx="5184648"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1993392"/>
            <a:ext cx="4617720" cy="475488"/>
          </a:xfrm>
          <a:prstGeom prst="rect">
            <a:avLst/>
          </a:prstGeom>
          <a:noFill/>
        </p:spPr>
        <p:txBody>
          <a:bodyPr wrap="square" anchor="t" lIns="45720" rIns="45720">
            <a:spAutoFit/>
          </a:bodyPr>
          <a:lstStyle/>
          <a:p>
            <a:pPr algn="l">
              <a:spcAft>
                <a:spcPts val="300"/>
              </a:spcAft>
            </a:pPr>
            <a:r>
              <a:rPr sz="1900" b="1">
                <a:solidFill>
                  <a:srgbClr val="10B981"/>
                </a:solidFill>
                <a:latin typeface="Arial"/>
              </a:rPr>
              <a:t>Lagging indicators</a:t>
            </a:r>
          </a:p>
        </p:txBody>
      </p:sp>
      <p:sp>
        <p:nvSpPr>
          <p:cNvPr id="24" name="Oval 23"/>
          <p:cNvSpPr/>
          <p:nvPr/>
        </p:nvSpPr>
        <p:spPr>
          <a:xfrm>
            <a:off x="6428232" y="263347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263347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26" name="TextBox 25"/>
          <p:cNvSpPr txBox="1"/>
          <p:nvPr/>
        </p:nvSpPr>
        <p:spPr>
          <a:xfrm>
            <a:off x="6903720" y="2606040"/>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Late filings and penalties</a:t>
            </a:r>
          </a:p>
        </p:txBody>
      </p:sp>
      <p:sp>
        <p:nvSpPr>
          <p:cNvPr id="27" name="Oval 26"/>
          <p:cNvSpPr/>
          <p:nvPr/>
        </p:nvSpPr>
        <p:spPr>
          <a:xfrm>
            <a:off x="6428232" y="343814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43814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29" name="TextBox 28"/>
          <p:cNvSpPr txBox="1"/>
          <p:nvPr/>
        </p:nvSpPr>
        <p:spPr>
          <a:xfrm>
            <a:off x="6903720" y="3410712"/>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Notifiable incidents and complaints</a:t>
            </a:r>
          </a:p>
        </p:txBody>
      </p:sp>
      <p:sp>
        <p:nvSpPr>
          <p:cNvPr id="30" name="Oval 29"/>
          <p:cNvSpPr/>
          <p:nvPr/>
        </p:nvSpPr>
        <p:spPr>
          <a:xfrm>
            <a:off x="6428232" y="4242816"/>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28232" y="4242816"/>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32" name="TextBox 31"/>
          <p:cNvSpPr txBox="1"/>
          <p:nvPr/>
        </p:nvSpPr>
        <p:spPr>
          <a:xfrm>
            <a:off x="6903720" y="4215383"/>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Regulator findings or licence conditions</a:t>
            </a:r>
          </a:p>
        </p:txBody>
      </p:sp>
      <p:sp>
        <p:nvSpPr>
          <p:cNvPr id="33" name="Oval 32"/>
          <p:cNvSpPr/>
          <p:nvPr/>
        </p:nvSpPr>
        <p:spPr>
          <a:xfrm>
            <a:off x="6428232" y="504748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28232" y="504748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35" name="TextBox 34"/>
          <p:cNvSpPr txBox="1"/>
          <p:nvPr/>
        </p:nvSpPr>
        <p:spPr>
          <a:xfrm>
            <a:off x="6903720" y="5020055"/>
            <a:ext cx="4114800" cy="658368"/>
          </a:xfrm>
          <a:prstGeom prst="rect">
            <a:avLst/>
          </a:prstGeom>
          <a:noFill/>
        </p:spPr>
        <p:txBody>
          <a:bodyPr wrap="square" anchor="t" lIns="45720" rIns="45720">
            <a:spAutoFit/>
          </a:bodyPr>
          <a:lstStyle/>
          <a:p>
            <a:pPr algn="l">
              <a:spcAft>
                <a:spcPts val="300"/>
              </a:spcAft>
            </a:pPr>
            <a:r>
              <a:rPr sz="1400" b="0">
                <a:solidFill>
                  <a:srgbClr val="161B26"/>
                </a:solidFill>
                <a:latin typeface="Arial"/>
              </a:rPr>
              <a:t>Loss, rework, customer churn and reputational damage</a:t>
            </a:r>
          </a:p>
        </p:txBody>
      </p:sp>
      <p:sp>
        <p:nvSpPr>
          <p:cNvPr id="36" name="TextBox 3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Bizbot: Company compliance</a:t>
            </a:r>
          </a:p>
        </p:txBody>
      </p:sp>
      <p:sp>
        <p:nvSpPr>
          <p:cNvPr id="37" name="Rectangle 3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9" name="TextBox 3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0" name="TextBox 3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86</a:t>
            </a:r>
          </a:p>
        </p:txBody>
      </p:sp>
    </p:spTree>
  </p:cSld>
  <p:clrMapOvr>
    <a:masterClrMapping/>
  </p:clrMapOvr>
  <p:transition spd="slow">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IMPLEMENTATION</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 30-60-90 day adaptation plan</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0-30: scope and stabilise</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31-60: redesign and pilot</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61-90: deploy and train</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Test control operation</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Report residual risk and improve</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LeapXpert: Compliance guide | Financial Poise: Corporate compliance</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87</a:t>
            </a:r>
          </a:p>
        </p:txBody>
      </p:sp>
    </p:spTree>
  </p:cSld>
  <p:clrMapOvr>
    <a:masterClrMapping/>
  </p:clrMapOvr>
  <p:transition spd="slow">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241280" cy="365760"/>
          </a:xfrm>
          <a:prstGeom prst="rect">
            <a:avLst/>
          </a:prstGeom>
          <a:noFill/>
        </p:spPr>
        <p:txBody>
          <a:bodyPr wrap="square" anchor="t" lIns="45720" rIns="45720">
            <a:spAutoFit/>
          </a:bodyPr>
          <a:lstStyle/>
          <a:p>
            <a:pPr algn="l">
              <a:spcAft>
                <a:spcPts val="300"/>
              </a:spcAft>
            </a:pPr>
            <a:r>
              <a:rPr sz="1400" b="1">
                <a:solidFill>
                  <a:srgbClr val="10B981"/>
                </a:solidFill>
                <a:latin typeface="Arial"/>
              </a:rPr>
              <a:t>A3</a:t>
            </a:r>
          </a:p>
        </p:txBody>
      </p:sp>
      <p:sp>
        <p:nvSpPr>
          <p:cNvPr id="5" name="TextBox 4"/>
          <p:cNvSpPr txBox="1"/>
          <p:nvPr/>
        </p:nvSpPr>
        <p:spPr>
          <a:xfrm>
            <a:off x="868680" y="1965960"/>
            <a:ext cx="10241280" cy="2103120"/>
          </a:xfrm>
          <a:prstGeom prst="rect">
            <a:avLst/>
          </a:prstGeom>
          <a:noFill/>
        </p:spPr>
        <p:txBody>
          <a:bodyPr wrap="square" anchor="t" lIns="45720" rIns="45720">
            <a:spAutoFit/>
          </a:bodyPr>
          <a:lstStyle/>
          <a:p>
            <a:pPr algn="l">
              <a:spcAft>
                <a:spcPts val="300"/>
              </a:spcAft>
            </a:pPr>
            <a:r>
              <a:rPr sz="3400" b="1">
                <a:solidFill>
                  <a:srgbClr val="172B4D"/>
                </a:solidFill>
                <a:latin typeface="Arial"/>
              </a:rPr>
              <a:t>People support change when the requirement is clear, the design is workable, and leaders model it.</a:t>
            </a:r>
          </a:p>
        </p:txBody>
      </p:sp>
      <p:sp>
        <p:nvSpPr>
          <p:cNvPr id="6" name="TextBox 5"/>
          <p:cNvSpPr txBox="1"/>
          <p:nvPr/>
        </p:nvSpPr>
        <p:spPr>
          <a:xfrm>
            <a:off x="896112" y="4315968"/>
            <a:ext cx="9875520" cy="1097280"/>
          </a:xfrm>
          <a:prstGeom prst="rect">
            <a:avLst/>
          </a:prstGeom>
          <a:noFill/>
        </p:spPr>
        <p:txBody>
          <a:bodyPr wrap="square" anchor="t" lIns="45720" rIns="45720">
            <a:spAutoFit/>
          </a:bodyPr>
          <a:lstStyle/>
          <a:p>
            <a:pPr algn="l">
              <a:spcAft>
                <a:spcPts val="300"/>
              </a:spcAft>
            </a:pPr>
            <a:r>
              <a:rPr sz="1800" b="0">
                <a:solidFill>
                  <a:srgbClr val="5B6372"/>
                </a:solidFill>
                <a:latin typeface="Arial"/>
              </a:rPr>
              <a:t>Influence combines evidence, empathy, role clarity and visible follow-through.</a:t>
            </a:r>
          </a:p>
        </p:txBody>
      </p:sp>
      <p:sp>
        <p:nvSpPr>
          <p:cNvPr id="7" name="TextBox 6"/>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Pitt Law: Compliance legislation | Bizbot: Company compliance</a:t>
            </a:r>
          </a:p>
        </p:txBody>
      </p:sp>
      <p:sp>
        <p:nvSpPr>
          <p:cNvPr id="8" name="Rectangle 7"/>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0" name="TextBox 9"/>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1" name="TextBox 10"/>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88</a:t>
            </a:r>
          </a:p>
        </p:txBody>
      </p:sp>
    </p:spTree>
  </p:cSld>
  <p:clrMapOvr>
    <a:masterClrMapping/>
  </p:clrMapOvr>
  <p:transition spd="slow">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7 | K2, A3 / LO2</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Influence Plan for Privacy-by-Design</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25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Build a stakeholder-specific influence plan that positions compliance as a workable design constraint and business enabler.</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Stakeholder map, influence messages and RACI.</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 Breach of the Protection Obliga | PDPC: Breach notification | LeapXpert: Compliance guide | Pitt Law: Compliance legislation</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89</a:t>
            </a:r>
          </a:p>
        </p:txBody>
      </p:sp>
    </p:spTree>
  </p:cSld>
  <p:clrMapOvr>
    <a:masterClrMapping/>
  </p:clrMapOvr>
  <p:transition spd="slow">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7 | 28 OCTOBER 2025 | PDPC BREACH DECISION AND $315,000 FINANCIAL PENALTY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Influence Plan for Privacy-by-Design</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MARINA BAY SANDS - SECURITY-CONTROL OMISSION DURING SOFTWARE MIGRATION</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PDPC reported that 665,495 Marina Bay Sands patrons had personal data illegally accessed and exfiltrated in October 2023. During a large software migration, one identifier for the Art Science Friends webpage was omitted from security-policy coverage. A single employee manually compiled API configurations without a second-layer check, and the omission remained undetected for six months. PDPC imposed a $315,000 penalty.</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Use the published migration and control facts. Stakeholder objections, messages, RACI and pilot design are learner-created implementation proposals, not statements made by MBS or PDPC.</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 Breach of the Protection Obliga | PDPC: Breach notification | LeapXpert: Compliance guide | Pitt Law: Compliance legislation</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90</a:t>
            </a:r>
          </a:p>
        </p:txBody>
      </p:sp>
    </p:spTree>
  </p:cSld>
  <p:clrMapOvr>
    <a:masterClrMapping/>
  </p:clrMapOvr>
  <p:transition spd="slow">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7: Privacy-by-Design</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stakeholder groups should have influenced migration design and sign-off?</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behaviours must change in Product, Engineering, Security, Data and leadership?</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evidence would show complete policy coverage before and after migration?</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residual-risk decision requires executive ownership?</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Messages are role-specific</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Compliance/business trade-off addressed</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RACI has one accountable owner</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Pilot and escalation defined</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PDPC - Breach of the Protection Obliga | PDPC: Breach notification | LeapXpert: Compliance guide | Pitt Law: Compliance legislation</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91</a:t>
            </a:r>
          </a:p>
        </p:txBody>
      </p:sp>
    </p:spTree>
  </p:cSld>
  <p:clrMapOvr>
    <a:masterClrMapping/>
  </p:clrMapOvr>
  <p:transition spd="slow">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ACTIVITY 8 | K2, A3 / LO2</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90-Day Compliance Operating Model</a:t>
            </a:r>
          </a:p>
        </p:txBody>
      </p:sp>
      <p:sp>
        <p:nvSpPr>
          <p:cNvPr id="6" name="Rounded Rectangle 5"/>
          <p:cNvSpPr/>
          <p:nvPr/>
        </p:nvSpPr>
        <p:spPr>
          <a:xfrm>
            <a:off x="658368" y="1709928"/>
            <a:ext cx="1828800" cy="43891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37360"/>
            <a:ext cx="1828800" cy="365760"/>
          </a:xfrm>
          <a:prstGeom prst="rect">
            <a:avLst/>
          </a:prstGeom>
          <a:noFill/>
        </p:spPr>
        <p:txBody>
          <a:bodyPr wrap="square" anchor="t" lIns="45720" rIns="45720">
            <a:spAutoFit/>
          </a:bodyPr>
          <a:lstStyle/>
          <a:p>
            <a:pPr algn="ctr">
              <a:spcAft>
                <a:spcPts val="300"/>
              </a:spcAft>
            </a:pPr>
            <a:r>
              <a:rPr sz="1300" b="1">
                <a:solidFill>
                  <a:srgbClr val="FFFFFF"/>
                </a:solidFill>
                <a:latin typeface="Arial"/>
              </a:rPr>
              <a:t>20 MINUTES</a:t>
            </a:r>
          </a:p>
        </p:txBody>
      </p:sp>
      <p:sp>
        <p:nvSpPr>
          <p:cNvPr id="8" name="TextBox 7"/>
          <p:cNvSpPr txBox="1"/>
          <p:nvPr/>
        </p:nvSpPr>
        <p:spPr>
          <a:xfrm>
            <a:off x="658368" y="2423160"/>
            <a:ext cx="10744200" cy="1005840"/>
          </a:xfrm>
          <a:prstGeom prst="rect">
            <a:avLst/>
          </a:prstGeom>
          <a:noFill/>
        </p:spPr>
        <p:txBody>
          <a:bodyPr wrap="square" anchor="t" lIns="45720" rIns="45720">
            <a:spAutoFit/>
          </a:bodyPr>
          <a:lstStyle/>
          <a:p>
            <a:pPr algn="l">
              <a:spcAft>
                <a:spcPts val="300"/>
              </a:spcAft>
            </a:pPr>
            <a:r>
              <a:rPr sz="2200" b="1">
                <a:solidFill>
                  <a:srgbClr val="172B4D"/>
                </a:solidFill>
                <a:latin typeface="Arial"/>
              </a:rPr>
              <a:t>Design a practical 30-60-90 day operating model covering ownership, calendar, controls, training, reporting, speak-up channels and assurance.</a:t>
            </a:r>
          </a:p>
        </p:txBody>
      </p:sp>
      <p:sp>
        <p:nvSpPr>
          <p:cNvPr id="9" name="Rounded Rectangle 8"/>
          <p:cNvSpPr/>
          <p:nvPr/>
        </p:nvSpPr>
        <p:spPr>
          <a:xfrm>
            <a:off x="65836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3767328"/>
            <a:ext cx="334670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023360"/>
            <a:ext cx="2907792" cy="365760"/>
          </a:xfrm>
          <a:prstGeom prst="rect">
            <a:avLst/>
          </a:prstGeom>
          <a:noFill/>
        </p:spPr>
        <p:txBody>
          <a:bodyPr wrap="square" anchor="t" lIns="45720" rIns="45720">
            <a:spAutoFit/>
          </a:bodyPr>
          <a:lstStyle/>
          <a:p>
            <a:pPr algn="l">
              <a:spcAft>
                <a:spcPts val="300"/>
              </a:spcAft>
            </a:pPr>
            <a:r>
              <a:rPr sz="1600" b="1">
                <a:solidFill>
                  <a:srgbClr val="1F6FEB"/>
                </a:solidFill>
                <a:latin typeface="Arial"/>
              </a:rPr>
              <a:t>Scenario</a:t>
            </a:r>
          </a:p>
        </p:txBody>
      </p:sp>
      <p:sp>
        <p:nvSpPr>
          <p:cNvPr id="12" name="TextBox 11"/>
          <p:cNvSpPr txBox="1"/>
          <p:nvPr/>
        </p:nvSpPr>
        <p:spPr>
          <a:xfrm>
            <a:off x="85953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Apply the course concepts to a realistic Singapore business situation.</a:t>
            </a:r>
          </a:p>
        </p:txBody>
      </p:sp>
      <p:sp>
        <p:nvSpPr>
          <p:cNvPr id="13" name="Rounded Rectangle 12"/>
          <p:cNvSpPr/>
          <p:nvPr/>
        </p:nvSpPr>
        <p:spPr>
          <a:xfrm>
            <a:off x="436168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61688" y="3767328"/>
            <a:ext cx="334670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4023360"/>
            <a:ext cx="2907792" cy="365760"/>
          </a:xfrm>
          <a:prstGeom prst="rect">
            <a:avLst/>
          </a:prstGeom>
          <a:noFill/>
        </p:spPr>
        <p:txBody>
          <a:bodyPr wrap="square" anchor="t" lIns="45720" rIns="45720">
            <a:spAutoFit/>
          </a:bodyPr>
          <a:lstStyle/>
          <a:p>
            <a:pPr algn="l">
              <a:spcAft>
                <a:spcPts val="300"/>
              </a:spcAft>
            </a:pPr>
            <a:r>
              <a:rPr sz="1600" b="1">
                <a:solidFill>
                  <a:srgbClr val="10B981"/>
                </a:solidFill>
                <a:latin typeface="Arial"/>
              </a:rPr>
              <a:t>Deliverable</a:t>
            </a:r>
          </a:p>
        </p:txBody>
      </p:sp>
      <p:sp>
        <p:nvSpPr>
          <p:cNvPr id="16" name="TextBox 15"/>
          <p:cNvSpPr txBox="1"/>
          <p:nvPr/>
        </p:nvSpPr>
        <p:spPr>
          <a:xfrm>
            <a:off x="456285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30-60-90 day roadmap and monthly compliance dashboard outline.</a:t>
            </a:r>
          </a:p>
        </p:txBody>
      </p:sp>
      <p:sp>
        <p:nvSpPr>
          <p:cNvPr id="17" name="Rounded Rectangle 16"/>
          <p:cNvSpPr/>
          <p:nvPr/>
        </p:nvSpPr>
        <p:spPr>
          <a:xfrm>
            <a:off x="8065008" y="3767328"/>
            <a:ext cx="3346704" cy="1901952"/>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3767328"/>
            <a:ext cx="334670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6" y="4023360"/>
            <a:ext cx="2907792" cy="365760"/>
          </a:xfrm>
          <a:prstGeom prst="rect">
            <a:avLst/>
          </a:prstGeom>
          <a:noFill/>
        </p:spPr>
        <p:txBody>
          <a:bodyPr wrap="square" anchor="t" lIns="45720" rIns="45720">
            <a:spAutoFit/>
          </a:bodyPr>
          <a:lstStyle/>
          <a:p>
            <a:pPr algn="l">
              <a:spcAft>
                <a:spcPts val="300"/>
              </a:spcAft>
            </a:pPr>
            <a:r>
              <a:rPr sz="1600" b="1">
                <a:solidFill>
                  <a:srgbClr val="7C3AED"/>
                </a:solidFill>
                <a:latin typeface="Arial"/>
              </a:rPr>
              <a:t>Evidence</a:t>
            </a:r>
          </a:p>
        </p:txBody>
      </p:sp>
      <p:sp>
        <p:nvSpPr>
          <p:cNvPr id="20" name="TextBox 19"/>
          <p:cNvSpPr txBox="1"/>
          <p:nvPr/>
        </p:nvSpPr>
        <p:spPr>
          <a:xfrm>
            <a:off x="8266176" y="4480560"/>
            <a:ext cx="2907792" cy="914400"/>
          </a:xfrm>
          <a:prstGeom prst="rect">
            <a:avLst/>
          </a:prstGeom>
          <a:noFill/>
        </p:spPr>
        <p:txBody>
          <a:bodyPr wrap="square" anchor="t" lIns="45720" rIns="45720">
            <a:spAutoFit/>
          </a:bodyPr>
          <a:lstStyle/>
          <a:p>
            <a:pPr algn="l">
              <a:spcAft>
                <a:spcPts val="300"/>
              </a:spcAft>
            </a:pPr>
            <a:r>
              <a:rPr sz="1250" b="0">
                <a:solidFill>
                  <a:srgbClr val="161B26"/>
                </a:solidFill>
                <a:latin typeface="Arial"/>
              </a:rPr>
              <a:t>Use regulator guidance, state assumptions and show owners, deadlines and proof.</a:t>
            </a:r>
          </a:p>
        </p:txBody>
      </p:sp>
      <p:sp>
        <p:nvSpPr>
          <p:cNvPr id="21" name="TextBox 20"/>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MOM - Stars Engrg director sentenced o | MOM: WSH responsibilities | Pitt Law: Compliance legislation | LeapXpert: Compliance guide | Bizbot: Company compliance | Wolters Kluwer: Governance</a:t>
            </a:r>
          </a:p>
        </p:txBody>
      </p:sp>
      <p:sp>
        <p:nvSpPr>
          <p:cNvPr id="22" name="Rectangle 21"/>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4" name="TextBox 23"/>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25" name="TextBox 24"/>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92</a:t>
            </a:r>
          </a:p>
        </p:txBody>
      </p:sp>
    </p:spTree>
  </p:cSld>
  <p:clrMapOvr>
    <a:masterClrMapping/>
  </p:clrMapOvr>
  <p:transition spd="slow">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7C3AED"/>
                </a:solidFill>
                <a:latin typeface="Arial"/>
              </a:rPr>
              <a:t>ACTIVITY 8 | 25 JUNE 2026 SENTENCING ANNOUNCEMENT | DIRECTOR AND PRODUCTION MANAGER SENTENCED; COMPANY FINED $500,000</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Real Case | 90-Day Compliance Operating Model</a:t>
            </a:r>
          </a:p>
        </p:txBody>
      </p:sp>
      <p:sp>
        <p:nvSpPr>
          <p:cNvPr id="6" name="Rounded Rectangle 5"/>
          <p:cNvSpPr/>
          <p:nvPr/>
        </p:nvSpPr>
        <p:spPr>
          <a:xfrm>
            <a:off x="658368" y="1737360"/>
            <a:ext cx="6903720" cy="406908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011680"/>
            <a:ext cx="6355080" cy="365760"/>
          </a:xfrm>
          <a:prstGeom prst="rect">
            <a:avLst/>
          </a:prstGeom>
          <a:noFill/>
        </p:spPr>
        <p:txBody>
          <a:bodyPr wrap="square" anchor="t" lIns="45720" rIns="45720">
            <a:spAutoFit/>
          </a:bodyPr>
          <a:lstStyle/>
          <a:p>
            <a:pPr algn="l">
              <a:spcAft>
                <a:spcPts val="300"/>
              </a:spcAft>
            </a:pPr>
            <a:r>
              <a:rPr sz="1200" b="1">
                <a:solidFill>
                  <a:srgbClr val="7C3AED"/>
                </a:solidFill>
                <a:latin typeface="Arial"/>
              </a:rPr>
              <a:t>STARS ENGRG - FATAL 2021 TUAS WORKPLACE EXPLOSION</a:t>
            </a:r>
          </a:p>
        </p:txBody>
      </p:sp>
      <p:sp>
        <p:nvSpPr>
          <p:cNvPr id="8" name="TextBox 7"/>
          <p:cNvSpPr txBox="1"/>
          <p:nvPr/>
        </p:nvSpPr>
        <p:spPr>
          <a:xfrm>
            <a:off x="932688" y="2487168"/>
            <a:ext cx="6355080" cy="2971800"/>
          </a:xfrm>
          <a:prstGeom prst="rect">
            <a:avLst/>
          </a:prstGeom>
          <a:noFill/>
        </p:spPr>
        <p:txBody>
          <a:bodyPr wrap="square" anchor="t" lIns="45720" rIns="45720">
            <a:spAutoFit/>
          </a:bodyPr>
          <a:lstStyle/>
          <a:p>
            <a:pPr algn="l">
              <a:spcAft>
                <a:spcPts val="300"/>
              </a:spcAft>
            </a:pPr>
            <a:r>
              <a:rPr sz="1550" b="0">
                <a:solidFill>
                  <a:srgbClr val="161B26"/>
                </a:solidFill>
                <a:latin typeface="Arial"/>
              </a:rPr>
              <a:t>MOM reported that a 24 February 2021 explosion at Stars Engrg's Tuas worksite killed three workers and injured seven. A heated mixer had been operated unsafely despite overheating, oil leaks, smoke and an earlier fire. Investigations identified failures in risk assessment, safe work procedures, maintenance, supervision and training. The director was imprisoned, the company fined $500,000, and the production manager imprisoned for obstructing justice after messages were deleted.</a:t>
            </a:r>
          </a:p>
        </p:txBody>
      </p:sp>
      <p:sp>
        <p:nvSpPr>
          <p:cNvPr id="9" name="Rounded Rectangle 8"/>
          <p:cNvSpPr/>
          <p:nvPr/>
        </p:nvSpPr>
        <p:spPr>
          <a:xfrm>
            <a:off x="7882127" y="1737360"/>
            <a:ext cx="3456432" cy="4069080"/>
          </a:xfrm>
          <a:prstGeom prst="roundRect">
            <a:avLst/>
          </a:prstGeom>
          <a:solidFill>
            <a:srgbClr val="FFFFFF"/>
          </a:solidFill>
          <a:ln w="1016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74736" y="2011680"/>
            <a:ext cx="2852928" cy="457200"/>
          </a:xfrm>
          <a:prstGeom prst="rect">
            <a:avLst/>
          </a:prstGeom>
          <a:noFill/>
        </p:spPr>
        <p:txBody>
          <a:bodyPr wrap="square" anchor="t" lIns="45720" rIns="45720">
            <a:spAutoFit/>
          </a:bodyPr>
          <a:lstStyle/>
          <a:p>
            <a:pPr algn="l">
              <a:spcAft>
                <a:spcPts val="300"/>
              </a:spcAft>
            </a:pPr>
            <a:r>
              <a:rPr sz="1300" b="1">
                <a:solidFill>
                  <a:srgbClr val="7C3AED"/>
                </a:solidFill>
                <a:latin typeface="Arial"/>
              </a:rPr>
              <a:t>EVIDENCE BOUNDARY</a:t>
            </a:r>
          </a:p>
        </p:txBody>
      </p:sp>
      <p:sp>
        <p:nvSpPr>
          <p:cNvPr id="11" name="TextBox 10"/>
          <p:cNvSpPr txBox="1"/>
          <p:nvPr/>
        </p:nvSpPr>
        <p:spPr>
          <a:xfrm>
            <a:off x="8174736" y="2560320"/>
            <a:ext cx="2852928" cy="2560320"/>
          </a:xfrm>
          <a:prstGeom prst="rect">
            <a:avLst/>
          </a:prstGeom>
          <a:noFill/>
        </p:spPr>
        <p:txBody>
          <a:bodyPr wrap="square" anchor="t" lIns="45720" rIns="45720">
            <a:spAutoFit/>
          </a:bodyPr>
          <a:lstStyle/>
          <a:p>
            <a:pPr algn="l">
              <a:spcAft>
                <a:spcPts val="300"/>
              </a:spcAft>
            </a:pPr>
            <a:r>
              <a:rPr sz="1350" b="1">
                <a:solidFill>
                  <a:srgbClr val="172B4D"/>
                </a:solidFill>
                <a:latin typeface="Arial"/>
              </a:rPr>
              <a:t>The published failures are the diagnostic baseline. The 30-60-90 day operating model is a learner-designed remediation and prevention plan, not MOM's prescribed plan for the company.</a:t>
            </a:r>
          </a:p>
        </p:txBody>
      </p:sp>
      <p:sp>
        <p:nvSpPr>
          <p:cNvPr id="12" name="TextBox 1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MOM - Stars Engrg director sentenced o | MOM: WSH responsibilities | Pitt Law: Compliance legislation | LeapXpert: Compliance guide | Bizbot: Company compliance | Wolters Kluwer: Governance</a:t>
            </a:r>
          </a:p>
        </p:txBody>
      </p:sp>
      <p:sp>
        <p:nvSpPr>
          <p:cNvPr id="13" name="Rectangle 1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5" name="TextBox 1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6" name="TextBox 1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93</a:t>
            </a:r>
          </a:p>
        </p:txBody>
      </p:sp>
    </p:spTree>
  </p:cSld>
  <p:clrMapOvr>
    <a:masterClrMapping/>
  </p:clrMapOvr>
  <p:transition spd="slow">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0B981"/>
                </a:solidFill>
                <a:latin typeface="Arial"/>
              </a:rPr>
              <a:t>QUESTIONS + SUCCESS CHECK | NO CLICK-BY-CLICK STEPS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Debrief | Activity 8: 90-Day Operating Model</a:t>
            </a:r>
          </a:p>
        </p:txBody>
      </p:sp>
      <p:sp>
        <p:nvSpPr>
          <p:cNvPr id="6" name="Rounded Rectangle 5"/>
          <p:cNvSpPr/>
          <p:nvPr/>
        </p:nvSpPr>
        <p:spPr>
          <a:xfrm>
            <a:off x="658368" y="1719072"/>
            <a:ext cx="65379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65960"/>
            <a:ext cx="5989320" cy="384048"/>
          </a:xfrm>
          <a:prstGeom prst="rect">
            <a:avLst/>
          </a:prstGeom>
          <a:noFill/>
        </p:spPr>
        <p:txBody>
          <a:bodyPr wrap="square" anchor="t" lIns="45720" rIns="45720">
            <a:spAutoFit/>
          </a:bodyPr>
          <a:lstStyle/>
          <a:p>
            <a:pPr algn="l">
              <a:spcAft>
                <a:spcPts val="300"/>
              </a:spcAft>
            </a:pPr>
            <a:r>
              <a:rPr sz="1300" b="1">
                <a:solidFill>
                  <a:srgbClr val="10B981"/>
                </a:solidFill>
                <a:latin typeface="Arial"/>
              </a:rPr>
              <a:t>DISCUSS AND DECIDE</a:t>
            </a:r>
          </a:p>
        </p:txBody>
      </p:sp>
      <p:sp>
        <p:nvSpPr>
          <p:cNvPr id="8" name="Oval 7"/>
          <p:cNvSpPr/>
          <p:nvPr/>
        </p:nvSpPr>
        <p:spPr>
          <a:xfrm>
            <a:off x="914400" y="2514600"/>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14600"/>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1</a:t>
            </a:r>
          </a:p>
        </p:txBody>
      </p:sp>
      <p:sp>
        <p:nvSpPr>
          <p:cNvPr id="10" name="TextBox 9"/>
          <p:cNvSpPr txBox="1"/>
          <p:nvPr/>
        </p:nvSpPr>
        <p:spPr>
          <a:xfrm>
            <a:off x="1417320" y="2496312"/>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warning signs and unsafe conditions required immediate stop-work action?</a:t>
            </a:r>
          </a:p>
        </p:txBody>
      </p:sp>
      <p:sp>
        <p:nvSpPr>
          <p:cNvPr id="11" name="Oval 10"/>
          <p:cNvSpPr/>
          <p:nvPr/>
        </p:nvSpPr>
        <p:spPr>
          <a:xfrm>
            <a:off x="914400" y="3300984"/>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300984"/>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2</a:t>
            </a:r>
          </a:p>
        </p:txBody>
      </p:sp>
      <p:sp>
        <p:nvSpPr>
          <p:cNvPr id="13" name="TextBox 12"/>
          <p:cNvSpPr txBox="1"/>
          <p:nvPr/>
        </p:nvSpPr>
        <p:spPr>
          <a:xfrm>
            <a:off x="1417320" y="3282696"/>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Which risk, maintenance, training and supervision controls should be stabilised first?</a:t>
            </a:r>
          </a:p>
        </p:txBody>
      </p:sp>
      <p:sp>
        <p:nvSpPr>
          <p:cNvPr id="14" name="Oval 13"/>
          <p:cNvSpPr/>
          <p:nvPr/>
        </p:nvSpPr>
        <p:spPr>
          <a:xfrm>
            <a:off x="914400" y="408736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087368"/>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3</a:t>
            </a:r>
          </a:p>
        </p:txBody>
      </p:sp>
      <p:sp>
        <p:nvSpPr>
          <p:cNvPr id="16" name="TextBox 15"/>
          <p:cNvSpPr txBox="1"/>
          <p:nvPr/>
        </p:nvSpPr>
        <p:spPr>
          <a:xfrm>
            <a:off x="1417320" y="4069080"/>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What should management and the board see about exceptions and unresolved hazards?</a:t>
            </a:r>
          </a:p>
        </p:txBody>
      </p:sp>
      <p:sp>
        <p:nvSpPr>
          <p:cNvPr id="17" name="Oval 16"/>
          <p:cNvSpPr/>
          <p:nvPr/>
        </p:nvSpPr>
        <p:spPr>
          <a:xfrm>
            <a:off x="914400" y="487375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873752"/>
            <a:ext cx="365760" cy="365760"/>
          </a:xfrm>
          <a:prstGeom prst="rect">
            <a:avLst/>
          </a:prstGeom>
          <a:noFill/>
        </p:spPr>
        <p:txBody>
          <a:bodyPr wrap="square" anchor="ctr" lIns="45720" rIns="45720">
            <a:spAutoFit/>
          </a:bodyPr>
          <a:lstStyle/>
          <a:p>
            <a:pPr algn="ctr">
              <a:spcAft>
                <a:spcPts val="300"/>
              </a:spcAft>
            </a:pPr>
            <a:r>
              <a:rPr sz="1100" b="1">
                <a:solidFill>
                  <a:srgbClr val="FFFFFF"/>
                </a:solidFill>
                <a:latin typeface="Arial"/>
              </a:rPr>
              <a:t>4</a:t>
            </a:r>
          </a:p>
        </p:txBody>
      </p:sp>
      <p:sp>
        <p:nvSpPr>
          <p:cNvPr id="19" name="TextBox 18"/>
          <p:cNvSpPr txBox="1"/>
          <p:nvPr/>
        </p:nvSpPr>
        <p:spPr>
          <a:xfrm>
            <a:off x="1417320" y="4855464"/>
            <a:ext cx="5394960" cy="621792"/>
          </a:xfrm>
          <a:prstGeom prst="rect">
            <a:avLst/>
          </a:prstGeom>
          <a:noFill/>
        </p:spPr>
        <p:txBody>
          <a:bodyPr wrap="square" anchor="t" lIns="45720" rIns="45720">
            <a:spAutoFit/>
          </a:bodyPr>
          <a:lstStyle/>
          <a:p>
            <a:pPr algn="l">
              <a:spcAft>
                <a:spcPts val="300"/>
              </a:spcAft>
            </a:pPr>
            <a:r>
              <a:rPr sz="1350" b="0">
                <a:solidFill>
                  <a:srgbClr val="161B26"/>
                </a:solidFill>
                <a:latin typeface="Arial"/>
              </a:rPr>
              <a:t>How should evidence preservation and speak-up protection be built into the model?</a:t>
            </a:r>
          </a:p>
        </p:txBody>
      </p:sp>
      <p:sp>
        <p:nvSpPr>
          <p:cNvPr id="20" name="Rounded Rectangle 19"/>
          <p:cNvSpPr/>
          <p:nvPr/>
        </p:nvSpPr>
        <p:spPr>
          <a:xfrm>
            <a:off x="7498079" y="1719072"/>
            <a:ext cx="3840480" cy="4160520"/>
          </a:xfrm>
          <a:prstGeom prst="round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90688" y="1965960"/>
            <a:ext cx="3246120" cy="384048"/>
          </a:xfrm>
          <a:prstGeom prst="rect">
            <a:avLst/>
          </a:prstGeom>
          <a:noFill/>
        </p:spPr>
        <p:txBody>
          <a:bodyPr wrap="square" anchor="t" lIns="45720" rIns="45720">
            <a:spAutoFit/>
          </a:bodyPr>
          <a:lstStyle/>
          <a:p>
            <a:pPr algn="l">
              <a:spcAft>
                <a:spcPts val="300"/>
              </a:spcAft>
            </a:pPr>
            <a:r>
              <a:rPr sz="1300" b="1">
                <a:solidFill>
                  <a:srgbClr val="127A3E"/>
                </a:solidFill>
                <a:latin typeface="Arial"/>
              </a:rPr>
              <a:t>SUCCESS LOOKS LIKE</a:t>
            </a:r>
          </a:p>
        </p:txBody>
      </p:sp>
      <p:sp>
        <p:nvSpPr>
          <p:cNvPr id="22" name="TextBox 21"/>
          <p:cNvSpPr txBox="1"/>
          <p:nvPr/>
        </p:nvSpPr>
        <p:spPr>
          <a:xfrm>
            <a:off x="7790688" y="2542032"/>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Priorities risk-based</a:t>
            </a:r>
          </a:p>
        </p:txBody>
      </p:sp>
      <p:sp>
        <p:nvSpPr>
          <p:cNvPr id="23" name="TextBox 22"/>
          <p:cNvSpPr txBox="1"/>
          <p:nvPr/>
        </p:nvSpPr>
        <p:spPr>
          <a:xfrm>
            <a:off x="7790688" y="3255263"/>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Owners and cadence clear</a:t>
            </a:r>
          </a:p>
        </p:txBody>
      </p:sp>
      <p:sp>
        <p:nvSpPr>
          <p:cNvPr id="24" name="TextBox 23"/>
          <p:cNvSpPr txBox="1"/>
          <p:nvPr/>
        </p:nvSpPr>
        <p:spPr>
          <a:xfrm>
            <a:off x="7790688" y="3968496"/>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Training and speak-up included</a:t>
            </a:r>
          </a:p>
        </p:txBody>
      </p:sp>
      <p:sp>
        <p:nvSpPr>
          <p:cNvPr id="25" name="TextBox 24"/>
          <p:cNvSpPr txBox="1"/>
          <p:nvPr/>
        </p:nvSpPr>
        <p:spPr>
          <a:xfrm>
            <a:off x="7790688" y="4681728"/>
            <a:ext cx="3154680" cy="566928"/>
          </a:xfrm>
          <a:prstGeom prst="rect">
            <a:avLst/>
          </a:prstGeom>
          <a:noFill/>
        </p:spPr>
        <p:txBody>
          <a:bodyPr wrap="square" anchor="t" lIns="45720" rIns="45720">
            <a:spAutoFit/>
          </a:bodyPr>
          <a:lstStyle/>
          <a:p>
            <a:pPr algn="l">
              <a:spcAft>
                <a:spcPts val="300"/>
              </a:spcAft>
            </a:pPr>
            <a:r>
              <a:rPr sz="1350" b="0">
                <a:solidFill>
                  <a:srgbClr val="161B26"/>
                </a:solidFill>
                <a:latin typeface="Arial"/>
              </a:rPr>
              <a:t>✓  Metrics test effectiveness, not activity alone</a:t>
            </a:r>
          </a:p>
        </p:txBody>
      </p:sp>
      <p:sp>
        <p:nvSpPr>
          <p:cNvPr id="26" name="TextBox 2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Sources: MOM - Stars Engrg director sentenced o | MOM: WSH responsibilities | Pitt Law: Compliance legislation | LeapXpert: Compliance guide | Bizbot: Company compliance | Wolters Kluwer: Governance</a:t>
            </a:r>
          </a:p>
        </p:txBody>
      </p:sp>
      <p:sp>
        <p:nvSpPr>
          <p:cNvPr id="27" name="Rectangle 2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29" name="TextBox 2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0" name="TextBox 2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94</a:t>
            </a:r>
          </a:p>
        </p:txBody>
      </p:sp>
    </p:spTree>
  </p:cSld>
  <p:clrMapOvr>
    <a:masterClrMapping/>
  </p:clrMapOvr>
  <p:transition spd="slow">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7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874519"/>
            <a:ext cx="9784080" cy="365760"/>
          </a:xfrm>
          <a:prstGeom prst="rect">
            <a:avLst/>
          </a:prstGeom>
          <a:noFill/>
        </p:spPr>
        <p:txBody>
          <a:bodyPr wrap="square" anchor="t" lIns="45720" rIns="45720">
            <a:spAutoFit/>
          </a:bodyPr>
          <a:lstStyle/>
          <a:p>
            <a:pPr algn="l">
              <a:spcAft>
                <a:spcPts val="300"/>
              </a:spcAft>
            </a:pPr>
            <a:r>
              <a:rPr sz="1500" b="1">
                <a:solidFill>
                  <a:srgbClr val="1F6FEB"/>
                </a:solidFill>
                <a:latin typeface="Arial"/>
              </a:rPr>
              <a:t>WRAP-UP</a:t>
            </a:r>
          </a:p>
        </p:txBody>
      </p:sp>
      <p:sp>
        <p:nvSpPr>
          <p:cNvPr id="5" name="TextBox 4"/>
          <p:cNvSpPr txBox="1"/>
          <p:nvPr/>
        </p:nvSpPr>
        <p:spPr>
          <a:xfrm>
            <a:off x="777240" y="2304288"/>
            <a:ext cx="9966960" cy="1508760"/>
          </a:xfrm>
          <a:prstGeom prst="rect">
            <a:avLst/>
          </a:prstGeom>
          <a:noFill/>
        </p:spPr>
        <p:txBody>
          <a:bodyPr wrap="square" anchor="t" lIns="45720" rIns="45720">
            <a:spAutoFit/>
          </a:bodyPr>
          <a:lstStyle/>
          <a:p>
            <a:pPr algn="l">
              <a:spcAft>
                <a:spcPts val="300"/>
              </a:spcAft>
            </a:pPr>
            <a:r>
              <a:rPr sz="3700" b="1">
                <a:solidFill>
                  <a:srgbClr val="172B4D"/>
                </a:solidFill>
                <a:latin typeface="Arial"/>
              </a:rPr>
              <a:t>From obligations to an operating system</a:t>
            </a:r>
          </a:p>
        </p:txBody>
      </p:sp>
      <p:sp>
        <p:nvSpPr>
          <p:cNvPr id="6" name="TextBox 5"/>
          <p:cNvSpPr txBox="1"/>
          <p:nvPr/>
        </p:nvSpPr>
        <p:spPr>
          <a:xfrm>
            <a:off x="804672" y="3968496"/>
            <a:ext cx="9692640" cy="914400"/>
          </a:xfrm>
          <a:prstGeom prst="rect">
            <a:avLst/>
          </a:prstGeom>
          <a:noFill/>
        </p:spPr>
        <p:txBody>
          <a:bodyPr wrap="square" anchor="t" lIns="45720" rIns="45720">
            <a:spAutoFit/>
          </a:bodyPr>
          <a:lstStyle/>
          <a:p>
            <a:pPr algn="l">
              <a:spcAft>
                <a:spcPts val="300"/>
              </a:spcAft>
            </a:pPr>
            <a:r>
              <a:rPr sz="1600" b="0">
                <a:solidFill>
                  <a:srgbClr val="5B6372"/>
                </a:solidFill>
                <a:latin typeface="Arial"/>
              </a:rPr>
              <a:t>Consolidate the frameworks, activities and assessment evidence</a:t>
            </a:r>
          </a:p>
        </p:txBody>
      </p:sp>
      <p:sp>
        <p:nvSpPr>
          <p:cNvPr id="7" name="TextBox 6"/>
          <p:cNvSpPr txBox="1"/>
          <p:nvPr/>
        </p:nvSpPr>
        <p:spPr>
          <a:xfrm>
            <a:off x="9646920" y="502920"/>
            <a:ext cx="1828800" cy="1325880"/>
          </a:xfrm>
          <a:prstGeom prst="rect">
            <a:avLst/>
          </a:prstGeom>
          <a:noFill/>
        </p:spPr>
        <p:txBody>
          <a:bodyPr wrap="square" anchor="t" lIns="45720" rIns="45720">
            <a:spAutoFit/>
          </a:bodyPr>
          <a:lstStyle/>
          <a:p>
            <a:pPr algn="r">
              <a:spcAft>
                <a:spcPts val="300"/>
              </a:spcAft>
            </a:pPr>
            <a:r>
              <a:rPr sz="6800" b="1">
                <a:solidFill>
                  <a:srgbClr val="E2E8F0"/>
                </a:solidFill>
                <a:latin typeface="Arial"/>
              </a:rPr>
              <a:t>✓</a:t>
            </a:r>
          </a:p>
        </p:txBody>
      </p:sp>
      <p:sp>
        <p:nvSpPr>
          <p:cNvPr id="8" name="TextBox 7"/>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9" name="Rectangle 8"/>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1" name="TextBox 10"/>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2" name="TextBox 11"/>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95</a:t>
            </a:r>
          </a:p>
        </p:txBody>
      </p:sp>
    </p:spTree>
  </p:cSld>
  <p:clrMapOvr>
    <a:masterClrMapping/>
  </p:clrMapOvr>
  <p:transition spd="slow">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LEARNING OUTCOMES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What You Achieved</a:t>
            </a:r>
          </a:p>
        </p:txBody>
      </p:sp>
      <p:sp>
        <p:nvSpPr>
          <p:cNvPr id="6" name="Rounded Rectangle 5"/>
          <p:cNvSpPr/>
          <p:nvPr/>
        </p:nvSpPr>
        <p:spPr>
          <a:xfrm>
            <a:off x="658368"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K1</a:t>
            </a:r>
          </a:p>
        </p:txBody>
      </p:sp>
      <p:sp>
        <p:nvSpPr>
          <p:cNvPr id="11" name="TextBox 10"/>
          <p:cNvSpPr txBox="1"/>
          <p:nvPr/>
        </p:nvSpPr>
        <p:spPr>
          <a:xfrm>
            <a:off x="1444752"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Explained current legal/regulatory duties and global triggers.</a:t>
            </a:r>
          </a:p>
        </p:txBody>
      </p:sp>
      <p:sp>
        <p:nvSpPr>
          <p:cNvPr id="12" name="Rounded Rectangle 11"/>
          <p:cNvSpPr/>
          <p:nvPr/>
        </p:nvSpPr>
        <p:spPr>
          <a:xfrm>
            <a:off x="4358640"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8640"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9808"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5145024" y="1837944"/>
            <a:ext cx="2493264"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K2</a:t>
            </a:r>
          </a:p>
        </p:txBody>
      </p:sp>
      <p:sp>
        <p:nvSpPr>
          <p:cNvPr id="17" name="TextBox 16"/>
          <p:cNvSpPr txBox="1"/>
          <p:nvPr/>
        </p:nvSpPr>
        <p:spPr>
          <a:xfrm>
            <a:off x="5145024"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Connected compliance to the organisation's business and industry.</a:t>
            </a:r>
          </a:p>
        </p:txBody>
      </p:sp>
      <p:sp>
        <p:nvSpPr>
          <p:cNvPr id="18" name="Rounded Rectangle 17"/>
          <p:cNvSpPr/>
          <p:nvPr/>
        </p:nvSpPr>
        <p:spPr>
          <a:xfrm>
            <a:off x="8058912" y="1673352"/>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58912" y="1673352"/>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60080" y="1883664"/>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0080"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8845296" y="1837944"/>
            <a:ext cx="2493264"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A1</a:t>
            </a:r>
          </a:p>
        </p:txBody>
      </p:sp>
      <p:sp>
        <p:nvSpPr>
          <p:cNvPr id="23" name="TextBox 22"/>
          <p:cNvSpPr txBox="1"/>
          <p:nvPr/>
        </p:nvSpPr>
        <p:spPr>
          <a:xfrm>
            <a:off x="8845296" y="2313432"/>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Assessed regulatory impacts using evidence and structured lenses.</a:t>
            </a:r>
          </a:p>
        </p:txBody>
      </p:sp>
      <p:sp>
        <p:nvSpPr>
          <p:cNvPr id="24" name="Rounded Rectangle 23"/>
          <p:cNvSpPr/>
          <p:nvPr/>
        </p:nvSpPr>
        <p:spPr>
          <a:xfrm>
            <a:off x="658368"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9536"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1444752" y="4069080"/>
            <a:ext cx="2493264"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A2</a:t>
            </a:r>
          </a:p>
        </p:txBody>
      </p:sp>
      <p:sp>
        <p:nvSpPr>
          <p:cNvPr id="29" name="TextBox 28"/>
          <p:cNvSpPr txBox="1"/>
          <p:nvPr/>
        </p:nvSpPr>
        <p:spPr>
          <a:xfrm>
            <a:off x="1444752"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Produced proportionate, documented business decisions.</a:t>
            </a:r>
          </a:p>
        </p:txBody>
      </p:sp>
      <p:sp>
        <p:nvSpPr>
          <p:cNvPr id="30" name="Rounded Rectangle 29"/>
          <p:cNvSpPr/>
          <p:nvPr/>
        </p:nvSpPr>
        <p:spPr>
          <a:xfrm>
            <a:off x="4358640" y="3904488"/>
            <a:ext cx="3480816"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58640" y="3904488"/>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59808" y="4114800"/>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59808"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5</a:t>
            </a:r>
          </a:p>
        </p:txBody>
      </p:sp>
      <p:sp>
        <p:nvSpPr>
          <p:cNvPr id="34" name="TextBox 33"/>
          <p:cNvSpPr txBox="1"/>
          <p:nvPr/>
        </p:nvSpPr>
        <p:spPr>
          <a:xfrm>
            <a:off x="5145024" y="4069080"/>
            <a:ext cx="2493264"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A3</a:t>
            </a:r>
          </a:p>
        </p:txBody>
      </p:sp>
      <p:sp>
        <p:nvSpPr>
          <p:cNvPr id="35" name="TextBox 34"/>
          <p:cNvSpPr txBox="1"/>
          <p:nvPr/>
        </p:nvSpPr>
        <p:spPr>
          <a:xfrm>
            <a:off x="5145024" y="4544568"/>
            <a:ext cx="2493264" cy="1261872"/>
          </a:xfrm>
          <a:prstGeom prst="rect">
            <a:avLst/>
          </a:prstGeom>
          <a:noFill/>
        </p:spPr>
        <p:txBody>
          <a:bodyPr wrap="square" anchor="t" lIns="45720" rIns="45720">
            <a:spAutoFit/>
          </a:bodyPr>
          <a:lstStyle/>
          <a:p>
            <a:pPr algn="l">
              <a:spcAft>
                <a:spcPts val="300"/>
              </a:spcAft>
            </a:pPr>
            <a:r>
              <a:rPr sz="1250" b="0">
                <a:solidFill>
                  <a:srgbClr val="161B26"/>
                </a:solidFill>
                <a:latin typeface="Arial"/>
              </a:rPr>
              <a:t>Built influence, RACI, training and adaptation plans.</a:t>
            </a:r>
          </a:p>
        </p:txBody>
      </p:sp>
      <p:sp>
        <p:nvSpPr>
          <p:cNvPr id="36" name="TextBox 35"/>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7" name="Rectangle 36"/>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9" name="TextBox 38"/>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0" name="TextBox 39"/>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96</a:t>
            </a:r>
          </a:p>
        </p:txBody>
      </p:sp>
    </p:spTree>
  </p:cSld>
  <p:clrMapOvr>
    <a:masterClrMapping/>
  </p:clrMapOvr>
  <p:transition spd="slow">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TAKEAWAY</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Your Compliance Operating System</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Obligation register</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Calendar and owners</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Controls and evidence</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Change/incident response</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Assurance and board reporting</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97</a:t>
            </a:r>
          </a:p>
        </p:txBody>
      </p:sp>
    </p:spTree>
  </p:cSld>
  <p:clrMapOvr>
    <a:masterClrMapping/>
  </p:clrMapOvr>
  <p:transition spd="slow">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ACTION PLAN</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The Next 30 Days</a:t>
            </a:r>
          </a:p>
        </p:txBody>
      </p:sp>
      <p:sp>
        <p:nvSpPr>
          <p:cNvPr id="6" name="Rounded Rectangle 5"/>
          <p:cNvSpPr/>
          <p:nvPr/>
        </p:nvSpPr>
        <p:spPr>
          <a:xfrm>
            <a:off x="658368"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993392"/>
            <a:ext cx="2852928" cy="594360"/>
          </a:xfrm>
          <a:prstGeom prst="rect">
            <a:avLst/>
          </a:prstGeom>
          <a:noFill/>
        </p:spPr>
        <p:txBody>
          <a:bodyPr wrap="square" anchor="t" lIns="45720" rIns="45720">
            <a:spAutoFit/>
          </a:bodyPr>
          <a:lstStyle/>
          <a:p>
            <a:pPr algn="l">
              <a:spcAft>
                <a:spcPts val="300"/>
              </a:spcAft>
            </a:pPr>
            <a:r>
              <a:rPr sz="1900" b="1">
                <a:solidFill>
                  <a:srgbClr val="1F6FEB"/>
                </a:solidFill>
                <a:latin typeface="Arial"/>
              </a:rPr>
              <a:t>Week 1</a:t>
            </a:r>
          </a:p>
        </p:txBody>
      </p:sp>
      <p:sp>
        <p:nvSpPr>
          <p:cNvPr id="9" name="Oval 8"/>
          <p:cNvSpPr/>
          <p:nvPr/>
        </p:nvSpPr>
        <p:spPr>
          <a:xfrm>
            <a:off x="905256" y="2715768"/>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11" name="TextBox 10"/>
          <p:cNvSpPr txBox="1"/>
          <p:nvPr/>
        </p:nvSpPr>
        <p:spPr>
          <a:xfrm>
            <a:off x="1298448"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Confirm entity facts</a:t>
            </a:r>
          </a:p>
        </p:txBody>
      </p:sp>
      <p:sp>
        <p:nvSpPr>
          <p:cNvPr id="12" name="Oval 11"/>
          <p:cNvSpPr/>
          <p:nvPr/>
        </p:nvSpPr>
        <p:spPr>
          <a:xfrm>
            <a:off x="905256" y="3465576"/>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14" name="TextBox 13"/>
          <p:cNvSpPr txBox="1"/>
          <p:nvPr/>
        </p:nvSpPr>
        <p:spPr>
          <a:xfrm>
            <a:off x="1298448"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List regulators and licences</a:t>
            </a:r>
          </a:p>
        </p:txBody>
      </p:sp>
      <p:sp>
        <p:nvSpPr>
          <p:cNvPr id="15" name="Oval 14"/>
          <p:cNvSpPr/>
          <p:nvPr/>
        </p:nvSpPr>
        <p:spPr>
          <a:xfrm>
            <a:off x="905256" y="4215383"/>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17" name="TextBox 16"/>
          <p:cNvSpPr txBox="1"/>
          <p:nvPr/>
        </p:nvSpPr>
        <p:spPr>
          <a:xfrm>
            <a:off x="1298448"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Identify overdue obligations</a:t>
            </a:r>
          </a:p>
        </p:txBody>
      </p:sp>
      <p:sp>
        <p:nvSpPr>
          <p:cNvPr id="18" name="Rounded Rectangle 17"/>
          <p:cNvSpPr/>
          <p:nvPr/>
        </p:nvSpPr>
        <p:spPr>
          <a:xfrm>
            <a:off x="4370832"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0832" y="1719072"/>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1993392"/>
            <a:ext cx="2852928" cy="594360"/>
          </a:xfrm>
          <a:prstGeom prst="rect">
            <a:avLst/>
          </a:prstGeom>
          <a:noFill/>
        </p:spPr>
        <p:txBody>
          <a:bodyPr wrap="square" anchor="t" lIns="45720" rIns="45720">
            <a:spAutoFit/>
          </a:bodyPr>
          <a:lstStyle/>
          <a:p>
            <a:pPr algn="l">
              <a:spcAft>
                <a:spcPts val="300"/>
              </a:spcAft>
            </a:pPr>
            <a:r>
              <a:rPr sz="1900" b="1">
                <a:solidFill>
                  <a:srgbClr val="10B981"/>
                </a:solidFill>
                <a:latin typeface="Arial"/>
              </a:rPr>
              <a:t>Weeks 2-3</a:t>
            </a:r>
          </a:p>
        </p:txBody>
      </p:sp>
      <p:sp>
        <p:nvSpPr>
          <p:cNvPr id="21" name="Oval 20"/>
          <p:cNvSpPr/>
          <p:nvPr/>
        </p:nvSpPr>
        <p:spPr>
          <a:xfrm>
            <a:off x="4617720" y="2715768"/>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23" name="TextBox 22"/>
          <p:cNvSpPr txBox="1"/>
          <p:nvPr/>
        </p:nvSpPr>
        <p:spPr>
          <a:xfrm>
            <a:off x="5010912"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Assign RACI</a:t>
            </a:r>
          </a:p>
        </p:txBody>
      </p:sp>
      <p:sp>
        <p:nvSpPr>
          <p:cNvPr id="24" name="Oval 23"/>
          <p:cNvSpPr/>
          <p:nvPr/>
        </p:nvSpPr>
        <p:spPr>
          <a:xfrm>
            <a:off x="4617720" y="3465576"/>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26" name="TextBox 25"/>
          <p:cNvSpPr txBox="1"/>
          <p:nvPr/>
        </p:nvSpPr>
        <p:spPr>
          <a:xfrm>
            <a:off x="5010912"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Build central calendar</a:t>
            </a:r>
          </a:p>
        </p:txBody>
      </p:sp>
      <p:sp>
        <p:nvSpPr>
          <p:cNvPr id="27" name="Oval 26"/>
          <p:cNvSpPr/>
          <p:nvPr/>
        </p:nvSpPr>
        <p:spPr>
          <a:xfrm>
            <a:off x="4617720" y="4215383"/>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29" name="TextBox 28"/>
          <p:cNvSpPr txBox="1"/>
          <p:nvPr/>
        </p:nvSpPr>
        <p:spPr>
          <a:xfrm>
            <a:off x="5010912"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Fix priority controls</a:t>
            </a:r>
          </a:p>
        </p:txBody>
      </p:sp>
      <p:sp>
        <p:nvSpPr>
          <p:cNvPr id="30" name="Rounded Rectangle 29"/>
          <p:cNvSpPr/>
          <p:nvPr/>
        </p:nvSpPr>
        <p:spPr>
          <a:xfrm>
            <a:off x="8083296"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3296" y="1719072"/>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11896" y="1993392"/>
            <a:ext cx="2852928" cy="594360"/>
          </a:xfrm>
          <a:prstGeom prst="rect">
            <a:avLst/>
          </a:prstGeom>
          <a:noFill/>
        </p:spPr>
        <p:txBody>
          <a:bodyPr wrap="square" anchor="t" lIns="45720" rIns="45720">
            <a:spAutoFit/>
          </a:bodyPr>
          <a:lstStyle/>
          <a:p>
            <a:pPr algn="l">
              <a:spcAft>
                <a:spcPts val="300"/>
              </a:spcAft>
            </a:pPr>
            <a:r>
              <a:rPr sz="1900" b="1">
                <a:solidFill>
                  <a:srgbClr val="7C3AED"/>
                </a:solidFill>
                <a:latin typeface="Arial"/>
              </a:rPr>
              <a:t>Week 4</a:t>
            </a:r>
          </a:p>
        </p:txBody>
      </p:sp>
      <p:sp>
        <p:nvSpPr>
          <p:cNvPr id="33" name="Oval 32"/>
          <p:cNvSpPr/>
          <p:nvPr/>
        </p:nvSpPr>
        <p:spPr>
          <a:xfrm>
            <a:off x="8330184" y="2715768"/>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4"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35" name="TextBox 34"/>
          <p:cNvSpPr txBox="1"/>
          <p:nvPr/>
        </p:nvSpPr>
        <p:spPr>
          <a:xfrm>
            <a:off x="8723376"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Run one tabletop</a:t>
            </a:r>
          </a:p>
        </p:txBody>
      </p:sp>
      <p:sp>
        <p:nvSpPr>
          <p:cNvPr id="36" name="Oval 35"/>
          <p:cNvSpPr/>
          <p:nvPr/>
        </p:nvSpPr>
        <p:spPr>
          <a:xfrm>
            <a:off x="8330184" y="3465576"/>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0184"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38" name="TextBox 37"/>
          <p:cNvSpPr txBox="1"/>
          <p:nvPr/>
        </p:nvSpPr>
        <p:spPr>
          <a:xfrm>
            <a:off x="8723376"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Report residual risks</a:t>
            </a:r>
          </a:p>
        </p:txBody>
      </p:sp>
      <p:sp>
        <p:nvSpPr>
          <p:cNvPr id="39" name="Oval 38"/>
          <p:cNvSpPr/>
          <p:nvPr/>
        </p:nvSpPr>
        <p:spPr>
          <a:xfrm>
            <a:off x="8330184" y="4215383"/>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4"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41" name="TextBox 40"/>
          <p:cNvSpPr txBox="1"/>
          <p:nvPr/>
        </p:nvSpPr>
        <p:spPr>
          <a:xfrm>
            <a:off x="8723376"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Agree the next 90 days</a:t>
            </a:r>
          </a:p>
        </p:txBody>
      </p:sp>
      <p:sp>
        <p:nvSpPr>
          <p:cNvPr id="42" name="TextBox 4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43" name="Rectangle 4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45" name="TextBox 4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6" name="TextBox 4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98</a:t>
            </a:r>
          </a:p>
        </p:txBody>
      </p:sp>
    </p:spTree>
  </p:cSld>
  <p:clrMapOvr>
    <a:masterClrMapping/>
  </p:clrMapOvr>
  <p:transition spd="slow">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RESEARCH</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Source Discipline</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Primary</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Use ACRA, IRAS, MOM, CPF Board, PDPC and sector regulators.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Secondary</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Use expert sources to frame questions and programme design.</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Current</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Record access date and re-check time-sensitive facts.</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Advice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Escalate material ambiguity to qualified legal, tax or sector advisers.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99</a:t>
            </a:r>
          </a:p>
        </p:txBody>
      </p:sp>
    </p:spTree>
  </p:cSld>
  <p:clrMapOvr>
    <a:masterClrMapping/>
  </p:clrMapOvr>
  <p:transition spd="slow">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LMS</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Courseware and Assessment on the LMS</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01</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Download the current slides and Learner Guide</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02</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Open the activity folder for detailed procedures</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03</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Complete digital attendance before assessment</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04</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Submit the WA and Case Study on the LMS</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100</a:t>
            </a:r>
          </a:p>
        </p:txBody>
      </p:sp>
    </p:spTree>
  </p:cSld>
  <p:clrMapOvr>
    <a:masterClrMapping/>
  </p:clrMapOvr>
  <p:transition spd="slow">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5:00 PM-6:00 PM</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Assessment Reminder</a:t>
            </a:r>
          </a:p>
        </p:txBody>
      </p:sp>
      <p:sp>
        <p:nvSpPr>
          <p:cNvPr id="6" name="Rounded Rectangle 5"/>
          <p:cNvSpPr/>
          <p:nvPr/>
        </p:nvSpPr>
        <p:spPr>
          <a:xfrm>
            <a:off x="658368"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993392"/>
            <a:ext cx="2852928" cy="594360"/>
          </a:xfrm>
          <a:prstGeom prst="rect">
            <a:avLst/>
          </a:prstGeom>
          <a:noFill/>
        </p:spPr>
        <p:txBody>
          <a:bodyPr wrap="square" anchor="t" lIns="45720" rIns="45720">
            <a:spAutoFit/>
          </a:bodyPr>
          <a:lstStyle/>
          <a:p>
            <a:pPr algn="l">
              <a:spcAft>
                <a:spcPts val="300"/>
              </a:spcAft>
            </a:pPr>
            <a:r>
              <a:rPr sz="1900" b="1">
                <a:solidFill>
                  <a:srgbClr val="1F6FEB"/>
                </a:solidFill>
                <a:latin typeface="Arial"/>
              </a:rPr>
              <a:t>WA | 30 min</a:t>
            </a:r>
          </a:p>
        </p:txBody>
      </p:sp>
      <p:sp>
        <p:nvSpPr>
          <p:cNvPr id="9" name="Oval 8"/>
          <p:cNvSpPr/>
          <p:nvPr/>
        </p:nvSpPr>
        <p:spPr>
          <a:xfrm>
            <a:off x="905256" y="2715768"/>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11" name="TextBox 10"/>
          <p:cNvSpPr txBox="1"/>
          <p:nvPr/>
        </p:nvSpPr>
        <p:spPr>
          <a:xfrm>
            <a:off x="1298448"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4 questions</a:t>
            </a:r>
          </a:p>
        </p:txBody>
      </p:sp>
      <p:sp>
        <p:nvSpPr>
          <p:cNvPr id="12" name="Oval 11"/>
          <p:cNvSpPr/>
          <p:nvPr/>
        </p:nvSpPr>
        <p:spPr>
          <a:xfrm>
            <a:off x="905256" y="3465576"/>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14" name="TextBox 13"/>
          <p:cNvSpPr txBox="1"/>
          <p:nvPr/>
        </p:nvSpPr>
        <p:spPr>
          <a:xfrm>
            <a:off x="1298448"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K1 + K2</a:t>
            </a:r>
          </a:p>
        </p:txBody>
      </p:sp>
      <p:sp>
        <p:nvSpPr>
          <p:cNvPr id="15" name="Oval 14"/>
          <p:cNvSpPr/>
          <p:nvPr/>
        </p:nvSpPr>
        <p:spPr>
          <a:xfrm>
            <a:off x="905256" y="4215383"/>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17" name="TextBox 16"/>
          <p:cNvSpPr txBox="1"/>
          <p:nvPr/>
        </p:nvSpPr>
        <p:spPr>
          <a:xfrm>
            <a:off x="1298448"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Open book</a:t>
            </a:r>
          </a:p>
        </p:txBody>
      </p:sp>
      <p:sp>
        <p:nvSpPr>
          <p:cNvPr id="18" name="Rounded Rectangle 17"/>
          <p:cNvSpPr/>
          <p:nvPr/>
        </p:nvSpPr>
        <p:spPr>
          <a:xfrm>
            <a:off x="4370832"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0832" y="1719072"/>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1993392"/>
            <a:ext cx="2852928" cy="594360"/>
          </a:xfrm>
          <a:prstGeom prst="rect">
            <a:avLst/>
          </a:prstGeom>
          <a:noFill/>
        </p:spPr>
        <p:txBody>
          <a:bodyPr wrap="square" anchor="t" lIns="45720" rIns="45720">
            <a:spAutoFit/>
          </a:bodyPr>
          <a:lstStyle/>
          <a:p>
            <a:pPr algn="l">
              <a:spcAft>
                <a:spcPts val="300"/>
              </a:spcAft>
            </a:pPr>
            <a:r>
              <a:rPr sz="1900" b="1">
                <a:solidFill>
                  <a:srgbClr val="10B981"/>
                </a:solidFill>
                <a:latin typeface="Arial"/>
              </a:rPr>
              <a:t>CS | 30 min</a:t>
            </a:r>
          </a:p>
        </p:txBody>
      </p:sp>
      <p:sp>
        <p:nvSpPr>
          <p:cNvPr id="21" name="Oval 20"/>
          <p:cNvSpPr/>
          <p:nvPr/>
        </p:nvSpPr>
        <p:spPr>
          <a:xfrm>
            <a:off x="4617720" y="2715768"/>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17720"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23" name="TextBox 22"/>
          <p:cNvSpPr txBox="1"/>
          <p:nvPr/>
        </p:nvSpPr>
        <p:spPr>
          <a:xfrm>
            <a:off x="5010912"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2 tasks</a:t>
            </a:r>
          </a:p>
        </p:txBody>
      </p:sp>
      <p:sp>
        <p:nvSpPr>
          <p:cNvPr id="24" name="Oval 23"/>
          <p:cNvSpPr/>
          <p:nvPr/>
        </p:nvSpPr>
        <p:spPr>
          <a:xfrm>
            <a:off x="4617720" y="3465576"/>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17720"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26" name="TextBox 25"/>
          <p:cNvSpPr txBox="1"/>
          <p:nvPr/>
        </p:nvSpPr>
        <p:spPr>
          <a:xfrm>
            <a:off x="5010912"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A1 + A2 + A3</a:t>
            </a:r>
          </a:p>
        </p:txBody>
      </p:sp>
      <p:sp>
        <p:nvSpPr>
          <p:cNvPr id="27" name="Oval 26"/>
          <p:cNvSpPr/>
          <p:nvPr/>
        </p:nvSpPr>
        <p:spPr>
          <a:xfrm>
            <a:off x="4617720" y="4215383"/>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29" name="TextBox 28"/>
          <p:cNvSpPr txBox="1"/>
          <p:nvPr/>
        </p:nvSpPr>
        <p:spPr>
          <a:xfrm>
            <a:off x="5010912"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One coherent scenario</a:t>
            </a:r>
          </a:p>
        </p:txBody>
      </p:sp>
      <p:sp>
        <p:nvSpPr>
          <p:cNvPr id="30" name="Rounded Rectangle 29"/>
          <p:cNvSpPr/>
          <p:nvPr/>
        </p:nvSpPr>
        <p:spPr>
          <a:xfrm>
            <a:off x="8083296" y="1719072"/>
            <a:ext cx="3337560" cy="416052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3296" y="1719072"/>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11896" y="1993392"/>
            <a:ext cx="2852928" cy="594360"/>
          </a:xfrm>
          <a:prstGeom prst="rect">
            <a:avLst/>
          </a:prstGeom>
          <a:noFill/>
        </p:spPr>
        <p:txBody>
          <a:bodyPr wrap="square" anchor="t" lIns="45720" rIns="45720">
            <a:spAutoFit/>
          </a:bodyPr>
          <a:lstStyle/>
          <a:p>
            <a:pPr algn="l">
              <a:spcAft>
                <a:spcPts val="300"/>
              </a:spcAft>
            </a:pPr>
            <a:r>
              <a:rPr sz="1900" b="1">
                <a:solidFill>
                  <a:srgbClr val="7C3AED"/>
                </a:solidFill>
                <a:latin typeface="Arial"/>
              </a:rPr>
              <a:t>Finish</a:t>
            </a:r>
          </a:p>
        </p:txBody>
      </p:sp>
      <p:sp>
        <p:nvSpPr>
          <p:cNvPr id="33" name="Oval 32"/>
          <p:cNvSpPr/>
          <p:nvPr/>
        </p:nvSpPr>
        <p:spPr>
          <a:xfrm>
            <a:off x="8330184" y="2715768"/>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0184" y="2715768"/>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1</a:t>
            </a:r>
          </a:p>
        </p:txBody>
      </p:sp>
      <p:sp>
        <p:nvSpPr>
          <p:cNvPr id="35" name="TextBox 34"/>
          <p:cNvSpPr txBox="1"/>
          <p:nvPr/>
        </p:nvSpPr>
        <p:spPr>
          <a:xfrm>
            <a:off x="8723376" y="2697480"/>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Submit on LMS</a:t>
            </a:r>
          </a:p>
        </p:txBody>
      </p:sp>
      <p:sp>
        <p:nvSpPr>
          <p:cNvPr id="36" name="Oval 35"/>
          <p:cNvSpPr/>
          <p:nvPr/>
        </p:nvSpPr>
        <p:spPr>
          <a:xfrm>
            <a:off x="8330184" y="3465576"/>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0184" y="3465576"/>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2</a:t>
            </a:r>
          </a:p>
        </p:txBody>
      </p:sp>
      <p:sp>
        <p:nvSpPr>
          <p:cNvPr id="38" name="TextBox 37"/>
          <p:cNvSpPr txBox="1"/>
          <p:nvPr/>
        </p:nvSpPr>
        <p:spPr>
          <a:xfrm>
            <a:off x="8723376" y="3447288"/>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Sign summary record</a:t>
            </a:r>
          </a:p>
        </p:txBody>
      </p:sp>
      <p:sp>
        <p:nvSpPr>
          <p:cNvPr id="39" name="Oval 38"/>
          <p:cNvSpPr/>
          <p:nvPr/>
        </p:nvSpPr>
        <p:spPr>
          <a:xfrm>
            <a:off x="8330184" y="4215383"/>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0184" y="4215383"/>
            <a:ext cx="292608" cy="292608"/>
          </a:xfrm>
          <a:prstGeom prst="rect">
            <a:avLst/>
          </a:prstGeom>
          <a:noFill/>
        </p:spPr>
        <p:txBody>
          <a:bodyPr wrap="square" anchor="ctr" lIns="45720" rIns="45720">
            <a:spAutoFit/>
          </a:bodyPr>
          <a:lstStyle/>
          <a:p>
            <a:pPr algn="ctr">
              <a:spcAft>
                <a:spcPts val="300"/>
              </a:spcAft>
            </a:pPr>
            <a:r>
              <a:rPr sz="1000" b="1">
                <a:solidFill>
                  <a:srgbClr val="FFFFFF"/>
                </a:solidFill>
                <a:latin typeface="Arial"/>
              </a:rPr>
              <a:t>3</a:t>
            </a:r>
          </a:p>
        </p:txBody>
      </p:sp>
      <p:sp>
        <p:nvSpPr>
          <p:cNvPr id="41" name="TextBox 40"/>
          <p:cNvSpPr txBox="1"/>
          <p:nvPr/>
        </p:nvSpPr>
        <p:spPr>
          <a:xfrm>
            <a:off x="8723376" y="4197096"/>
            <a:ext cx="2423160" cy="685800"/>
          </a:xfrm>
          <a:prstGeom prst="rect">
            <a:avLst/>
          </a:prstGeom>
          <a:noFill/>
        </p:spPr>
        <p:txBody>
          <a:bodyPr wrap="square" anchor="t" lIns="45720" rIns="45720">
            <a:spAutoFit/>
          </a:bodyPr>
          <a:lstStyle/>
          <a:p>
            <a:pPr algn="l">
              <a:spcAft>
                <a:spcPts val="300"/>
              </a:spcAft>
            </a:pPr>
            <a:r>
              <a:rPr sz="1300" b="0">
                <a:solidFill>
                  <a:srgbClr val="161B26"/>
                </a:solidFill>
                <a:latin typeface="Arial"/>
              </a:rPr>
              <a:t>Raise appeal if required</a:t>
            </a:r>
          </a:p>
        </p:txBody>
      </p:sp>
      <p:sp>
        <p:nvSpPr>
          <p:cNvPr id="42" name="TextBox 41"/>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43" name="Rectangle 42"/>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45" name="TextBox 44"/>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46" name="TextBox 45"/>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101</a:t>
            </a:r>
          </a:p>
        </p:txBody>
      </p:sp>
    </p:spTree>
  </p:cSld>
  <p:clrMapOvr>
    <a:masterClrMapping/>
  </p:clrMapOvr>
  <p:transition spd="slow">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FINAL CHECK</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Assessment Flow</a:t>
            </a:r>
          </a:p>
        </p:txBody>
      </p:sp>
      <p:sp>
        <p:nvSpPr>
          <p:cNvPr id="6" name="Rounded Rectangle 5"/>
          <p:cNvSpPr/>
          <p:nvPr/>
        </p:nvSpPr>
        <p:spPr>
          <a:xfrm>
            <a:off x="658368"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44168"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4168"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1</a:t>
            </a:r>
          </a:p>
        </p:txBody>
      </p:sp>
      <p:sp>
        <p:nvSpPr>
          <p:cNvPr id="10" name="TextBox 9"/>
          <p:cNvSpPr txBox="1"/>
          <p:nvPr/>
        </p:nvSpPr>
        <p:spPr>
          <a:xfrm>
            <a:off x="777240"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TRAQOM</a:t>
            </a:r>
          </a:p>
        </p:txBody>
      </p:sp>
      <p:sp>
        <p:nvSpPr>
          <p:cNvPr id="11" name="TextBox 10"/>
          <p:cNvSpPr txBox="1"/>
          <p:nvPr/>
        </p:nvSpPr>
        <p:spPr>
          <a:xfrm>
            <a:off x="2651760"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2" name="Rounded Rectangle 11"/>
          <p:cNvSpPr/>
          <p:nvPr/>
        </p:nvSpPr>
        <p:spPr>
          <a:xfrm>
            <a:off x="2880360"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80360" y="2011680"/>
            <a:ext cx="199339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2450592"/>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2</a:t>
            </a:r>
          </a:p>
        </p:txBody>
      </p:sp>
      <p:sp>
        <p:nvSpPr>
          <p:cNvPr id="16" name="TextBox 15"/>
          <p:cNvSpPr txBox="1"/>
          <p:nvPr/>
        </p:nvSpPr>
        <p:spPr>
          <a:xfrm>
            <a:off x="2999232"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Assessment digital attendance</a:t>
            </a:r>
          </a:p>
        </p:txBody>
      </p:sp>
      <p:sp>
        <p:nvSpPr>
          <p:cNvPr id="17" name="TextBox 16"/>
          <p:cNvSpPr txBox="1"/>
          <p:nvPr/>
        </p:nvSpPr>
        <p:spPr>
          <a:xfrm>
            <a:off x="4873752"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18" name="Rounded Rectangle 17"/>
          <p:cNvSpPr/>
          <p:nvPr/>
        </p:nvSpPr>
        <p:spPr>
          <a:xfrm>
            <a:off x="5102352"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02352" y="2011680"/>
            <a:ext cx="199339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788152" y="2450592"/>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88152"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3</a:t>
            </a:r>
          </a:p>
        </p:txBody>
      </p:sp>
      <p:sp>
        <p:nvSpPr>
          <p:cNvPr id="22" name="TextBox 21"/>
          <p:cNvSpPr txBox="1"/>
          <p:nvPr/>
        </p:nvSpPr>
        <p:spPr>
          <a:xfrm>
            <a:off x="5221224"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WA-SAQ</a:t>
            </a:r>
          </a:p>
        </p:txBody>
      </p:sp>
      <p:sp>
        <p:nvSpPr>
          <p:cNvPr id="23" name="TextBox 22"/>
          <p:cNvSpPr txBox="1"/>
          <p:nvPr/>
        </p:nvSpPr>
        <p:spPr>
          <a:xfrm>
            <a:off x="7095744"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24" name="Rounded Rectangle 23"/>
          <p:cNvSpPr/>
          <p:nvPr/>
        </p:nvSpPr>
        <p:spPr>
          <a:xfrm>
            <a:off x="7324344"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344" y="2011680"/>
            <a:ext cx="1993392"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10144" y="2450592"/>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0144"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4</a:t>
            </a:r>
          </a:p>
        </p:txBody>
      </p:sp>
      <p:sp>
        <p:nvSpPr>
          <p:cNvPr id="28" name="TextBox 27"/>
          <p:cNvSpPr txBox="1"/>
          <p:nvPr/>
        </p:nvSpPr>
        <p:spPr>
          <a:xfrm>
            <a:off x="7443216"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Case Study</a:t>
            </a:r>
          </a:p>
        </p:txBody>
      </p:sp>
      <p:sp>
        <p:nvSpPr>
          <p:cNvPr id="29" name="TextBox 28"/>
          <p:cNvSpPr txBox="1"/>
          <p:nvPr/>
        </p:nvSpPr>
        <p:spPr>
          <a:xfrm>
            <a:off x="9317736" y="3310128"/>
            <a:ext cx="228600" cy="457200"/>
          </a:xfrm>
          <a:prstGeom prst="rect">
            <a:avLst/>
          </a:prstGeom>
          <a:noFill/>
        </p:spPr>
        <p:txBody>
          <a:bodyPr wrap="square" anchor="t" lIns="45720" rIns="45720">
            <a:spAutoFit/>
          </a:bodyPr>
          <a:lstStyle/>
          <a:p>
            <a:pPr algn="ctr">
              <a:spcAft>
                <a:spcPts val="300"/>
              </a:spcAft>
            </a:pPr>
            <a:r>
              <a:rPr sz="2400" b="1">
                <a:solidFill>
                  <a:srgbClr val="5B6372"/>
                </a:solidFill>
                <a:latin typeface="Arial"/>
              </a:rPr>
              <a:t>›</a:t>
            </a:r>
          </a:p>
        </p:txBody>
      </p:sp>
      <p:sp>
        <p:nvSpPr>
          <p:cNvPr id="30" name="Rounded Rectangle 29"/>
          <p:cNvSpPr/>
          <p:nvPr/>
        </p:nvSpPr>
        <p:spPr>
          <a:xfrm>
            <a:off x="9546336" y="2011680"/>
            <a:ext cx="1993392" cy="3337560"/>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546336" y="2011680"/>
            <a:ext cx="199339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232136" y="2450592"/>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32136" y="2450592"/>
            <a:ext cx="621792" cy="621792"/>
          </a:xfrm>
          <a:prstGeom prst="rect">
            <a:avLst/>
          </a:prstGeom>
          <a:noFill/>
        </p:spPr>
        <p:txBody>
          <a:bodyPr wrap="square" anchor="ctr" lIns="45720" rIns="45720">
            <a:spAutoFit/>
          </a:bodyPr>
          <a:lstStyle/>
          <a:p>
            <a:pPr algn="ctr">
              <a:spcAft>
                <a:spcPts val="300"/>
              </a:spcAft>
            </a:pPr>
            <a:r>
              <a:rPr sz="2100" b="1">
                <a:solidFill>
                  <a:srgbClr val="FFFFFF"/>
                </a:solidFill>
                <a:latin typeface="Arial"/>
              </a:rPr>
              <a:t>5</a:t>
            </a:r>
          </a:p>
        </p:txBody>
      </p:sp>
      <p:sp>
        <p:nvSpPr>
          <p:cNvPr id="34" name="TextBox 33"/>
          <p:cNvSpPr txBox="1"/>
          <p:nvPr/>
        </p:nvSpPr>
        <p:spPr>
          <a:xfrm>
            <a:off x="9665208" y="3310128"/>
            <a:ext cx="1755648" cy="1325880"/>
          </a:xfrm>
          <a:prstGeom prst="rect">
            <a:avLst/>
          </a:prstGeom>
          <a:noFill/>
        </p:spPr>
        <p:txBody>
          <a:bodyPr wrap="square" anchor="t" lIns="45720" rIns="45720">
            <a:spAutoFit/>
          </a:bodyPr>
          <a:lstStyle/>
          <a:p>
            <a:pPr algn="ctr">
              <a:spcAft>
                <a:spcPts val="300"/>
              </a:spcAft>
            </a:pPr>
            <a:r>
              <a:rPr sz="1300" b="0">
                <a:solidFill>
                  <a:srgbClr val="161B26"/>
                </a:solidFill>
                <a:latin typeface="Arial"/>
              </a:rPr>
              <a:t>Submit and sign</a:t>
            </a:r>
          </a:p>
        </p:txBody>
      </p:sp>
      <p:sp>
        <p:nvSpPr>
          <p:cNvPr id="35" name="TextBox 34"/>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6" name="Rectangle 35"/>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8" name="TextBox 37"/>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9" name="TextBox 38"/>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102</a:t>
            </a:r>
          </a:p>
        </p:txBody>
      </p:sp>
    </p:spTree>
  </p:cSld>
  <p:clrMapOvr>
    <a:masterClrMapping/>
  </p:clrMapOvr>
  <p:transition spd="slow">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TRAQOM | SSG</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Digital Attendance (Mandatory)</a:t>
            </a:r>
          </a:p>
        </p:txBody>
      </p:sp>
      <p:sp>
        <p:nvSpPr>
          <p:cNvPr id="6" name="Rounded Rectangle 5"/>
          <p:cNvSpPr/>
          <p:nvPr/>
        </p:nvSpPr>
        <p:spPr>
          <a:xfrm>
            <a:off x="658368"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673352"/>
            <a:ext cx="73152" cy="20299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1883664"/>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1</a:t>
            </a:r>
          </a:p>
        </p:txBody>
      </p:sp>
      <p:sp>
        <p:nvSpPr>
          <p:cNvPr id="10" name="TextBox 9"/>
          <p:cNvSpPr txBox="1"/>
          <p:nvPr/>
        </p:nvSpPr>
        <p:spPr>
          <a:xfrm>
            <a:off x="1444752" y="1837944"/>
            <a:ext cx="4343400" cy="420624"/>
          </a:xfrm>
          <a:prstGeom prst="rect">
            <a:avLst/>
          </a:prstGeom>
          <a:noFill/>
        </p:spPr>
        <p:txBody>
          <a:bodyPr wrap="square" anchor="t" lIns="45720" rIns="45720">
            <a:spAutoFit/>
          </a:bodyPr>
          <a:lstStyle/>
          <a:p>
            <a:pPr algn="l">
              <a:spcAft>
                <a:spcPts val="300"/>
              </a:spcAft>
            </a:pPr>
            <a:r>
              <a:rPr sz="1600" b="1">
                <a:solidFill>
                  <a:srgbClr val="1F6FEB"/>
                </a:solidFill>
                <a:latin typeface="Arial"/>
              </a:rPr>
              <a:t>AM</a:t>
            </a:r>
          </a:p>
        </p:txBody>
      </p:sp>
      <p:sp>
        <p:nvSpPr>
          <p:cNvPr id="11" name="TextBox 10"/>
          <p:cNvSpPr txBox="1"/>
          <p:nvPr/>
        </p:nvSpPr>
        <p:spPr>
          <a:xfrm>
            <a:off x="1444752"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Completed at the start of class</a:t>
            </a:r>
          </a:p>
        </p:txBody>
      </p:sp>
      <p:sp>
        <p:nvSpPr>
          <p:cNvPr id="12" name="Rounded Rectangle 11"/>
          <p:cNvSpPr/>
          <p:nvPr/>
        </p:nvSpPr>
        <p:spPr>
          <a:xfrm>
            <a:off x="6208776" y="1673352"/>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8776" y="1673352"/>
            <a:ext cx="73152" cy="20299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883664"/>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883664"/>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2</a:t>
            </a:r>
          </a:p>
        </p:txBody>
      </p:sp>
      <p:sp>
        <p:nvSpPr>
          <p:cNvPr id="16" name="TextBox 15"/>
          <p:cNvSpPr txBox="1"/>
          <p:nvPr/>
        </p:nvSpPr>
        <p:spPr>
          <a:xfrm>
            <a:off x="6995160" y="1837944"/>
            <a:ext cx="4343400" cy="420624"/>
          </a:xfrm>
          <a:prstGeom prst="rect">
            <a:avLst/>
          </a:prstGeom>
          <a:noFill/>
        </p:spPr>
        <p:txBody>
          <a:bodyPr wrap="square" anchor="t" lIns="45720" rIns="45720">
            <a:spAutoFit/>
          </a:bodyPr>
          <a:lstStyle/>
          <a:p>
            <a:pPr algn="l">
              <a:spcAft>
                <a:spcPts val="300"/>
              </a:spcAft>
            </a:pPr>
            <a:r>
              <a:rPr sz="1600" b="1">
                <a:solidFill>
                  <a:srgbClr val="10B981"/>
                </a:solidFill>
                <a:latin typeface="Arial"/>
              </a:rPr>
              <a:t>PM</a:t>
            </a:r>
          </a:p>
        </p:txBody>
      </p:sp>
      <p:sp>
        <p:nvSpPr>
          <p:cNvPr id="17" name="TextBox 16"/>
          <p:cNvSpPr txBox="1"/>
          <p:nvPr/>
        </p:nvSpPr>
        <p:spPr>
          <a:xfrm>
            <a:off x="6995160" y="2313432"/>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Completed after lunch</a:t>
            </a:r>
          </a:p>
        </p:txBody>
      </p:sp>
      <p:sp>
        <p:nvSpPr>
          <p:cNvPr id="18" name="Rounded Rectangle 17"/>
          <p:cNvSpPr/>
          <p:nvPr/>
        </p:nvSpPr>
        <p:spPr>
          <a:xfrm>
            <a:off x="658368"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904488"/>
            <a:ext cx="73152" cy="20299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36" y="4114800"/>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3</a:t>
            </a:r>
          </a:p>
        </p:txBody>
      </p:sp>
      <p:sp>
        <p:nvSpPr>
          <p:cNvPr id="22" name="TextBox 21"/>
          <p:cNvSpPr txBox="1"/>
          <p:nvPr/>
        </p:nvSpPr>
        <p:spPr>
          <a:xfrm>
            <a:off x="1444752" y="4069080"/>
            <a:ext cx="4343400" cy="420624"/>
          </a:xfrm>
          <a:prstGeom prst="rect">
            <a:avLst/>
          </a:prstGeom>
          <a:noFill/>
        </p:spPr>
        <p:txBody>
          <a:bodyPr wrap="square" anchor="t" lIns="45720" rIns="45720">
            <a:spAutoFit/>
          </a:bodyPr>
          <a:lstStyle/>
          <a:p>
            <a:pPr algn="l">
              <a:spcAft>
                <a:spcPts val="300"/>
              </a:spcAft>
            </a:pPr>
            <a:r>
              <a:rPr sz="1600" b="1">
                <a:solidFill>
                  <a:srgbClr val="7C3AED"/>
                </a:solidFill>
                <a:latin typeface="Arial"/>
              </a:rPr>
              <a:t>Assessment</a:t>
            </a:r>
          </a:p>
        </p:txBody>
      </p:sp>
      <p:sp>
        <p:nvSpPr>
          <p:cNvPr id="23" name="TextBox 22"/>
          <p:cNvSpPr txBox="1"/>
          <p:nvPr/>
        </p:nvSpPr>
        <p:spPr>
          <a:xfrm>
            <a:off x="1444752"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Complete the assessment digital attendance now</a:t>
            </a:r>
          </a:p>
        </p:txBody>
      </p:sp>
      <p:sp>
        <p:nvSpPr>
          <p:cNvPr id="24" name="Rounded Rectangle 23"/>
          <p:cNvSpPr/>
          <p:nvPr/>
        </p:nvSpPr>
        <p:spPr>
          <a:xfrm>
            <a:off x="6208776" y="3904488"/>
            <a:ext cx="5330952" cy="2029968"/>
          </a:xfrm>
          <a:prstGeom prst="roundRect">
            <a:avLst/>
          </a:prstGeom>
          <a:solidFill>
            <a:srgbClr val="F5F8FC"/>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3904488"/>
            <a:ext cx="73152"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09944" y="4114800"/>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4114800"/>
            <a:ext cx="457200" cy="457200"/>
          </a:xfrm>
          <a:prstGeom prst="rect">
            <a:avLst/>
          </a:prstGeom>
          <a:noFill/>
        </p:spPr>
        <p:txBody>
          <a:bodyPr wrap="square" anchor="ctr" lIns="45720" rIns="45720">
            <a:spAutoFit/>
          </a:bodyPr>
          <a:lstStyle/>
          <a:p>
            <a:pPr algn="ctr">
              <a:spcAft>
                <a:spcPts val="300"/>
              </a:spcAft>
            </a:pPr>
            <a:r>
              <a:rPr sz="1500" b="1">
                <a:solidFill>
                  <a:srgbClr val="FFFFFF"/>
                </a:solidFill>
                <a:latin typeface="Arial"/>
              </a:rPr>
              <a:t>4</a:t>
            </a:r>
          </a:p>
        </p:txBody>
      </p:sp>
      <p:sp>
        <p:nvSpPr>
          <p:cNvPr id="28" name="TextBox 27"/>
          <p:cNvSpPr txBox="1"/>
          <p:nvPr/>
        </p:nvSpPr>
        <p:spPr>
          <a:xfrm>
            <a:off x="6995160" y="4069080"/>
            <a:ext cx="4343400" cy="420624"/>
          </a:xfrm>
          <a:prstGeom prst="rect">
            <a:avLst/>
          </a:prstGeom>
          <a:noFill/>
        </p:spPr>
        <p:txBody>
          <a:bodyPr wrap="square" anchor="t" lIns="45720" rIns="45720">
            <a:spAutoFit/>
          </a:bodyPr>
          <a:lstStyle/>
          <a:p>
            <a:pPr algn="l">
              <a:spcAft>
                <a:spcPts val="300"/>
              </a:spcAft>
            </a:pPr>
            <a:r>
              <a:rPr sz="1600" b="1">
                <a:solidFill>
                  <a:srgbClr val="F59E0B"/>
                </a:solidFill>
                <a:latin typeface="Arial"/>
              </a:rPr>
              <a:t>Evidence</a:t>
            </a:r>
          </a:p>
        </p:txBody>
      </p:sp>
      <p:sp>
        <p:nvSpPr>
          <p:cNvPr id="29" name="TextBox 28"/>
          <p:cNvSpPr txBox="1"/>
          <p:nvPr/>
        </p:nvSpPr>
        <p:spPr>
          <a:xfrm>
            <a:off x="6995160" y="4544568"/>
            <a:ext cx="4343400" cy="1261872"/>
          </a:xfrm>
          <a:prstGeom prst="rect">
            <a:avLst/>
          </a:prstGeom>
          <a:noFill/>
        </p:spPr>
        <p:txBody>
          <a:bodyPr wrap="square" anchor="t" lIns="45720" rIns="45720">
            <a:spAutoFit/>
          </a:bodyPr>
          <a:lstStyle/>
          <a:p>
            <a:pPr algn="l">
              <a:spcAft>
                <a:spcPts val="300"/>
              </a:spcAft>
            </a:pPr>
            <a:r>
              <a:rPr sz="1400" b="0">
                <a:solidFill>
                  <a:srgbClr val="161B26"/>
                </a:solidFill>
                <a:latin typeface="Arial"/>
              </a:rPr>
              <a:t>The SSG attendance record is authoritative</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103</a:t>
            </a:r>
          </a:p>
        </p:txBody>
      </p:sp>
    </p:spTree>
  </p:cSld>
  <p:clrMapOvr>
    <a:masterClrMapping/>
  </p:clrMapOvr>
  <p:transition spd="slow">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19456" cy="6848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08760"/>
            <a:ext cx="10241280" cy="365760"/>
          </a:xfrm>
          <a:prstGeom prst="rect">
            <a:avLst/>
          </a:prstGeom>
          <a:noFill/>
        </p:spPr>
        <p:txBody>
          <a:bodyPr wrap="square" anchor="t" lIns="45720" rIns="45720">
            <a:spAutoFit/>
          </a:bodyPr>
          <a:lstStyle/>
          <a:p>
            <a:pPr algn="l">
              <a:spcAft>
                <a:spcPts val="300"/>
              </a:spcAft>
            </a:pPr>
            <a:r>
              <a:rPr sz="1400" b="1">
                <a:solidFill>
                  <a:srgbClr val="10B981"/>
                </a:solidFill>
                <a:latin typeface="Arial"/>
              </a:rPr>
              <a:t>CORPORATE LAW COMPLIANCE</a:t>
            </a:r>
          </a:p>
        </p:txBody>
      </p:sp>
      <p:sp>
        <p:nvSpPr>
          <p:cNvPr id="5" name="TextBox 4"/>
          <p:cNvSpPr txBox="1"/>
          <p:nvPr/>
        </p:nvSpPr>
        <p:spPr>
          <a:xfrm>
            <a:off x="868680" y="1965960"/>
            <a:ext cx="10241280" cy="2103120"/>
          </a:xfrm>
          <a:prstGeom prst="rect">
            <a:avLst/>
          </a:prstGeom>
          <a:noFill/>
        </p:spPr>
        <p:txBody>
          <a:bodyPr wrap="square" anchor="t" lIns="45720" rIns="45720">
            <a:spAutoFit/>
          </a:bodyPr>
          <a:lstStyle/>
          <a:p>
            <a:pPr algn="l">
              <a:spcAft>
                <a:spcPts val="300"/>
              </a:spcAft>
            </a:pPr>
            <a:r>
              <a:rPr sz="3400" b="1">
                <a:solidFill>
                  <a:srgbClr val="172B4D"/>
                </a:solidFill>
                <a:latin typeface="Arial"/>
              </a:rPr>
              <a:t>Thank You</a:t>
            </a:r>
          </a:p>
        </p:txBody>
      </p:sp>
      <p:sp>
        <p:nvSpPr>
          <p:cNvPr id="6" name="TextBox 5"/>
          <p:cNvSpPr txBox="1"/>
          <p:nvPr/>
        </p:nvSpPr>
        <p:spPr>
          <a:xfrm>
            <a:off x="896112" y="4315968"/>
            <a:ext cx="9875520" cy="1097280"/>
          </a:xfrm>
          <a:prstGeom prst="rect">
            <a:avLst/>
          </a:prstGeom>
          <a:noFill/>
        </p:spPr>
        <p:txBody>
          <a:bodyPr wrap="square" anchor="t" lIns="45720" rIns="45720">
            <a:spAutoFit/>
          </a:bodyPr>
          <a:lstStyle/>
          <a:p>
            <a:pPr algn="l">
              <a:spcAft>
                <a:spcPts val="300"/>
              </a:spcAft>
            </a:pPr>
            <a:r>
              <a:rPr sz="1800" b="0">
                <a:solidFill>
                  <a:srgbClr val="5B6372"/>
                </a:solidFill>
                <a:latin typeface="Arial"/>
              </a:rPr>
              <a:t>Apply the frameworks with current regulator guidance and qualified advice where the facts require it.</a:t>
            </a:r>
          </a:p>
        </p:txBody>
      </p:sp>
      <p:sp>
        <p:nvSpPr>
          <p:cNvPr id="7" name="TextBox 6"/>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8" name="Rectangle 7"/>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10" name="TextBox 9"/>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11" name="TextBox 10"/>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104</a:t>
            </a:r>
          </a:p>
        </p:txBody>
      </p:sp>
    </p:spTree>
  </p:cSld>
  <p:clrMapOvr>
    <a:masterClrMapping/>
  </p:clrMapOvr>
  <p:transition spd="slow">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2551" cy="6848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93192"/>
            <a:ext cx="10881360" cy="310896"/>
          </a:xfrm>
          <a:prstGeom prst="rect">
            <a:avLst/>
          </a:prstGeom>
          <a:noFill/>
        </p:spPr>
        <p:txBody>
          <a:bodyPr wrap="square" anchor="t" lIns="45720" rIns="45720">
            <a:spAutoFit/>
          </a:bodyPr>
          <a:lstStyle/>
          <a:p>
            <a:pPr algn="l">
              <a:spcAft>
                <a:spcPts val="300"/>
              </a:spcAft>
            </a:pPr>
            <a:r>
              <a:rPr sz="1200" b="1">
                <a:solidFill>
                  <a:srgbClr val="1F6FEB"/>
                </a:solidFill>
                <a:latin typeface="Arial"/>
              </a:rPr>
              <a:t>COURSE PORTAL</a:t>
            </a:r>
          </a:p>
        </p:txBody>
      </p:sp>
      <p:sp>
        <p:nvSpPr>
          <p:cNvPr id="5" name="TextBox 4"/>
          <p:cNvSpPr txBox="1"/>
          <p:nvPr/>
        </p:nvSpPr>
        <p:spPr>
          <a:xfrm>
            <a:off x="658368" y="749808"/>
            <a:ext cx="10881360" cy="749808"/>
          </a:xfrm>
          <a:prstGeom prst="rect">
            <a:avLst/>
          </a:prstGeom>
          <a:noFill/>
        </p:spPr>
        <p:txBody>
          <a:bodyPr wrap="square" anchor="t" lIns="45720" rIns="45720">
            <a:spAutoFit/>
          </a:bodyPr>
          <a:lstStyle/>
          <a:p>
            <a:pPr algn="l">
              <a:spcAft>
                <a:spcPts val="300"/>
              </a:spcAft>
            </a:pPr>
            <a:r>
              <a:rPr sz="2800" b="1">
                <a:solidFill>
                  <a:srgbClr val="161B26"/>
                </a:solidFill>
                <a:latin typeface="Arial"/>
              </a:rPr>
              <a:t>Login to LMS and Download Course Material</a:t>
            </a:r>
          </a:p>
        </p:txBody>
      </p:sp>
      <p:sp>
        <p:nvSpPr>
          <p:cNvPr id="30" name="TextBox 29"/>
          <p:cNvSpPr txBox="1"/>
          <p:nvPr/>
        </p:nvSpPr>
        <p:spPr>
          <a:xfrm>
            <a:off x="384048" y="6144768"/>
            <a:ext cx="11384280" cy="201168"/>
          </a:xfrm>
          <a:prstGeom prst="rect">
            <a:avLst/>
          </a:prstGeom>
          <a:noFill/>
        </p:spPr>
        <p:txBody>
          <a:bodyPr wrap="square" anchor="t" lIns="45720" rIns="45720">
            <a:spAutoFit/>
          </a:bodyPr>
          <a:lstStyle/>
          <a:p>
            <a:pPr algn="l">
              <a:spcAft>
                <a:spcPts val="300"/>
              </a:spcAft>
            </a:pPr>
            <a:r>
              <a:rPr sz="850" b="0">
                <a:solidFill>
                  <a:srgbClr val="5B6372"/>
                </a:solidFill>
                <a:latin typeface="Arial"/>
              </a:rPr>
              <a:t>Source: Course proposal and approved TSC mapping</a:t>
            </a:r>
          </a:p>
        </p:txBody>
      </p:sp>
      <p:sp>
        <p:nvSpPr>
          <p:cNvPr id="31" name="Rectangle 30"/>
          <p:cNvSpPr/>
          <p:nvPr/>
        </p:nvSpPr>
        <p:spPr>
          <a:xfrm>
            <a:off x="384048" y="6382512"/>
            <a:ext cx="11384280"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6437376"/>
            <a:ext cx="5303520" cy="219456"/>
          </a:xfrm>
          <a:prstGeom prst="rect">
            <a:avLst/>
          </a:prstGeom>
          <a:noFill/>
        </p:spPr>
        <p:txBody>
          <a:bodyPr wrap="square" anchor="t" lIns="45720" rIns="45720">
            <a:spAutoFit/>
          </a:bodyPr>
          <a:lstStyle/>
          <a:p>
            <a:pPr algn="l">
              <a:spcAft>
                <a:spcPts val="300"/>
              </a:spcAft>
            </a:pPr>
            <a:r>
              <a:rPr sz="800" b="0">
                <a:solidFill>
                  <a:srgbClr val="5B6372"/>
                </a:solidFill>
                <a:latin typeface="Arial"/>
              </a:rPr>
              <a:t>Corporate Law Compliance for Business Owners | TGS-2025053923</a:t>
            </a:r>
          </a:p>
        </p:txBody>
      </p:sp>
      <p:sp>
        <p:nvSpPr>
          <p:cNvPr id="33" name="TextBox 32"/>
          <p:cNvSpPr txBox="1"/>
          <p:nvPr/>
        </p:nvSpPr>
        <p:spPr>
          <a:xfrm>
            <a:off x="4251960" y="6437376"/>
            <a:ext cx="4023360" cy="219456"/>
          </a:xfrm>
          <a:prstGeom prst="rect">
            <a:avLst/>
          </a:prstGeom>
          <a:noFill/>
        </p:spPr>
        <p:txBody>
          <a:bodyPr wrap="square" anchor="t" lIns="45720" rIns="45720">
            <a:spAutoFit/>
          </a:bodyPr>
          <a:lstStyle/>
          <a:p>
            <a:pPr algn="ctr">
              <a:spcAft>
                <a:spcPts val="300"/>
              </a:spcAft>
            </a:pPr>
            <a:r>
              <a:rPr sz="800" b="0">
                <a:solidFill>
                  <a:srgbClr val="5B6372"/>
                </a:solidFill>
                <a:latin typeface="Arial"/>
              </a:rPr>
              <a:t>© 2026 Tertiary Infotech Academy Pte Ltd</a:t>
            </a:r>
          </a:p>
        </p:txBody>
      </p:sp>
      <p:sp>
        <p:nvSpPr>
          <p:cNvPr id="34" name="TextBox 33"/>
          <p:cNvSpPr txBox="1"/>
          <p:nvPr/>
        </p:nvSpPr>
        <p:spPr>
          <a:xfrm>
            <a:off x="11137392" y="6437376"/>
            <a:ext cx="594360" cy="219456"/>
          </a:xfrm>
          <a:prstGeom prst="rect">
            <a:avLst/>
          </a:prstGeom>
          <a:noFill/>
        </p:spPr>
        <p:txBody>
          <a:bodyPr wrap="square" anchor="t" lIns="45720" rIns="45720">
            <a:spAutoFit/>
          </a:bodyPr>
          <a:lstStyle/>
          <a:p>
            <a:pPr algn="r">
              <a:spcAft>
                <a:spcPts val="300"/>
              </a:spcAft>
            </a:pPr>
            <a:r>
              <a:rPr sz="800" b="0">
                <a:solidFill>
                  <a:srgbClr val="5B6372"/>
                </a:solidFill>
                <a:latin typeface="Arial"/>
              </a:rPr>
              <a:t>15</a:t>
            </a:r>
          </a:p>
        </p:txBody>
      </p:sp>
      <p:pic>
        <p:nvPicPr>
          <p:cNvPr id="35" name="Picture 34" descr="ref_login.png"/>
          <p:cNvPicPr>
            <a:picLocks noChangeAspect="1"/>
          </p:cNvPicPr>
          <p:nvPr/>
        </p:nvPicPr>
        <p:blipFill>
          <a:blip r:embed="rId4"/>
          <a:stretch>
            <a:fillRect/>
          </a:stretch>
        </p:blipFill>
        <p:spPr>
          <a:xfrm>
            <a:off x="2268233" y="1705356"/>
            <a:ext cx="7655228" cy="3808476"/>
          </a:xfrm>
          <a:prstGeom prst="rect">
            <a:avLst/>
          </a:prstGeom>
          <a:ln w="12700">
            <a:solidFill>
              <a:srgbClr val="E2E8F0"/>
            </a:solidFill>
          </a:ln>
        </p:spPr>
      </p:pic>
      <p:sp>
        <p:nvSpPr>
          <p:cNvPr id="36" name="TextBox 35"/>
          <p:cNvSpPr txBox="1"/>
          <p:nvPr/>
        </p:nvSpPr>
        <p:spPr>
          <a:xfrm>
            <a:off x="658368" y="5596128"/>
            <a:ext cx="10874959"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